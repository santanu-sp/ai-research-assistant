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9f4ec3-1e51-a1da-ceb3-5962082bf060}">
          <p14:sldIdLst>
            <p14:sldId id="256"/>
            <p14:sldId id="257"/>
            <p14:sldId id="258"/>
            <p14:sldId id="259"/>
          </p14:sldIdLst>
        </p14:section>
        <p14:section name="Part 1" id="{b21a1ce9-1843-7ceb-089f-dc9a462f39e4}">
          <p14:sldIdLst>
            <p14:sldId id="260"/>
            <p14:sldId id="261"/>
            <p14:sldId id="262"/>
            <p14:sldId id="263"/>
            <p14:sldId id="264"/>
            <p14:sldId id="265"/>
            <p14:sldId id="266"/>
            <p14:sldId id="267"/>
            <p14:sldId id="268"/>
            <p14:sldId id="269"/>
            <p14:sldId id="270"/>
          </p14:sldIdLst>
        </p14:section>
        <p14:section name="Part 2" id="{7fb75fa8-cab5-eb2e-7939-6504f4b7a682}">
          <p14:sldIdLst>
            <p14:sldId id="271"/>
            <p14:sldId id="272"/>
            <p14:sldId id="273"/>
            <p14:sldId id="274"/>
            <p14:sldId id="275"/>
            <p14:sldId id="276"/>
            <p14:sldId id="277"/>
            <p14:sldId id="278"/>
            <p14:sldId id="279"/>
            <p14:sldId id="280"/>
            <p14:sldId id="281"/>
          </p14:sldIdLst>
        </p14:section>
        <p14:section name="Close" id="{c5562593-7021-8443-dec8-faa414519f10}">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walks through the low-level design of the AI Research Assistant: a multi-source, project-scoped research platform that turns trusted sources into cited, evaluated answers. The talk is split into two parts: Part 1 covers interfaces, ingestion and parsing; Part 2 covers retrieval, the LangGraph research engine, evaluation and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The first presenter covers how data enters the system and becomes structured, searchable knowledge. The second presenter covers how that knowledge is retrieved, reasoned over, evaluated and operated.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takes content from many sources, validates and parses it, stores it as searchable evidence, and answers research questions with citations. The four principles on the bottom row drive every design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top to bottom: the React frontend talks JSON over HTTPS to a FastAPI backend. The backend orchestrates ingestion, storage in PostgreSQL with pgvector, hybrid retrieval, and the LangGraph research engine that calls the LLM. Security, external integrations and observability cut across all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covers everything up to the point where content becomes structured, embedded knowledge: the user-facing application, the backend API, external data providers, the security layer, and the ingestion and parsing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React + TypeScript + Vite single-page app. Routes map directly to the product: projects, sources, research workspace and reports. Server state is handled by React Query, UI state by Zustand, and auth and project context by Context API. Shadcn UI and Tailwind give a consistent, accessible component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Pydantic and a strict three-layer design. API routers stay thin; services hold business logic; the domain layer holds typed Pydantic models shared everywhere. This keeps validation consistent from request to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providers supply metadata, full text and search. Crossref and OpenAlex are the primary scholarly sources, Semantic Scholar and Google Scholar are optional, and web search and scraping are limited to trusted domains. API keys live in a vault, and every integration is rate limited with retry and backoff.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applied at every boundary: inputs are validated and sanitized, files are scanned, access is JWT plus role-based and isolated per project, every action is written to an immutable audit log, and PII is detected and masked for privacy and GDPR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supports up to fifteen plus trusted source types in six families: local files, web sources, trusted academic databases, institutional repositories, enterprise storage, and other identifiers such as DOI or ISBN. Each family goes through the same validated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source follows the same seven steps. Validate and fetch with SSRF protection, normalize into one format, store temporarily with a checksum, register against a user and project, deduplicate, and finally trigger ingestion with status UPLOADED. Four input handlers feed this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are grouped into seven classes with minimum counts, capped at fifteen plus. Every source then receives a trust and quality score between zero and one, built from reputation, domain authority, credibility, publication type, recency, cross-source verification and content quality. This score later feeds evidence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combines Docling and LlamaIndex. Docling understands layout, tables, figures and structure, with OCR for scans. LlamaIndex then turns the result into nodes, builds a hybrid index and enriches metadata. The output is a canonical document model independent of the original file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is hybrid: semantic plus structural, aware of the Qwen tokenizer, with tuned size and overlap. Node IDs are stable, built from document id, position and a fingerprint, so re-ingestion never creates duplicates and citations stay valid. The canonical models carry field-level provenance so every value can be traced to its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content now enters through a secure API, passes validation and trust scoring, and is parsed into canonical documents and stable nodes. The next part explains how those nodes are embedded, stored, retrieved, reasoned over by the LangGraph engine, evaluated, and finally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begins where parsing ends: embedding and persisting nodes, retrieving the best evidence, orchestrating the research workflow, and keeping the whole system measurable and deployable.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Qwen3-Embedding-0.6B is the default for speed, the 8B model is the high-quality option, BGE-M3 covers multilingual needs, and OpenAI text-embedding-3-large is a hosted alternative. Embedding runs in batches of 32 to 128 with max length 8192, vectors are normalized, and dimensions are 1024 or 1536 with cosine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database does it all: PostgreSQL 16 stores documents, chunks and metadata, pgvector provides HNSW vector search, and built-in full-text search gives keyword retrieval. The document_chunks table links each embedding back to its node, page and section, so evidence is always traceable. Alembic manages schema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runs in four stages. First SQL filters narrow the search space by source type, content level, year range, selected documents and DOI. Then hybrid search combines vector and full-text search, fused with reciprocal rank fusion. A Qwen3 reranker re-orders candidates for relevance and diversity, and the top K become typed evidence. Evidence selection also uses source quality, citation coverage and deduplication.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and generation talk through typed contracts. Each evidence object carries identity, content, provenance and four scores, so any answer can be audited back to its source. The answer object returns a summary, citations that reference evidence ids, an evidence status and any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engine is a LangGraph state machine with checkpointing in PostgreSQL. It validates the request, prepares the query, retrieves, reranks, builds evidence and assesses sufficiency. If evidence is insufficient the query is rewritten and retrieval repeats. Otherwise the LLM generates a grounded answer, citations are validated, failures are repaired, and the report is persisted.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measured offline from a JSONL dataset through a local CLI runner. Ragas covers context precision, context recall, faithfulness and response relevancy. Custom metrics add citation validity rate, MRR and nDCG for ranking, and latency. Thresholds trigger email or Slack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uses structured logs carrying request, run, user and project ids, health checks for the database, pgvector and the model runtime, metrics for latency, errors, tokens and throughput, and alerts. Deployment starts with Docker Compose, GitHub Actions CI/CD, Prometheus and Grafana monitoring, and a vault or env-based secrets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all together: user input and source ingestion feed document processing and embedding, which land in PostgreSQL. Retrieval, reranking and the evidence builder prepare context for the LangGraph workflow, which generates, validates, repairs if needed, and stores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major component has a documented alternative. LLM options include Nemotron, Gemma, Mistral and Llama as replacements for Qwen3-8B. Embedding and reranker models have fallbacks. If pgvector or full-text search stop scaling, Pinecone, Qdrant, OpenSearch, Meilisearch or Elasticsearch are drop-in options, and object storage can be S3, MinIO or Cloudflare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extends research capability with multi-agent research, graph RAG and multi-modal input; extends integrations and outputs with Google Drive, Zotero, scheduled reports and richer citation formats; and extends scale with background indexing, model optimization, load testing for 1000 plus users, fine-grained access control and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design is trustworthy because every answer is built on validated sources, stable nodes, hybrid retrieval and validated citations; it is measurable because evaluation and observability are built in; and it is scalable because every component has a documented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Part 1 topics can go to the first presenter and Part 2 topics to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tx2"/>
                </a:solidFill>
              </a:rPr>
              <a:t>AI Research Assistant · Low-Level Design</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bg2"/>
                </a:solidFill>
              </a:rPr>
              <a:t>AI Research Assistant · Low-Level Design</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2.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2.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image" Target="../media/image-24-18.png"/><Relationship Id="rId19" Type="http://schemas.openxmlformats.org/officeDocument/2006/relationships/image" Target="../media/image-24-19.png"/><Relationship Id="rId20" Type="http://schemas.openxmlformats.org/officeDocument/2006/relationships/image" Target="../media/image-24-20.png"/><Relationship Id="rId21" Type="http://schemas.openxmlformats.org/officeDocument/2006/relationships/image" Target="../media/image-24-21.png"/><Relationship Id="rId22" Type="http://schemas.openxmlformats.org/officeDocument/2006/relationships/image" Target="../media/image-24-22.png"/><Relationship Id="rId23" Type="http://schemas.openxmlformats.org/officeDocument/2006/relationships/slideLayout" Target="../slideLayouts/slideLayout2.xml"/><Relationship Id="rId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3.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7955280" y="822960"/>
            <a:ext cx="3566160" cy="3566160"/>
          </a:xfrm>
          <a:prstGeom prst="ellipse">
            <a:avLst/>
          </a:prstGeom>
          <a:solidFill>
            <a:schemeClr val="tx2"/>
          </a:solidFill>
          <a:ln w="12700">
            <a:solidFill>
              <a:schemeClr val="tx2"/>
            </a:solidFill>
            <a:prstDash val="solid"/>
          </a:ln>
        </p:spPr>
      </p:sp>
      <p:sp>
        <p:nvSpPr>
          <p:cNvPr id="4" name="hero icon"/>
          <p:cNvSpPr/>
          <p:nvPr/>
        </p:nvSpPr>
        <p:spPr>
          <a:xfrm>
            <a:off x="8641080" y="1508760"/>
            <a:ext cx="2194560" cy="219456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9189720" y="2057400"/>
            <a:ext cx="1097280" cy="1097280"/>
          </a:xfrm>
          <a:prstGeom prst="rect">
            <a:avLst/>
          </a:prstGeom>
        </p:spPr>
      </p:pic>
      <p:sp>
        <p:nvSpPr>
          <p:cNvPr id="6" name="Text 2"/>
          <p:cNvSpPr txBox="1"/>
          <p:nvPr/>
        </p:nvSpPr>
        <p:spPr>
          <a:xfrm>
            <a:off x="731520" y="1417320"/>
            <a:ext cx="6949440" cy="1188720"/>
          </a:xfrm>
          <a:prstGeom prst="rect">
            <a:avLst/>
          </a:prstGeom>
          <a:noFill/>
          <a:ln/>
        </p:spPr>
        <p:txBody>
          <a:bodyPr wrap="square" lIns="0" tIns="0" rIns="0" bIns="0" rtlCol="0" anchor="ctr"/>
          <a:lstStyle/>
          <a:p>
            <a:pPr indent="0" marL="0">
              <a:buNone/>
            </a:pPr>
            <a:r>
              <a:rPr lang="en-US" sz="5000" b="1" dirty="0">
                <a:solidFill>
                  <a:schemeClr val="bg1"/>
                </a:solidFill>
                <a:latin typeface="Cambria" pitchFamily="34" charset="0"/>
                <a:ea typeface="Cambria" pitchFamily="34" charset="-122"/>
                <a:cs typeface="Cambria" pitchFamily="34" charset="-120"/>
              </a:rPr>
              <a:t>AI Research Assistant</a:t>
            </a:r>
            <a:endParaRPr lang="en-US" sz="5000" dirty="0"/>
          </a:p>
        </p:txBody>
      </p:sp>
      <p:sp>
        <p:nvSpPr>
          <p:cNvPr id="7" name="Text 3"/>
          <p:cNvSpPr txBox="1"/>
          <p:nvPr/>
        </p:nvSpPr>
        <p:spPr>
          <a:xfrm>
            <a:off x="731520" y="2697480"/>
            <a:ext cx="6949440" cy="640080"/>
          </a:xfrm>
          <a:prstGeom prst="rect">
            <a:avLst/>
          </a:prstGeom>
          <a:noFill/>
          <a:ln/>
        </p:spPr>
        <p:txBody>
          <a:bodyPr wrap="square" lIns="0" tIns="0" rIns="0" bIns="0" rtlCol="0" anchor="t"/>
          <a:lstStyle/>
          <a:p>
            <a:pPr indent="0" marL="0">
              <a:buNone/>
            </a:pPr>
            <a:r>
              <a:rPr lang="en-US" sz="2800" b="1" dirty="0">
                <a:solidFill>
                  <a:schemeClr val="accent2"/>
                </a:solidFill>
              </a:rPr>
              <a:t>Detailed Low-Level Design</a:t>
            </a:r>
            <a:endParaRPr lang="en-US" sz="2800" dirty="0"/>
          </a:p>
        </p:txBody>
      </p:sp>
      <p:sp>
        <p:nvSpPr>
          <p:cNvPr id="8" name="Text 4"/>
          <p:cNvSpPr txBox="1"/>
          <p:nvPr/>
        </p:nvSpPr>
        <p:spPr>
          <a:xfrm>
            <a:off x="731520" y="3429000"/>
            <a:ext cx="6766560" cy="731520"/>
          </a:xfrm>
          <a:prstGeom prst="rect">
            <a:avLst/>
          </a:prstGeom>
          <a:noFill/>
          <a:ln/>
        </p:spPr>
        <p:txBody>
          <a:bodyPr wrap="square" lIns="0" tIns="0" rIns="0" bIns="0" rtlCol="0" anchor="t"/>
          <a:lstStyle/>
          <a:p>
            <a:pPr indent="0" marL="0">
              <a:buNone/>
            </a:pPr>
            <a:r>
              <a:rPr lang="en-US" sz="1800" dirty="0">
                <a:solidFill>
                  <a:schemeClr val="bg2"/>
                </a:solidFill>
              </a:rPr>
              <a:t>Multi-Source · Project-Scoped · Citation-Grounded · Evaluated Research Platform</a:t>
            </a:r>
            <a:endParaRPr lang="en-US" sz="1800" dirty="0"/>
          </a:p>
        </p:txBody>
      </p:sp>
      <p:sp>
        <p:nvSpPr>
          <p:cNvPr id="9" name="Shape 5"/>
          <p:cNvSpPr/>
          <p:nvPr/>
        </p:nvSpPr>
        <p:spPr>
          <a:xfrm>
            <a:off x="548640" y="5212080"/>
            <a:ext cx="1298448" cy="475488"/>
          </a:xfrm>
          <a:prstGeom prst="roundRect">
            <a:avLst>
              <a:gd name="adj" fmla="val 50000"/>
            </a:avLst>
          </a:prstGeom>
          <a:solidFill>
            <a:schemeClr val="accent1"/>
          </a:solidFill>
          <a:ln w="12700">
            <a:solidFill>
              <a:schemeClr val="accent1"/>
            </a:solidFill>
            <a:prstDash val="solid"/>
          </a:ln>
        </p:spPr>
      </p:sp>
      <p:sp>
        <p:nvSpPr>
          <p:cNvPr id="10" name="Text 6"/>
          <p:cNvSpPr txBox="1"/>
          <p:nvPr/>
        </p:nvSpPr>
        <p:spPr>
          <a:xfrm>
            <a:off x="548640"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Discover</a:t>
            </a:r>
            <a:endParaRPr lang="en-US" sz="1400" dirty="0"/>
          </a:p>
        </p:txBody>
      </p:sp>
      <p:sp>
        <p:nvSpPr>
          <p:cNvPr id="11" name="Shape 7"/>
          <p:cNvSpPr/>
          <p:nvPr/>
        </p:nvSpPr>
        <p:spPr>
          <a:xfrm>
            <a:off x="1938528" y="5212080"/>
            <a:ext cx="1298448" cy="475488"/>
          </a:xfrm>
          <a:prstGeom prst="roundRect">
            <a:avLst>
              <a:gd name="adj" fmla="val 50000"/>
            </a:avLst>
          </a:prstGeom>
          <a:solidFill>
            <a:schemeClr val="accent1"/>
          </a:solidFill>
          <a:ln w="12700">
            <a:solidFill>
              <a:schemeClr val="accent1"/>
            </a:solidFill>
            <a:prstDash val="solid"/>
          </a:ln>
        </p:spPr>
      </p:sp>
      <p:sp>
        <p:nvSpPr>
          <p:cNvPr id="12" name="Text 8"/>
          <p:cNvSpPr txBox="1"/>
          <p:nvPr/>
        </p:nvSpPr>
        <p:spPr>
          <a:xfrm>
            <a:off x="1938528"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Ingest</a:t>
            </a:r>
            <a:endParaRPr lang="en-US" sz="1400" dirty="0"/>
          </a:p>
        </p:txBody>
      </p:sp>
      <p:sp>
        <p:nvSpPr>
          <p:cNvPr id="13" name="Shape 9"/>
          <p:cNvSpPr/>
          <p:nvPr/>
        </p:nvSpPr>
        <p:spPr>
          <a:xfrm>
            <a:off x="3328416" y="5212080"/>
            <a:ext cx="1298448" cy="475488"/>
          </a:xfrm>
          <a:prstGeom prst="roundRect">
            <a:avLst>
              <a:gd name="adj" fmla="val 50000"/>
            </a:avLst>
          </a:prstGeom>
          <a:solidFill>
            <a:schemeClr val="accent1"/>
          </a:solidFill>
          <a:ln w="12700">
            <a:solidFill>
              <a:schemeClr val="accent1"/>
            </a:solidFill>
            <a:prstDash val="solid"/>
          </a:ln>
        </p:spPr>
      </p:sp>
      <p:sp>
        <p:nvSpPr>
          <p:cNvPr id="14" name="Text 10"/>
          <p:cNvSpPr txBox="1"/>
          <p:nvPr/>
        </p:nvSpPr>
        <p:spPr>
          <a:xfrm>
            <a:off x="3328416"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Parse</a:t>
            </a:r>
            <a:endParaRPr lang="en-US" sz="1400" dirty="0"/>
          </a:p>
        </p:txBody>
      </p:sp>
      <p:sp>
        <p:nvSpPr>
          <p:cNvPr id="15" name="Shape 11"/>
          <p:cNvSpPr/>
          <p:nvPr/>
        </p:nvSpPr>
        <p:spPr>
          <a:xfrm>
            <a:off x="4718304" y="5212080"/>
            <a:ext cx="1298448" cy="475488"/>
          </a:xfrm>
          <a:prstGeom prst="roundRect">
            <a:avLst>
              <a:gd name="adj" fmla="val 50000"/>
            </a:avLst>
          </a:prstGeom>
          <a:solidFill>
            <a:schemeClr val="accent3"/>
          </a:solidFill>
          <a:ln w="12700">
            <a:solidFill>
              <a:schemeClr val="accent3"/>
            </a:solidFill>
            <a:prstDash val="solid"/>
          </a:ln>
        </p:spPr>
      </p:sp>
      <p:sp>
        <p:nvSpPr>
          <p:cNvPr id="16" name="Text 12"/>
          <p:cNvSpPr txBox="1"/>
          <p:nvPr/>
        </p:nvSpPr>
        <p:spPr>
          <a:xfrm>
            <a:off x="4718304"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Retrieve</a:t>
            </a:r>
            <a:endParaRPr lang="en-US" sz="1400" dirty="0"/>
          </a:p>
        </p:txBody>
      </p:sp>
      <p:sp>
        <p:nvSpPr>
          <p:cNvPr id="17" name="Shape 13"/>
          <p:cNvSpPr/>
          <p:nvPr/>
        </p:nvSpPr>
        <p:spPr>
          <a:xfrm>
            <a:off x="6108192" y="5212080"/>
            <a:ext cx="1298448" cy="475488"/>
          </a:xfrm>
          <a:prstGeom prst="roundRect">
            <a:avLst>
              <a:gd name="adj" fmla="val 50000"/>
            </a:avLst>
          </a:prstGeom>
          <a:solidFill>
            <a:schemeClr val="accent3"/>
          </a:solidFill>
          <a:ln w="12700">
            <a:solidFill>
              <a:schemeClr val="accent3"/>
            </a:solidFill>
            <a:prstDash val="solid"/>
          </a:ln>
        </p:spPr>
      </p:sp>
      <p:sp>
        <p:nvSpPr>
          <p:cNvPr id="18" name="Text 14"/>
          <p:cNvSpPr txBox="1"/>
          <p:nvPr/>
        </p:nvSpPr>
        <p:spPr>
          <a:xfrm>
            <a:off x="6108192"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Rerank</a:t>
            </a:r>
            <a:endParaRPr lang="en-US" sz="1400" dirty="0"/>
          </a:p>
        </p:txBody>
      </p:sp>
      <p:sp>
        <p:nvSpPr>
          <p:cNvPr id="19" name="Shape 15"/>
          <p:cNvSpPr/>
          <p:nvPr/>
        </p:nvSpPr>
        <p:spPr>
          <a:xfrm>
            <a:off x="7498080" y="5212080"/>
            <a:ext cx="1298448" cy="475488"/>
          </a:xfrm>
          <a:prstGeom prst="roundRect">
            <a:avLst>
              <a:gd name="adj" fmla="val 50000"/>
            </a:avLst>
          </a:prstGeom>
          <a:solidFill>
            <a:schemeClr val="accent2"/>
          </a:solidFill>
          <a:ln w="12700">
            <a:solidFill>
              <a:schemeClr val="accent2"/>
            </a:solidFill>
            <a:prstDash val="solid"/>
          </a:ln>
        </p:spPr>
      </p:sp>
      <p:sp>
        <p:nvSpPr>
          <p:cNvPr id="20" name="Text 16"/>
          <p:cNvSpPr txBox="1"/>
          <p:nvPr/>
        </p:nvSpPr>
        <p:spPr>
          <a:xfrm>
            <a:off x="7498080"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Generate</a:t>
            </a:r>
            <a:endParaRPr lang="en-US" sz="1400" dirty="0"/>
          </a:p>
        </p:txBody>
      </p:sp>
      <p:sp>
        <p:nvSpPr>
          <p:cNvPr id="21" name="Shape 17"/>
          <p:cNvSpPr/>
          <p:nvPr/>
        </p:nvSpPr>
        <p:spPr>
          <a:xfrm>
            <a:off x="8887968" y="5212080"/>
            <a:ext cx="1298448" cy="475488"/>
          </a:xfrm>
          <a:prstGeom prst="roundRect">
            <a:avLst>
              <a:gd name="adj" fmla="val 50000"/>
            </a:avLst>
          </a:prstGeom>
          <a:solidFill>
            <a:schemeClr val="accent2"/>
          </a:solidFill>
          <a:ln w="12700">
            <a:solidFill>
              <a:schemeClr val="accent2"/>
            </a:solidFill>
            <a:prstDash val="solid"/>
          </a:ln>
        </p:spPr>
      </p:sp>
      <p:sp>
        <p:nvSpPr>
          <p:cNvPr id="22" name="Text 18"/>
          <p:cNvSpPr txBox="1"/>
          <p:nvPr/>
        </p:nvSpPr>
        <p:spPr>
          <a:xfrm>
            <a:off x="8887968"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Cite</a:t>
            </a:r>
            <a:endParaRPr lang="en-US" sz="1400" dirty="0"/>
          </a:p>
        </p:txBody>
      </p:sp>
      <p:sp>
        <p:nvSpPr>
          <p:cNvPr id="23" name="Shape 19"/>
          <p:cNvSpPr/>
          <p:nvPr/>
        </p:nvSpPr>
        <p:spPr>
          <a:xfrm>
            <a:off x="10277856" y="5212080"/>
            <a:ext cx="1298448" cy="475488"/>
          </a:xfrm>
          <a:prstGeom prst="roundRect">
            <a:avLst>
              <a:gd name="adj" fmla="val 50000"/>
            </a:avLst>
          </a:prstGeom>
          <a:solidFill>
            <a:schemeClr val="accent2"/>
          </a:solidFill>
          <a:ln w="12700">
            <a:solidFill>
              <a:schemeClr val="accent2"/>
            </a:solidFill>
            <a:prstDash val="solid"/>
          </a:ln>
        </p:spPr>
      </p:sp>
      <p:sp>
        <p:nvSpPr>
          <p:cNvPr id="24" name="Text 20"/>
          <p:cNvSpPr txBox="1"/>
          <p:nvPr/>
        </p:nvSpPr>
        <p:spPr>
          <a:xfrm>
            <a:off x="10277856" y="5212080"/>
            <a:ext cx="1298448" cy="475488"/>
          </a:xfrm>
          <a:prstGeom prst="rect">
            <a:avLst/>
          </a:prstGeom>
          <a:noFill/>
          <a:ln/>
        </p:spPr>
        <p:txBody>
          <a:bodyPr wrap="square" lIns="0" tIns="0" rIns="0" bIns="0" rtlCol="0" anchor="ctr"/>
          <a:lstStyle/>
          <a:p>
            <a:pPr algn="ctr" indent="0" marL="0">
              <a:buNone/>
            </a:pPr>
            <a:r>
              <a:rPr lang="en-US" sz="1400" b="1" dirty="0">
                <a:solidFill>
                  <a:schemeClr val="bg1"/>
                </a:solidFill>
              </a:rPr>
              <a:t>Evaluate</a:t>
            </a:r>
            <a:endParaRPr lang="en-US" sz="1400" dirty="0"/>
          </a:p>
        </p:txBody>
      </p:sp>
      <p:sp>
        <p:nvSpPr>
          <p:cNvPr id="25" name="Text 21"/>
          <p:cNvSpPr txBox="1"/>
          <p:nvPr/>
        </p:nvSpPr>
        <p:spPr>
          <a:xfrm>
            <a:off x="548640" y="5852160"/>
            <a:ext cx="8229600" cy="320040"/>
          </a:xfrm>
          <a:prstGeom prst="rect">
            <a:avLst/>
          </a:prstGeom>
          <a:noFill/>
          <a:ln/>
        </p:spPr>
        <p:txBody>
          <a:bodyPr wrap="square" lIns="0" tIns="0" rIns="0" bIns="0" rtlCol="0" anchor="t"/>
          <a:lstStyle/>
          <a:p>
            <a:pPr indent="0" marL="0">
              <a:buNone/>
            </a:pPr>
            <a:r>
              <a:rPr lang="en-US" sz="1400" dirty="0">
                <a:solidFill>
                  <a:schemeClr val="bg2"/>
                </a:solidFill>
              </a:rPr>
              <a:t>From any source  →  trusted evidence  →  structured answer</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Agenda</a:t>
            </a:r>
            <a:endParaRPr lang="en-US" sz="3400" dirty="0"/>
          </a:p>
        </p:txBody>
      </p:sp>
      <p:sp>
        <p:nvSpPr>
          <p:cNvPr id="4" name="Shape 1"/>
          <p:cNvSpPr/>
          <p:nvPr/>
        </p:nvSpPr>
        <p:spPr>
          <a:xfrm>
            <a:off x="548640" y="1508760"/>
            <a:ext cx="5394960" cy="4572000"/>
          </a:xfrm>
          <a:prstGeom prst="roundRect">
            <a:avLst>
              <a:gd name="adj" fmla="val 2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22960" y="1691640"/>
            <a:ext cx="4846320" cy="457200"/>
          </a:xfrm>
          <a:prstGeom prst="rect">
            <a:avLst/>
          </a:prstGeom>
          <a:noFill/>
          <a:ln/>
        </p:spPr>
        <p:txBody>
          <a:bodyPr wrap="square" lIns="0" tIns="0" rIns="0" bIns="0" rtlCol="0" anchor="t"/>
          <a:lstStyle/>
          <a:p>
            <a:pPr indent="0" marL="0">
              <a:buNone/>
            </a:pPr>
            <a:r>
              <a:rPr lang="en-US" sz="2000" b="1" dirty="0">
                <a:solidFill>
                  <a:schemeClr val="accent1"/>
                </a:solidFill>
              </a:rPr>
              <a:t>Part 1 · Interfaces, Ingestion &amp; Parsing</a:t>
            </a:r>
            <a:endParaRPr lang="en-US" sz="2000" dirty="0"/>
          </a:p>
        </p:txBody>
      </p:sp>
      <p:sp>
        <p:nvSpPr>
          <p:cNvPr id="6" name="badge"/>
          <p:cNvSpPr/>
          <p:nvPr/>
        </p:nvSpPr>
        <p:spPr>
          <a:xfrm>
            <a:off x="822960" y="242316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463040" y="2423160"/>
            <a:ext cx="4206240" cy="457200"/>
          </a:xfrm>
          <a:prstGeom prst="rect">
            <a:avLst/>
          </a:prstGeom>
          <a:noFill/>
          <a:ln/>
        </p:spPr>
        <p:txBody>
          <a:bodyPr wrap="square" lIns="0" tIns="0" rIns="0" bIns="0" rtlCol="0" anchor="ctr"/>
          <a:lstStyle/>
          <a:p>
            <a:pPr indent="0" marL="0">
              <a:buNone/>
            </a:pPr>
            <a:r>
              <a:rPr lang="en-US" sz="1800" dirty="0">
                <a:solidFill>
                  <a:schemeClr val="tx1"/>
                </a:solidFill>
              </a:rPr>
              <a:t>Overview &amp; architecture</a:t>
            </a:r>
            <a:endParaRPr lang="en-US" sz="1800" dirty="0"/>
          </a:p>
        </p:txBody>
      </p:sp>
      <p:sp>
        <p:nvSpPr>
          <p:cNvPr id="9" name="badge"/>
          <p:cNvSpPr/>
          <p:nvPr/>
        </p:nvSpPr>
        <p:spPr>
          <a:xfrm>
            <a:off x="822960" y="3127248"/>
            <a:ext cx="457200" cy="457200"/>
          </a:xfrm>
          <a:prstGeom prst="ellipse">
            <a:avLst/>
          </a:prstGeom>
          <a:solidFill>
            <a:schemeClr val="accent1"/>
          </a:solidFill>
          <a:ln w="12700">
            <a:solidFill>
              <a:schemeClr val="accent1"/>
            </a:solidFill>
            <a:prstDash val="solid"/>
          </a:ln>
        </p:spPr>
      </p:sp>
      <p:sp>
        <p:nvSpPr>
          <p:cNvPr id="10" name="Text 7"/>
          <p:cNvSpPr txBox="1"/>
          <p:nvPr/>
        </p:nvSpPr>
        <p:spPr>
          <a:xfrm>
            <a:off x="822960" y="31272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463040" y="3127248"/>
            <a:ext cx="4206240" cy="457200"/>
          </a:xfrm>
          <a:prstGeom prst="rect">
            <a:avLst/>
          </a:prstGeom>
          <a:noFill/>
          <a:ln/>
        </p:spPr>
        <p:txBody>
          <a:bodyPr wrap="square" lIns="0" tIns="0" rIns="0" bIns="0" rtlCol="0" anchor="ctr"/>
          <a:lstStyle/>
          <a:p>
            <a:pPr indent="0" marL="0">
              <a:buNone/>
            </a:pPr>
            <a:r>
              <a:rPr lang="en-US" sz="1800" dirty="0">
                <a:solidFill>
                  <a:schemeClr val="tx1"/>
                </a:solidFill>
              </a:rPr>
              <a:t>Frontend &amp; backend API</a:t>
            </a:r>
            <a:endParaRPr lang="en-US" sz="1800" dirty="0"/>
          </a:p>
        </p:txBody>
      </p:sp>
      <p:sp>
        <p:nvSpPr>
          <p:cNvPr id="12" name="badge"/>
          <p:cNvSpPr/>
          <p:nvPr/>
        </p:nvSpPr>
        <p:spPr>
          <a:xfrm>
            <a:off x="822960" y="3831336"/>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822960" y="38313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1463040" y="3831336"/>
            <a:ext cx="4206240" cy="457200"/>
          </a:xfrm>
          <a:prstGeom prst="rect">
            <a:avLst/>
          </a:prstGeom>
          <a:noFill/>
          <a:ln/>
        </p:spPr>
        <p:txBody>
          <a:bodyPr wrap="square" lIns="0" tIns="0" rIns="0" bIns="0" rtlCol="0" anchor="ctr"/>
          <a:lstStyle/>
          <a:p>
            <a:pPr indent="0" marL="0">
              <a:buNone/>
            </a:pPr>
            <a:r>
              <a:rPr lang="en-US" sz="1800" dirty="0">
                <a:solidFill>
                  <a:schemeClr val="tx1"/>
                </a:solidFill>
              </a:rPr>
              <a:t>External integrations &amp; security</a:t>
            </a:r>
            <a:endParaRPr lang="en-US" sz="1800" dirty="0"/>
          </a:p>
        </p:txBody>
      </p:sp>
      <p:sp>
        <p:nvSpPr>
          <p:cNvPr id="15" name="badge"/>
          <p:cNvSpPr/>
          <p:nvPr/>
        </p:nvSpPr>
        <p:spPr>
          <a:xfrm>
            <a:off x="822960" y="4535424"/>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822960" y="45354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txBox="1"/>
          <p:nvPr/>
        </p:nvSpPr>
        <p:spPr>
          <a:xfrm>
            <a:off x="1463040" y="4535424"/>
            <a:ext cx="4206240" cy="457200"/>
          </a:xfrm>
          <a:prstGeom prst="rect">
            <a:avLst/>
          </a:prstGeom>
          <a:noFill/>
          <a:ln/>
        </p:spPr>
        <p:txBody>
          <a:bodyPr wrap="square" lIns="0" tIns="0" rIns="0" bIns="0" rtlCol="0" anchor="ctr"/>
          <a:lstStyle/>
          <a:p>
            <a:pPr indent="0" marL="0">
              <a:buNone/>
            </a:pPr>
            <a:r>
              <a:rPr lang="en-US" sz="1800" dirty="0">
                <a:solidFill>
                  <a:schemeClr val="tx1"/>
                </a:solidFill>
              </a:rPr>
              <a:t>Multi-source ingestion</a:t>
            </a:r>
            <a:endParaRPr lang="en-US" sz="1800" dirty="0"/>
          </a:p>
        </p:txBody>
      </p:sp>
      <p:sp>
        <p:nvSpPr>
          <p:cNvPr id="18" name="badge"/>
          <p:cNvSpPr/>
          <p:nvPr/>
        </p:nvSpPr>
        <p:spPr>
          <a:xfrm>
            <a:off x="822960" y="5239512"/>
            <a:ext cx="457200" cy="457200"/>
          </a:xfrm>
          <a:prstGeom prst="ellipse">
            <a:avLst/>
          </a:prstGeom>
          <a:solidFill>
            <a:schemeClr val="accent1"/>
          </a:solidFill>
          <a:ln w="12700">
            <a:solidFill>
              <a:schemeClr val="accent1"/>
            </a:solidFill>
            <a:prstDash val="solid"/>
          </a:ln>
        </p:spPr>
      </p:sp>
      <p:sp>
        <p:nvSpPr>
          <p:cNvPr id="19" name="Text 16"/>
          <p:cNvSpPr txBox="1"/>
          <p:nvPr/>
        </p:nvSpPr>
        <p:spPr>
          <a:xfrm>
            <a:off x="822960" y="5239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0" name="Text 17"/>
          <p:cNvSpPr txBox="1"/>
          <p:nvPr/>
        </p:nvSpPr>
        <p:spPr>
          <a:xfrm>
            <a:off x="1463040" y="5239512"/>
            <a:ext cx="4206240" cy="457200"/>
          </a:xfrm>
          <a:prstGeom prst="rect">
            <a:avLst/>
          </a:prstGeom>
          <a:noFill/>
          <a:ln/>
        </p:spPr>
        <p:txBody>
          <a:bodyPr wrap="square" lIns="0" tIns="0" rIns="0" bIns="0" rtlCol="0" anchor="ctr"/>
          <a:lstStyle/>
          <a:p>
            <a:pPr indent="0" marL="0">
              <a:buNone/>
            </a:pPr>
            <a:r>
              <a:rPr lang="en-US" sz="1800" dirty="0">
                <a:solidFill>
                  <a:schemeClr val="tx1"/>
                </a:solidFill>
              </a:rPr>
              <a:t>Document processing &amp; parsing</a:t>
            </a:r>
            <a:endParaRPr lang="en-US" sz="1800" dirty="0"/>
          </a:p>
        </p:txBody>
      </p:sp>
      <p:sp>
        <p:nvSpPr>
          <p:cNvPr id="21" name="Shape 18"/>
          <p:cNvSpPr/>
          <p:nvPr/>
        </p:nvSpPr>
        <p:spPr>
          <a:xfrm>
            <a:off x="6245352" y="1508760"/>
            <a:ext cx="5394960" cy="4572000"/>
          </a:xfrm>
          <a:prstGeom prst="roundRect">
            <a:avLst>
              <a:gd name="adj" fmla="val 2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6519672" y="1691640"/>
            <a:ext cx="4846320" cy="457200"/>
          </a:xfrm>
          <a:prstGeom prst="rect">
            <a:avLst/>
          </a:prstGeom>
          <a:noFill/>
          <a:ln/>
        </p:spPr>
        <p:txBody>
          <a:bodyPr wrap="square" lIns="0" tIns="0" rIns="0" bIns="0" rtlCol="0" anchor="t"/>
          <a:lstStyle/>
          <a:p>
            <a:pPr indent="0" marL="0">
              <a:buNone/>
            </a:pPr>
            <a:r>
              <a:rPr lang="en-US" sz="2000" b="1" dirty="0">
                <a:solidFill>
                  <a:schemeClr val="accent2"/>
                </a:solidFill>
              </a:rPr>
              <a:t>Part 2 · Retrieval, Intelligence &amp; Operations</a:t>
            </a:r>
            <a:endParaRPr lang="en-US" sz="2000" dirty="0"/>
          </a:p>
        </p:txBody>
      </p:sp>
      <p:sp>
        <p:nvSpPr>
          <p:cNvPr id="23" name="badge"/>
          <p:cNvSpPr/>
          <p:nvPr/>
        </p:nvSpPr>
        <p:spPr>
          <a:xfrm>
            <a:off x="6519672" y="2423160"/>
            <a:ext cx="457200" cy="457200"/>
          </a:xfrm>
          <a:prstGeom prst="ellipse">
            <a:avLst/>
          </a:prstGeom>
          <a:solidFill>
            <a:schemeClr val="accent2"/>
          </a:solidFill>
          <a:ln w="12700">
            <a:solidFill>
              <a:schemeClr val="accent2"/>
            </a:solidFill>
            <a:prstDash val="solid"/>
          </a:ln>
        </p:spPr>
      </p:sp>
      <p:sp>
        <p:nvSpPr>
          <p:cNvPr id="24" name="Text 21"/>
          <p:cNvSpPr txBox="1"/>
          <p:nvPr/>
        </p:nvSpPr>
        <p:spPr>
          <a:xfrm>
            <a:off x="6519672" y="2423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 22"/>
          <p:cNvSpPr txBox="1"/>
          <p:nvPr/>
        </p:nvSpPr>
        <p:spPr>
          <a:xfrm>
            <a:off x="7159752" y="2423160"/>
            <a:ext cx="4206240" cy="457200"/>
          </a:xfrm>
          <a:prstGeom prst="rect">
            <a:avLst/>
          </a:prstGeom>
          <a:noFill/>
          <a:ln/>
        </p:spPr>
        <p:txBody>
          <a:bodyPr wrap="square" lIns="0" tIns="0" rIns="0" bIns="0" rtlCol="0" anchor="ctr"/>
          <a:lstStyle/>
          <a:p>
            <a:pPr indent="0" marL="0">
              <a:buNone/>
            </a:pPr>
            <a:r>
              <a:rPr lang="en-US" sz="1800" dirty="0">
                <a:solidFill>
                  <a:schemeClr val="tx1"/>
                </a:solidFill>
              </a:rPr>
              <a:t>Embeddings &amp; persistence</a:t>
            </a:r>
            <a:endParaRPr lang="en-US" sz="1800" dirty="0"/>
          </a:p>
        </p:txBody>
      </p:sp>
      <p:sp>
        <p:nvSpPr>
          <p:cNvPr id="26" name="badge"/>
          <p:cNvSpPr/>
          <p:nvPr/>
        </p:nvSpPr>
        <p:spPr>
          <a:xfrm>
            <a:off x="6519672" y="3127248"/>
            <a:ext cx="457200" cy="457200"/>
          </a:xfrm>
          <a:prstGeom prst="ellipse">
            <a:avLst/>
          </a:prstGeom>
          <a:solidFill>
            <a:schemeClr val="accent2"/>
          </a:solidFill>
          <a:ln w="12700">
            <a:solidFill>
              <a:schemeClr val="accent2"/>
            </a:solidFill>
            <a:prstDash val="solid"/>
          </a:ln>
        </p:spPr>
      </p:sp>
      <p:sp>
        <p:nvSpPr>
          <p:cNvPr id="27" name="Text 24"/>
          <p:cNvSpPr txBox="1"/>
          <p:nvPr/>
        </p:nvSpPr>
        <p:spPr>
          <a:xfrm>
            <a:off x="6519672" y="31272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8" name="Text 25"/>
          <p:cNvSpPr txBox="1"/>
          <p:nvPr/>
        </p:nvSpPr>
        <p:spPr>
          <a:xfrm>
            <a:off x="7159752" y="3127248"/>
            <a:ext cx="4206240" cy="457200"/>
          </a:xfrm>
          <a:prstGeom prst="rect">
            <a:avLst/>
          </a:prstGeom>
          <a:noFill/>
          <a:ln/>
        </p:spPr>
        <p:txBody>
          <a:bodyPr wrap="square" lIns="0" tIns="0" rIns="0" bIns="0" rtlCol="0" anchor="ctr"/>
          <a:lstStyle/>
          <a:p>
            <a:pPr indent="0" marL="0">
              <a:buNone/>
            </a:pPr>
            <a:r>
              <a:rPr lang="en-US" sz="1800" dirty="0">
                <a:solidFill>
                  <a:schemeClr val="tx1"/>
                </a:solidFill>
              </a:rPr>
              <a:t>Retrieval &amp; ranking</a:t>
            </a:r>
            <a:endParaRPr lang="en-US" sz="1800" dirty="0"/>
          </a:p>
        </p:txBody>
      </p:sp>
      <p:sp>
        <p:nvSpPr>
          <p:cNvPr id="29" name="badge"/>
          <p:cNvSpPr/>
          <p:nvPr/>
        </p:nvSpPr>
        <p:spPr>
          <a:xfrm>
            <a:off x="6519672" y="3831336"/>
            <a:ext cx="457200" cy="457200"/>
          </a:xfrm>
          <a:prstGeom prst="ellipse">
            <a:avLst/>
          </a:prstGeom>
          <a:solidFill>
            <a:schemeClr val="accent2"/>
          </a:solidFill>
          <a:ln w="12700">
            <a:solidFill>
              <a:schemeClr val="accent2"/>
            </a:solidFill>
            <a:prstDash val="solid"/>
          </a:ln>
        </p:spPr>
      </p:sp>
      <p:sp>
        <p:nvSpPr>
          <p:cNvPr id="30" name="Text 27"/>
          <p:cNvSpPr txBox="1"/>
          <p:nvPr/>
        </p:nvSpPr>
        <p:spPr>
          <a:xfrm>
            <a:off x="6519672" y="38313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1" name="Text 28"/>
          <p:cNvSpPr txBox="1"/>
          <p:nvPr/>
        </p:nvSpPr>
        <p:spPr>
          <a:xfrm>
            <a:off x="7159752" y="3831336"/>
            <a:ext cx="4206240" cy="457200"/>
          </a:xfrm>
          <a:prstGeom prst="rect">
            <a:avLst/>
          </a:prstGeom>
          <a:noFill/>
          <a:ln/>
        </p:spPr>
        <p:txBody>
          <a:bodyPr wrap="square" lIns="0" tIns="0" rIns="0" bIns="0" rtlCol="0" anchor="ctr"/>
          <a:lstStyle/>
          <a:p>
            <a:pPr indent="0" marL="0">
              <a:buNone/>
            </a:pPr>
            <a:r>
              <a:rPr lang="en-US" sz="1800" dirty="0">
                <a:solidFill>
                  <a:schemeClr val="tx1"/>
                </a:solidFill>
              </a:rPr>
              <a:t>LangGraph research workflow</a:t>
            </a:r>
            <a:endParaRPr lang="en-US" sz="1800" dirty="0"/>
          </a:p>
        </p:txBody>
      </p:sp>
      <p:sp>
        <p:nvSpPr>
          <p:cNvPr id="32" name="badge"/>
          <p:cNvSpPr/>
          <p:nvPr/>
        </p:nvSpPr>
        <p:spPr>
          <a:xfrm>
            <a:off x="6519672" y="4535424"/>
            <a:ext cx="457200" cy="457200"/>
          </a:xfrm>
          <a:prstGeom prst="ellipse">
            <a:avLst/>
          </a:prstGeom>
          <a:solidFill>
            <a:schemeClr val="accent2"/>
          </a:solidFill>
          <a:ln w="12700">
            <a:solidFill>
              <a:schemeClr val="accent2"/>
            </a:solidFill>
            <a:prstDash val="solid"/>
          </a:ln>
        </p:spPr>
      </p:sp>
      <p:sp>
        <p:nvSpPr>
          <p:cNvPr id="33" name="Text 30"/>
          <p:cNvSpPr txBox="1"/>
          <p:nvPr/>
        </p:nvSpPr>
        <p:spPr>
          <a:xfrm>
            <a:off x="6519672" y="45354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34" name="Text 31"/>
          <p:cNvSpPr txBox="1"/>
          <p:nvPr/>
        </p:nvSpPr>
        <p:spPr>
          <a:xfrm>
            <a:off x="7159752" y="4535424"/>
            <a:ext cx="4206240" cy="457200"/>
          </a:xfrm>
          <a:prstGeom prst="rect">
            <a:avLst/>
          </a:prstGeom>
          <a:noFill/>
          <a:ln/>
        </p:spPr>
        <p:txBody>
          <a:bodyPr wrap="square" lIns="0" tIns="0" rIns="0" bIns="0" rtlCol="0" anchor="ctr"/>
          <a:lstStyle/>
          <a:p>
            <a:pPr indent="0" marL="0">
              <a:buNone/>
            </a:pPr>
            <a:r>
              <a:rPr lang="en-US" sz="1800" dirty="0">
                <a:solidFill>
                  <a:schemeClr val="tx1"/>
                </a:solidFill>
              </a:rPr>
              <a:t>Evaluation &amp; observability</a:t>
            </a:r>
            <a:endParaRPr lang="en-US" sz="1800" dirty="0"/>
          </a:p>
        </p:txBody>
      </p:sp>
      <p:sp>
        <p:nvSpPr>
          <p:cNvPr id="35" name="badge"/>
          <p:cNvSpPr/>
          <p:nvPr/>
        </p:nvSpPr>
        <p:spPr>
          <a:xfrm>
            <a:off x="6519672" y="5239512"/>
            <a:ext cx="457200" cy="457200"/>
          </a:xfrm>
          <a:prstGeom prst="ellipse">
            <a:avLst/>
          </a:prstGeom>
          <a:solidFill>
            <a:schemeClr val="accent2"/>
          </a:solidFill>
          <a:ln w="12700">
            <a:solidFill>
              <a:schemeClr val="accent2"/>
            </a:solidFill>
            <a:prstDash val="solid"/>
          </a:ln>
        </p:spPr>
      </p:sp>
      <p:sp>
        <p:nvSpPr>
          <p:cNvPr id="36" name="Text 33"/>
          <p:cNvSpPr txBox="1"/>
          <p:nvPr/>
        </p:nvSpPr>
        <p:spPr>
          <a:xfrm>
            <a:off x="6519672" y="5239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7" name="Text 34"/>
          <p:cNvSpPr txBox="1"/>
          <p:nvPr/>
        </p:nvSpPr>
        <p:spPr>
          <a:xfrm>
            <a:off x="7159752" y="5239512"/>
            <a:ext cx="4206240" cy="457200"/>
          </a:xfrm>
          <a:prstGeom prst="rect">
            <a:avLst/>
          </a:prstGeom>
          <a:noFill/>
          <a:ln/>
        </p:spPr>
        <p:txBody>
          <a:bodyPr wrap="square" lIns="0" tIns="0" rIns="0" bIns="0" rtlCol="0" anchor="ctr"/>
          <a:lstStyle/>
          <a:p>
            <a:pPr indent="0" marL="0">
              <a:buNone/>
            </a:pPr>
            <a:r>
              <a:rPr lang="en-US" sz="1800" dirty="0">
                <a:solidFill>
                  <a:schemeClr val="tx1"/>
                </a:solidFill>
              </a:rPr>
              <a:t>Deployment, data flow &amp; roadmap</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What the System Does</a:t>
            </a:r>
            <a:endParaRPr lang="en-US" sz="3400" dirty="0"/>
          </a:p>
        </p:txBody>
      </p:sp>
      <p:sp>
        <p:nvSpPr>
          <p:cNvPr id="4" name="Shape 1"/>
          <p:cNvSpPr/>
          <p:nvPr/>
        </p:nvSpPr>
        <p:spPr>
          <a:xfrm>
            <a:off x="1241870" y="1965960"/>
            <a:ext cx="9705213" cy="0"/>
          </a:xfrm>
          <a:prstGeom prst="line">
            <a:avLst/>
          </a:prstGeom>
          <a:noFill/>
          <a:ln w="25400">
            <a:solidFill>
              <a:schemeClr val="tx2"/>
            </a:solidFill>
            <a:prstDash val="dash"/>
          </a:ln>
        </p:spPr>
      </p:sp>
      <p:sp>
        <p:nvSpPr>
          <p:cNvPr id="5" name="flow Discover"/>
          <p:cNvSpPr/>
          <p:nvPr/>
        </p:nvSpPr>
        <p:spPr>
          <a:xfrm>
            <a:off x="876110" y="1600200"/>
            <a:ext cx="731520" cy="73152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1058990" y="1783080"/>
            <a:ext cx="365760" cy="365760"/>
          </a:xfrm>
          <a:prstGeom prst="rect">
            <a:avLst/>
          </a:prstGeom>
        </p:spPr>
      </p:pic>
      <p:sp>
        <p:nvSpPr>
          <p:cNvPr id="7" name="Text 3"/>
          <p:cNvSpPr txBox="1"/>
          <p:nvPr/>
        </p:nvSpPr>
        <p:spPr>
          <a:xfrm>
            <a:off x="548640"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Discover</a:t>
            </a:r>
            <a:endParaRPr lang="en-US" sz="1500" dirty="0"/>
          </a:p>
        </p:txBody>
      </p:sp>
      <p:sp>
        <p:nvSpPr>
          <p:cNvPr id="8" name="flow Ingest"/>
          <p:cNvSpPr/>
          <p:nvPr/>
        </p:nvSpPr>
        <p:spPr>
          <a:xfrm>
            <a:off x="2262569" y="1600200"/>
            <a:ext cx="731520" cy="731520"/>
          </a:xfrm>
          <a:prstGeom prst="ellipse">
            <a:avLst/>
          </a:prstGeom>
          <a:solidFill>
            <a:schemeClr val="accent1"/>
          </a:solidFill>
          <a:ln w="12700">
            <a:solidFill>
              <a:schemeClr val="accent1"/>
            </a:solidFill>
            <a:prstDash val="solid"/>
          </a:ln>
        </p:spPr>
      </p:sp>
      <p:pic>
        <p:nvPicPr>
          <p:cNvPr id="9" name="Image 1" descr="icon">    </p:cNvPr>
          <p:cNvPicPr>
            <a:picLocks noChangeAspect="1"/>
          </p:cNvPicPr>
          <p:nvPr/>
        </p:nvPicPr>
        <p:blipFill>
          <a:blip r:embed="rId2"/>
          <a:stretch>
            <a:fillRect/>
          </a:stretch>
        </p:blipFill>
        <p:spPr>
          <a:xfrm>
            <a:off x="2445449" y="1783080"/>
            <a:ext cx="365760" cy="365760"/>
          </a:xfrm>
          <a:prstGeom prst="rect">
            <a:avLst/>
          </a:prstGeom>
        </p:spPr>
      </p:pic>
      <p:sp>
        <p:nvSpPr>
          <p:cNvPr id="10" name="Text 5"/>
          <p:cNvSpPr txBox="1"/>
          <p:nvPr/>
        </p:nvSpPr>
        <p:spPr>
          <a:xfrm>
            <a:off x="1935099"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Ingest</a:t>
            </a:r>
            <a:endParaRPr lang="en-US" sz="1500" dirty="0"/>
          </a:p>
        </p:txBody>
      </p:sp>
      <p:sp>
        <p:nvSpPr>
          <p:cNvPr id="11" name="flow Parse"/>
          <p:cNvSpPr/>
          <p:nvPr/>
        </p:nvSpPr>
        <p:spPr>
          <a:xfrm>
            <a:off x="3649028" y="1600200"/>
            <a:ext cx="731520" cy="731520"/>
          </a:xfrm>
          <a:prstGeom prst="ellipse">
            <a:avLst/>
          </a:prstGeom>
          <a:solidFill>
            <a:schemeClr val="accent1"/>
          </a:solidFill>
          <a:ln w="12700">
            <a:solidFill>
              <a:schemeClr val="accent1"/>
            </a:solidFill>
            <a:prstDash val="solid"/>
          </a:ln>
        </p:spPr>
      </p:sp>
      <p:pic>
        <p:nvPicPr>
          <p:cNvPr id="12" name="Image 2" descr="icon">    </p:cNvPr>
          <p:cNvPicPr>
            <a:picLocks noChangeAspect="1"/>
          </p:cNvPicPr>
          <p:nvPr/>
        </p:nvPicPr>
        <p:blipFill>
          <a:blip r:embed="rId3"/>
          <a:stretch>
            <a:fillRect/>
          </a:stretch>
        </p:blipFill>
        <p:spPr>
          <a:xfrm>
            <a:off x="3831908" y="1783080"/>
            <a:ext cx="365760" cy="365760"/>
          </a:xfrm>
          <a:prstGeom prst="rect">
            <a:avLst/>
          </a:prstGeom>
        </p:spPr>
      </p:pic>
      <p:sp>
        <p:nvSpPr>
          <p:cNvPr id="13" name="Text 7"/>
          <p:cNvSpPr txBox="1"/>
          <p:nvPr/>
        </p:nvSpPr>
        <p:spPr>
          <a:xfrm>
            <a:off x="3321558"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Parse</a:t>
            </a:r>
            <a:endParaRPr lang="en-US" sz="1500" dirty="0"/>
          </a:p>
        </p:txBody>
      </p:sp>
      <p:sp>
        <p:nvSpPr>
          <p:cNvPr id="14" name="flow Retrieve"/>
          <p:cNvSpPr/>
          <p:nvPr/>
        </p:nvSpPr>
        <p:spPr>
          <a:xfrm>
            <a:off x="5035486" y="1600200"/>
            <a:ext cx="731520" cy="731520"/>
          </a:xfrm>
          <a:prstGeom prst="ellipse">
            <a:avLst/>
          </a:prstGeom>
          <a:solidFill>
            <a:schemeClr val="accent3"/>
          </a:solidFill>
          <a:ln w="12700">
            <a:solidFill>
              <a:schemeClr val="accent3"/>
            </a:solidFill>
            <a:prstDash val="solid"/>
          </a:ln>
        </p:spPr>
      </p:sp>
      <p:pic>
        <p:nvPicPr>
          <p:cNvPr id="15" name="Image 3" descr="icon">    </p:cNvPr>
          <p:cNvPicPr>
            <a:picLocks noChangeAspect="1"/>
          </p:cNvPicPr>
          <p:nvPr/>
        </p:nvPicPr>
        <p:blipFill>
          <a:blip r:embed="rId4"/>
          <a:stretch>
            <a:fillRect/>
          </a:stretch>
        </p:blipFill>
        <p:spPr>
          <a:xfrm>
            <a:off x="5218366" y="1783080"/>
            <a:ext cx="365760" cy="365760"/>
          </a:xfrm>
          <a:prstGeom prst="rect">
            <a:avLst/>
          </a:prstGeom>
        </p:spPr>
      </p:pic>
      <p:sp>
        <p:nvSpPr>
          <p:cNvPr id="16" name="Text 9"/>
          <p:cNvSpPr txBox="1"/>
          <p:nvPr/>
        </p:nvSpPr>
        <p:spPr>
          <a:xfrm>
            <a:off x="4708017"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Retrieve</a:t>
            </a:r>
            <a:endParaRPr lang="en-US" sz="1500" dirty="0"/>
          </a:p>
        </p:txBody>
      </p:sp>
      <p:sp>
        <p:nvSpPr>
          <p:cNvPr id="17" name="flow Rerank"/>
          <p:cNvSpPr/>
          <p:nvPr/>
        </p:nvSpPr>
        <p:spPr>
          <a:xfrm>
            <a:off x="6421945" y="1600200"/>
            <a:ext cx="731520" cy="731520"/>
          </a:xfrm>
          <a:prstGeom prst="ellipse">
            <a:avLst/>
          </a:prstGeom>
          <a:solidFill>
            <a:schemeClr val="accent3"/>
          </a:solidFill>
          <a:ln w="12700">
            <a:solidFill>
              <a:schemeClr val="accent3"/>
            </a:solidFill>
            <a:prstDash val="solid"/>
          </a:ln>
        </p:spPr>
      </p:sp>
      <p:pic>
        <p:nvPicPr>
          <p:cNvPr id="18" name="Image 4" descr="icon">    </p:cNvPr>
          <p:cNvPicPr>
            <a:picLocks noChangeAspect="1"/>
          </p:cNvPicPr>
          <p:nvPr/>
        </p:nvPicPr>
        <p:blipFill>
          <a:blip r:embed="rId5"/>
          <a:stretch>
            <a:fillRect/>
          </a:stretch>
        </p:blipFill>
        <p:spPr>
          <a:xfrm>
            <a:off x="6604826" y="1783080"/>
            <a:ext cx="365760" cy="365760"/>
          </a:xfrm>
          <a:prstGeom prst="rect">
            <a:avLst/>
          </a:prstGeom>
        </p:spPr>
      </p:pic>
      <p:sp>
        <p:nvSpPr>
          <p:cNvPr id="19" name="Text 11"/>
          <p:cNvSpPr txBox="1"/>
          <p:nvPr/>
        </p:nvSpPr>
        <p:spPr>
          <a:xfrm>
            <a:off x="6094476"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Rerank</a:t>
            </a:r>
            <a:endParaRPr lang="en-US" sz="1500" dirty="0"/>
          </a:p>
        </p:txBody>
      </p:sp>
      <p:sp>
        <p:nvSpPr>
          <p:cNvPr id="20" name="flow Generate"/>
          <p:cNvSpPr/>
          <p:nvPr/>
        </p:nvSpPr>
        <p:spPr>
          <a:xfrm>
            <a:off x="7808405" y="1600200"/>
            <a:ext cx="731520" cy="731520"/>
          </a:xfrm>
          <a:prstGeom prst="ellipse">
            <a:avLst/>
          </a:prstGeom>
          <a:solidFill>
            <a:schemeClr val="accent2"/>
          </a:solidFill>
          <a:ln w="12700">
            <a:solidFill>
              <a:schemeClr val="accent2"/>
            </a:solidFill>
            <a:prstDash val="solid"/>
          </a:ln>
        </p:spPr>
      </p:sp>
      <p:pic>
        <p:nvPicPr>
          <p:cNvPr id="21" name="Image 5" descr="icon">    </p:cNvPr>
          <p:cNvPicPr>
            <a:picLocks noChangeAspect="1"/>
          </p:cNvPicPr>
          <p:nvPr/>
        </p:nvPicPr>
        <p:blipFill>
          <a:blip r:embed="rId6"/>
          <a:stretch>
            <a:fillRect/>
          </a:stretch>
        </p:blipFill>
        <p:spPr>
          <a:xfrm>
            <a:off x="7991284" y="1783080"/>
            <a:ext cx="365760" cy="365760"/>
          </a:xfrm>
          <a:prstGeom prst="rect">
            <a:avLst/>
          </a:prstGeom>
        </p:spPr>
      </p:pic>
      <p:sp>
        <p:nvSpPr>
          <p:cNvPr id="22" name="Text 13"/>
          <p:cNvSpPr txBox="1"/>
          <p:nvPr/>
        </p:nvSpPr>
        <p:spPr>
          <a:xfrm>
            <a:off x="7480935"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Generate</a:t>
            </a:r>
            <a:endParaRPr lang="en-US" sz="1500" dirty="0"/>
          </a:p>
        </p:txBody>
      </p:sp>
      <p:sp>
        <p:nvSpPr>
          <p:cNvPr id="23" name="flow Cite"/>
          <p:cNvSpPr/>
          <p:nvPr/>
        </p:nvSpPr>
        <p:spPr>
          <a:xfrm>
            <a:off x="9194864" y="1600200"/>
            <a:ext cx="731520" cy="731520"/>
          </a:xfrm>
          <a:prstGeom prst="ellipse">
            <a:avLst/>
          </a:prstGeom>
          <a:solidFill>
            <a:schemeClr val="accent2"/>
          </a:solidFill>
          <a:ln w="12700">
            <a:solidFill>
              <a:schemeClr val="accent2"/>
            </a:solidFill>
            <a:prstDash val="solid"/>
          </a:ln>
        </p:spPr>
      </p:sp>
      <p:pic>
        <p:nvPicPr>
          <p:cNvPr id="24" name="Image 6" descr="icon">    </p:cNvPr>
          <p:cNvPicPr>
            <a:picLocks noChangeAspect="1"/>
          </p:cNvPicPr>
          <p:nvPr/>
        </p:nvPicPr>
        <p:blipFill>
          <a:blip r:embed="rId7"/>
          <a:stretch>
            <a:fillRect/>
          </a:stretch>
        </p:blipFill>
        <p:spPr>
          <a:xfrm>
            <a:off x="9377743" y="1783080"/>
            <a:ext cx="365760" cy="365760"/>
          </a:xfrm>
          <a:prstGeom prst="rect">
            <a:avLst/>
          </a:prstGeom>
        </p:spPr>
      </p:pic>
      <p:sp>
        <p:nvSpPr>
          <p:cNvPr id="25" name="Text 15"/>
          <p:cNvSpPr txBox="1"/>
          <p:nvPr/>
        </p:nvSpPr>
        <p:spPr>
          <a:xfrm>
            <a:off x="8867394"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Cite</a:t>
            </a:r>
            <a:endParaRPr lang="en-US" sz="1500" dirty="0"/>
          </a:p>
        </p:txBody>
      </p:sp>
      <p:sp>
        <p:nvSpPr>
          <p:cNvPr id="26" name="flow Evaluate"/>
          <p:cNvSpPr/>
          <p:nvPr/>
        </p:nvSpPr>
        <p:spPr>
          <a:xfrm>
            <a:off x="10581323" y="1600200"/>
            <a:ext cx="731520" cy="731520"/>
          </a:xfrm>
          <a:prstGeom prst="ellipse">
            <a:avLst/>
          </a:prstGeom>
          <a:solidFill>
            <a:schemeClr val="accent2"/>
          </a:solidFill>
          <a:ln w="12700">
            <a:solidFill>
              <a:schemeClr val="accent2"/>
            </a:solidFill>
            <a:prstDash val="solid"/>
          </a:ln>
        </p:spPr>
      </p:sp>
      <p:pic>
        <p:nvPicPr>
          <p:cNvPr id="27" name="Image 7" descr="icon">    </p:cNvPr>
          <p:cNvPicPr>
            <a:picLocks noChangeAspect="1"/>
          </p:cNvPicPr>
          <p:nvPr/>
        </p:nvPicPr>
        <p:blipFill>
          <a:blip r:embed="rId8"/>
          <a:stretch>
            <a:fillRect/>
          </a:stretch>
        </p:blipFill>
        <p:spPr>
          <a:xfrm>
            <a:off x="10764203" y="1783080"/>
            <a:ext cx="365760" cy="365760"/>
          </a:xfrm>
          <a:prstGeom prst="rect">
            <a:avLst/>
          </a:prstGeom>
        </p:spPr>
      </p:pic>
      <p:sp>
        <p:nvSpPr>
          <p:cNvPr id="28" name="Text 17"/>
          <p:cNvSpPr txBox="1"/>
          <p:nvPr/>
        </p:nvSpPr>
        <p:spPr>
          <a:xfrm>
            <a:off x="10253853" y="2423160"/>
            <a:ext cx="1386459" cy="320040"/>
          </a:xfrm>
          <a:prstGeom prst="rect">
            <a:avLst/>
          </a:prstGeom>
          <a:noFill/>
          <a:ln/>
        </p:spPr>
        <p:txBody>
          <a:bodyPr wrap="square" lIns="0" tIns="0" rIns="0" bIns="0" rtlCol="0" anchor="t"/>
          <a:lstStyle/>
          <a:p>
            <a:pPr algn="ctr" indent="0" marL="0">
              <a:buNone/>
            </a:pPr>
            <a:r>
              <a:rPr lang="en-US" sz="1500" b="1" dirty="0">
                <a:solidFill>
                  <a:schemeClr val="tx1"/>
                </a:solidFill>
              </a:rPr>
              <a:t>Evaluate</a:t>
            </a:r>
            <a:endParaRPr lang="en-US" sz="1500" dirty="0"/>
          </a:p>
        </p:txBody>
      </p:sp>
      <p:sp>
        <p:nvSpPr>
          <p:cNvPr id="29" name="card Multi-Source"/>
          <p:cNvSpPr/>
          <p:nvPr/>
        </p:nvSpPr>
        <p:spPr>
          <a:xfrm>
            <a:off x="548640" y="3291840"/>
            <a:ext cx="2567178" cy="283464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icon Multi-Source"/>
          <p:cNvSpPr/>
          <p:nvPr/>
        </p:nvSpPr>
        <p:spPr>
          <a:xfrm>
            <a:off x="731520" y="3474720"/>
            <a:ext cx="475488" cy="475488"/>
          </a:xfrm>
          <a:prstGeom prst="ellipse">
            <a:avLst/>
          </a:prstGeom>
          <a:solidFill>
            <a:schemeClr val="accent1"/>
          </a:solidFill>
          <a:ln w="12700">
            <a:solidFill>
              <a:schemeClr val="accent1"/>
            </a:solidFill>
            <a:prstDash val="solid"/>
          </a:ln>
        </p:spPr>
      </p:sp>
      <p:pic>
        <p:nvPicPr>
          <p:cNvPr id="31" name="Image 8" descr="icon">    </p:cNvPr>
          <p:cNvPicPr>
            <a:picLocks noChangeAspect="1"/>
          </p:cNvPicPr>
          <p:nvPr/>
        </p:nvPicPr>
        <p:blipFill>
          <a:blip r:embed="rId9"/>
          <a:stretch>
            <a:fillRect/>
          </a:stretch>
        </p:blipFill>
        <p:spPr>
          <a:xfrm>
            <a:off x="850392" y="3593592"/>
            <a:ext cx="237744" cy="237744"/>
          </a:xfrm>
          <a:prstGeom prst="rect">
            <a:avLst/>
          </a:prstGeom>
        </p:spPr>
      </p:pic>
      <p:sp>
        <p:nvSpPr>
          <p:cNvPr id="32" name="Text 20"/>
          <p:cNvSpPr txBox="1"/>
          <p:nvPr/>
        </p:nvSpPr>
        <p:spPr>
          <a:xfrm>
            <a:off x="1353312" y="34472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Multi-Source</a:t>
            </a:r>
            <a:endParaRPr lang="en-US" sz="1500" dirty="0"/>
          </a:p>
        </p:txBody>
      </p:sp>
      <p:sp>
        <p:nvSpPr>
          <p:cNvPr id="33" name="Text 21"/>
          <p:cNvSpPr txBox="1"/>
          <p:nvPr/>
        </p:nvSpPr>
        <p:spPr>
          <a:xfrm>
            <a:off x="777240" y="4114800"/>
            <a:ext cx="2155698"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15+ trusted source types</a:t>
            </a:r>
            <a:endParaRPr lang="en-US" sz="1400" dirty="0"/>
          </a:p>
          <a:p>
            <a:pPr marL="177800" indent="-177800">
              <a:spcAft>
                <a:spcPts val="400"/>
              </a:spcAft>
              <a:buSzPct val="100000"/>
              <a:buChar char="•"/>
            </a:pPr>
            <a:r>
              <a:rPr lang="en-US" sz="1400" dirty="0">
                <a:solidFill>
                  <a:schemeClr val="tx1"/>
                </a:solidFill>
              </a:rPr>
              <a:t>Files, web, DOI, cloud</a:t>
            </a:r>
            <a:endParaRPr lang="en-US" sz="1400" dirty="0"/>
          </a:p>
        </p:txBody>
      </p:sp>
      <p:sp>
        <p:nvSpPr>
          <p:cNvPr id="34" name="card Project-Scoped"/>
          <p:cNvSpPr/>
          <p:nvPr/>
        </p:nvSpPr>
        <p:spPr>
          <a:xfrm>
            <a:off x="3390138" y="3291840"/>
            <a:ext cx="2567178" cy="283464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5" name="icon Project-Scoped"/>
          <p:cNvSpPr/>
          <p:nvPr/>
        </p:nvSpPr>
        <p:spPr>
          <a:xfrm>
            <a:off x="3573018" y="3474720"/>
            <a:ext cx="475488" cy="475488"/>
          </a:xfrm>
          <a:prstGeom prst="ellipse">
            <a:avLst/>
          </a:prstGeom>
          <a:solidFill>
            <a:schemeClr val="accent3"/>
          </a:solidFill>
          <a:ln w="12700">
            <a:solidFill>
              <a:schemeClr val="accent3"/>
            </a:solidFill>
            <a:prstDash val="solid"/>
          </a:ln>
        </p:spPr>
      </p:sp>
      <p:pic>
        <p:nvPicPr>
          <p:cNvPr id="36" name="Image 9" descr="icon">    </p:cNvPr>
          <p:cNvPicPr>
            <a:picLocks noChangeAspect="1"/>
          </p:cNvPicPr>
          <p:nvPr/>
        </p:nvPicPr>
        <p:blipFill>
          <a:blip r:embed="rId10"/>
          <a:stretch>
            <a:fillRect/>
          </a:stretch>
        </p:blipFill>
        <p:spPr>
          <a:xfrm>
            <a:off x="3691890" y="3593592"/>
            <a:ext cx="237744" cy="237744"/>
          </a:xfrm>
          <a:prstGeom prst="rect">
            <a:avLst/>
          </a:prstGeom>
        </p:spPr>
      </p:pic>
      <p:sp>
        <p:nvSpPr>
          <p:cNvPr id="37" name="Text 24"/>
          <p:cNvSpPr txBox="1"/>
          <p:nvPr/>
        </p:nvSpPr>
        <p:spPr>
          <a:xfrm>
            <a:off x="4194810" y="34472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Project-Scoped</a:t>
            </a:r>
            <a:endParaRPr lang="en-US" sz="1500" dirty="0"/>
          </a:p>
        </p:txBody>
      </p:sp>
      <p:sp>
        <p:nvSpPr>
          <p:cNvPr id="38" name="Text 25"/>
          <p:cNvSpPr txBox="1"/>
          <p:nvPr/>
        </p:nvSpPr>
        <p:spPr>
          <a:xfrm>
            <a:off x="3618738" y="4114800"/>
            <a:ext cx="2155698"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Data isolated per project</a:t>
            </a:r>
            <a:endParaRPr lang="en-US" sz="1400" dirty="0"/>
          </a:p>
          <a:p>
            <a:pPr marL="177800" indent="-177800">
              <a:spcAft>
                <a:spcPts val="400"/>
              </a:spcAft>
              <a:buSzPct val="100000"/>
              <a:buChar char="•"/>
            </a:pPr>
            <a:r>
              <a:rPr lang="en-US" sz="1400" dirty="0">
                <a:solidFill>
                  <a:schemeClr val="tx1"/>
                </a:solidFill>
              </a:rPr>
              <a:t>Ownership validated</a:t>
            </a:r>
            <a:endParaRPr lang="en-US" sz="1400" dirty="0"/>
          </a:p>
        </p:txBody>
      </p:sp>
      <p:sp>
        <p:nvSpPr>
          <p:cNvPr id="39" name="card Citation-Grounded"/>
          <p:cNvSpPr/>
          <p:nvPr/>
        </p:nvSpPr>
        <p:spPr>
          <a:xfrm>
            <a:off x="6231636" y="3291840"/>
            <a:ext cx="2567178" cy="283464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0" name="icon Citation-Grounded"/>
          <p:cNvSpPr/>
          <p:nvPr/>
        </p:nvSpPr>
        <p:spPr>
          <a:xfrm>
            <a:off x="6414516" y="3474720"/>
            <a:ext cx="475488" cy="475488"/>
          </a:xfrm>
          <a:prstGeom prst="ellipse">
            <a:avLst/>
          </a:prstGeom>
          <a:solidFill>
            <a:schemeClr val="accent2"/>
          </a:solidFill>
          <a:ln w="12700">
            <a:solidFill>
              <a:schemeClr val="accent2"/>
            </a:solidFill>
            <a:prstDash val="solid"/>
          </a:ln>
        </p:spPr>
      </p:sp>
      <p:pic>
        <p:nvPicPr>
          <p:cNvPr id="41" name="Image 10" descr="icon">    </p:cNvPr>
          <p:cNvPicPr>
            <a:picLocks noChangeAspect="1"/>
          </p:cNvPicPr>
          <p:nvPr/>
        </p:nvPicPr>
        <p:blipFill>
          <a:blip r:embed="rId11"/>
          <a:stretch>
            <a:fillRect/>
          </a:stretch>
        </p:blipFill>
        <p:spPr>
          <a:xfrm>
            <a:off x="6533388" y="3593592"/>
            <a:ext cx="237744" cy="237744"/>
          </a:xfrm>
          <a:prstGeom prst="rect">
            <a:avLst/>
          </a:prstGeom>
        </p:spPr>
      </p:pic>
      <p:sp>
        <p:nvSpPr>
          <p:cNvPr id="42" name="Text 28"/>
          <p:cNvSpPr txBox="1"/>
          <p:nvPr/>
        </p:nvSpPr>
        <p:spPr>
          <a:xfrm>
            <a:off x="7036308" y="34472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Citation-Grounded</a:t>
            </a:r>
            <a:endParaRPr lang="en-US" sz="1500" dirty="0"/>
          </a:p>
        </p:txBody>
      </p:sp>
      <p:sp>
        <p:nvSpPr>
          <p:cNvPr id="43" name="Text 29"/>
          <p:cNvSpPr txBox="1"/>
          <p:nvPr/>
        </p:nvSpPr>
        <p:spPr>
          <a:xfrm>
            <a:off x="6460236" y="4114800"/>
            <a:ext cx="2155698"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Every claim tied to evidence</a:t>
            </a:r>
            <a:endParaRPr lang="en-US" sz="1400" dirty="0"/>
          </a:p>
          <a:p>
            <a:pPr marL="177800" indent="-177800">
              <a:spcAft>
                <a:spcPts val="400"/>
              </a:spcAft>
              <a:buSzPct val="100000"/>
              <a:buChar char="•"/>
            </a:pPr>
            <a:r>
              <a:rPr lang="en-US" sz="1400" dirty="0">
                <a:solidFill>
                  <a:schemeClr val="tx1"/>
                </a:solidFill>
              </a:rPr>
              <a:t>Citations are validated</a:t>
            </a:r>
            <a:endParaRPr lang="en-US" sz="1400" dirty="0"/>
          </a:p>
        </p:txBody>
      </p:sp>
      <p:sp>
        <p:nvSpPr>
          <p:cNvPr id="44" name="card Evaluated"/>
          <p:cNvSpPr/>
          <p:nvPr/>
        </p:nvSpPr>
        <p:spPr>
          <a:xfrm>
            <a:off x="9073134" y="3291840"/>
            <a:ext cx="2567178" cy="283464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5" name="icon Evaluated"/>
          <p:cNvSpPr/>
          <p:nvPr/>
        </p:nvSpPr>
        <p:spPr>
          <a:xfrm>
            <a:off x="9256014" y="3474720"/>
            <a:ext cx="475488" cy="475488"/>
          </a:xfrm>
          <a:prstGeom prst="ellipse">
            <a:avLst/>
          </a:prstGeom>
          <a:solidFill>
            <a:schemeClr val="accent5"/>
          </a:solidFill>
          <a:ln w="12700">
            <a:solidFill>
              <a:schemeClr val="accent5"/>
            </a:solidFill>
            <a:prstDash val="solid"/>
          </a:ln>
        </p:spPr>
      </p:sp>
      <p:pic>
        <p:nvPicPr>
          <p:cNvPr id="46" name="Image 11" descr="icon">    </p:cNvPr>
          <p:cNvPicPr>
            <a:picLocks noChangeAspect="1"/>
          </p:cNvPicPr>
          <p:nvPr/>
        </p:nvPicPr>
        <p:blipFill>
          <a:blip r:embed="rId12"/>
          <a:stretch>
            <a:fillRect/>
          </a:stretch>
        </p:blipFill>
        <p:spPr>
          <a:xfrm>
            <a:off x="9374886" y="3593592"/>
            <a:ext cx="237744" cy="237744"/>
          </a:xfrm>
          <a:prstGeom prst="rect">
            <a:avLst/>
          </a:prstGeom>
        </p:spPr>
      </p:pic>
      <p:sp>
        <p:nvSpPr>
          <p:cNvPr id="47" name="Text 32"/>
          <p:cNvSpPr txBox="1"/>
          <p:nvPr/>
        </p:nvSpPr>
        <p:spPr>
          <a:xfrm>
            <a:off x="9877806" y="34472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Evaluated</a:t>
            </a:r>
            <a:endParaRPr lang="en-US" sz="1500" dirty="0"/>
          </a:p>
        </p:txBody>
      </p:sp>
      <p:sp>
        <p:nvSpPr>
          <p:cNvPr id="48" name="Text 33"/>
          <p:cNvSpPr txBox="1"/>
          <p:nvPr/>
        </p:nvSpPr>
        <p:spPr>
          <a:xfrm>
            <a:off x="9301734" y="4114800"/>
            <a:ext cx="2155698"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Ragas + custom metrics</a:t>
            </a:r>
            <a:endParaRPr lang="en-US" sz="1400" dirty="0"/>
          </a:p>
          <a:p>
            <a:pPr marL="177800" indent="-177800">
              <a:spcAft>
                <a:spcPts val="400"/>
              </a:spcAft>
              <a:buSzPct val="100000"/>
              <a:buChar char="•"/>
            </a:pPr>
            <a:r>
              <a:rPr lang="en-US" sz="1400" dirty="0">
                <a:solidFill>
                  <a:schemeClr val="tx1"/>
                </a:solidFill>
              </a:rPr>
              <a:t>Offline, dataset-driven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Architecture at a Glance</a:t>
            </a:r>
            <a:endParaRPr lang="en-US" sz="3400" dirty="0"/>
          </a:p>
        </p:txBody>
      </p:sp>
      <p:sp>
        <p:nvSpPr>
          <p:cNvPr id="4" name="Shape 1"/>
          <p:cNvSpPr/>
          <p:nvPr/>
        </p:nvSpPr>
        <p:spPr>
          <a:xfrm>
            <a:off x="548640" y="1508760"/>
            <a:ext cx="7406640" cy="676656"/>
          </a:xfrm>
          <a:prstGeom prst="roundRect">
            <a:avLst>
              <a:gd name="adj" fmla="val 108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layer Frontend"/>
          <p:cNvSpPr/>
          <p:nvPr/>
        </p:nvSpPr>
        <p:spPr>
          <a:xfrm>
            <a:off x="685800" y="1600200"/>
            <a:ext cx="493776" cy="493776"/>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09244" y="1723644"/>
            <a:ext cx="246888" cy="246888"/>
          </a:xfrm>
          <a:prstGeom prst="rect">
            <a:avLst/>
          </a:prstGeom>
        </p:spPr>
      </p:pic>
      <p:sp>
        <p:nvSpPr>
          <p:cNvPr id="7" name="Text 3"/>
          <p:cNvSpPr txBox="1"/>
          <p:nvPr/>
        </p:nvSpPr>
        <p:spPr>
          <a:xfrm>
            <a:off x="1325880" y="1563624"/>
            <a:ext cx="2651760" cy="566928"/>
          </a:xfrm>
          <a:prstGeom prst="rect">
            <a:avLst/>
          </a:prstGeom>
          <a:noFill/>
          <a:ln/>
        </p:spPr>
        <p:txBody>
          <a:bodyPr wrap="square" lIns="0" tIns="0" rIns="0" bIns="0" rtlCol="0" anchor="ctr"/>
          <a:lstStyle/>
          <a:p>
            <a:pPr indent="0" marL="0">
              <a:buNone/>
            </a:pPr>
            <a:r>
              <a:rPr lang="en-US" sz="1600" b="1" dirty="0">
                <a:solidFill>
                  <a:schemeClr val="tx1"/>
                </a:solidFill>
              </a:rPr>
              <a:t>Frontend</a:t>
            </a:r>
            <a:endParaRPr lang="en-US" sz="1600" dirty="0"/>
          </a:p>
        </p:txBody>
      </p:sp>
      <p:sp>
        <p:nvSpPr>
          <p:cNvPr id="8" name="Text 4"/>
          <p:cNvSpPr txBox="1"/>
          <p:nvPr/>
        </p:nvSpPr>
        <p:spPr>
          <a:xfrm>
            <a:off x="3886200" y="1563624"/>
            <a:ext cx="3977640" cy="566928"/>
          </a:xfrm>
          <a:prstGeom prst="rect">
            <a:avLst/>
          </a:prstGeom>
          <a:noFill/>
          <a:ln/>
        </p:spPr>
        <p:txBody>
          <a:bodyPr wrap="square" lIns="0" tIns="0" rIns="0" bIns="0" rtlCol="0" anchor="ctr"/>
          <a:lstStyle/>
          <a:p>
            <a:pPr indent="0" marL="0">
              <a:buNone/>
            </a:pPr>
            <a:r>
              <a:rPr lang="en-US" sz="1300" dirty="0">
                <a:solidFill>
                  <a:schemeClr val="tx2"/>
                </a:solidFill>
              </a:rPr>
              <a:t>React + TypeScript + Vite</a:t>
            </a:r>
            <a:endParaRPr lang="en-US" sz="1300" dirty="0"/>
          </a:p>
        </p:txBody>
      </p:sp>
      <p:sp>
        <p:nvSpPr>
          <p:cNvPr id="9" name="Shape 5"/>
          <p:cNvSpPr/>
          <p:nvPr/>
        </p:nvSpPr>
        <p:spPr>
          <a:xfrm>
            <a:off x="548640" y="2295144"/>
            <a:ext cx="7406640" cy="676656"/>
          </a:xfrm>
          <a:prstGeom prst="roundRect">
            <a:avLst>
              <a:gd name="adj" fmla="val 108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layer Backend API"/>
          <p:cNvSpPr/>
          <p:nvPr/>
        </p:nvSpPr>
        <p:spPr>
          <a:xfrm>
            <a:off x="685800" y="2386584"/>
            <a:ext cx="493776" cy="493776"/>
          </a:xfrm>
          <a:prstGeom prst="ellipse">
            <a:avLst/>
          </a:prstGeom>
          <a:solidFill>
            <a:schemeClr val="accent1"/>
          </a:solidFill>
          <a:ln w="12700">
            <a:solidFill>
              <a:schemeClr val="accent1"/>
            </a:solidFill>
            <a:prstDash val="solid"/>
          </a:ln>
        </p:spPr>
      </p:sp>
      <p:pic>
        <p:nvPicPr>
          <p:cNvPr id="11" name="Image 1" descr="icon">    </p:cNvPr>
          <p:cNvPicPr>
            <a:picLocks noChangeAspect="1"/>
          </p:cNvPicPr>
          <p:nvPr/>
        </p:nvPicPr>
        <p:blipFill>
          <a:blip r:embed="rId2"/>
          <a:stretch>
            <a:fillRect/>
          </a:stretch>
        </p:blipFill>
        <p:spPr>
          <a:xfrm>
            <a:off x="809244" y="2510028"/>
            <a:ext cx="246888" cy="246888"/>
          </a:xfrm>
          <a:prstGeom prst="rect">
            <a:avLst/>
          </a:prstGeom>
        </p:spPr>
      </p:pic>
      <p:sp>
        <p:nvSpPr>
          <p:cNvPr id="12" name="Text 7"/>
          <p:cNvSpPr txBox="1"/>
          <p:nvPr/>
        </p:nvSpPr>
        <p:spPr>
          <a:xfrm>
            <a:off x="1325880" y="2350008"/>
            <a:ext cx="2651760" cy="566928"/>
          </a:xfrm>
          <a:prstGeom prst="rect">
            <a:avLst/>
          </a:prstGeom>
          <a:noFill/>
          <a:ln/>
        </p:spPr>
        <p:txBody>
          <a:bodyPr wrap="square" lIns="0" tIns="0" rIns="0" bIns="0" rtlCol="0" anchor="ctr"/>
          <a:lstStyle/>
          <a:p>
            <a:pPr indent="0" marL="0">
              <a:buNone/>
            </a:pPr>
            <a:r>
              <a:rPr lang="en-US" sz="1600" b="1" dirty="0">
                <a:solidFill>
                  <a:schemeClr val="tx1"/>
                </a:solidFill>
              </a:rPr>
              <a:t>Backend API</a:t>
            </a:r>
            <a:endParaRPr lang="en-US" sz="1600" dirty="0"/>
          </a:p>
        </p:txBody>
      </p:sp>
      <p:sp>
        <p:nvSpPr>
          <p:cNvPr id="13" name="Text 8"/>
          <p:cNvSpPr txBox="1"/>
          <p:nvPr/>
        </p:nvSpPr>
        <p:spPr>
          <a:xfrm>
            <a:off x="3886200" y="2350008"/>
            <a:ext cx="3977640" cy="566928"/>
          </a:xfrm>
          <a:prstGeom prst="rect">
            <a:avLst/>
          </a:prstGeom>
          <a:noFill/>
          <a:ln/>
        </p:spPr>
        <p:txBody>
          <a:bodyPr wrap="square" lIns="0" tIns="0" rIns="0" bIns="0" rtlCol="0" anchor="ctr"/>
          <a:lstStyle/>
          <a:p>
            <a:pPr indent="0" marL="0">
              <a:buNone/>
            </a:pPr>
            <a:r>
              <a:rPr lang="en-US" sz="1300" dirty="0">
                <a:solidFill>
                  <a:schemeClr val="tx2"/>
                </a:solidFill>
              </a:rPr>
              <a:t>FastAPI + Pydantic · API → Service → Domain</a:t>
            </a:r>
            <a:endParaRPr lang="en-US" sz="1300" dirty="0"/>
          </a:p>
        </p:txBody>
      </p:sp>
      <p:sp>
        <p:nvSpPr>
          <p:cNvPr id="14" name="Shape 9"/>
          <p:cNvSpPr/>
          <p:nvPr/>
        </p:nvSpPr>
        <p:spPr>
          <a:xfrm>
            <a:off x="548640" y="3081528"/>
            <a:ext cx="7406640" cy="676656"/>
          </a:xfrm>
          <a:prstGeom prst="roundRect">
            <a:avLst>
              <a:gd name="adj" fmla="val 108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layer Ingestion &amp; Parsing"/>
          <p:cNvSpPr/>
          <p:nvPr/>
        </p:nvSpPr>
        <p:spPr>
          <a:xfrm>
            <a:off x="685800" y="3172968"/>
            <a:ext cx="493776" cy="493776"/>
          </a:xfrm>
          <a:prstGeom prst="ellipse">
            <a:avLst/>
          </a:prstGeom>
          <a:solidFill>
            <a:schemeClr val="accent5"/>
          </a:solidFill>
          <a:ln w="12700">
            <a:solidFill>
              <a:schemeClr val="accent5"/>
            </a:solidFill>
            <a:prstDash val="solid"/>
          </a:ln>
        </p:spPr>
      </p:sp>
      <p:pic>
        <p:nvPicPr>
          <p:cNvPr id="16" name="Image 2" descr="icon">    </p:cNvPr>
          <p:cNvPicPr>
            <a:picLocks noChangeAspect="1"/>
          </p:cNvPicPr>
          <p:nvPr/>
        </p:nvPicPr>
        <p:blipFill>
          <a:blip r:embed="rId3"/>
          <a:stretch>
            <a:fillRect/>
          </a:stretch>
        </p:blipFill>
        <p:spPr>
          <a:xfrm>
            <a:off x="809244" y="3296412"/>
            <a:ext cx="246888" cy="246888"/>
          </a:xfrm>
          <a:prstGeom prst="rect">
            <a:avLst/>
          </a:prstGeom>
        </p:spPr>
      </p:pic>
      <p:sp>
        <p:nvSpPr>
          <p:cNvPr id="17" name="Text 11"/>
          <p:cNvSpPr txBox="1"/>
          <p:nvPr/>
        </p:nvSpPr>
        <p:spPr>
          <a:xfrm>
            <a:off x="1325880" y="3136392"/>
            <a:ext cx="2651760" cy="566928"/>
          </a:xfrm>
          <a:prstGeom prst="rect">
            <a:avLst/>
          </a:prstGeom>
          <a:noFill/>
          <a:ln/>
        </p:spPr>
        <p:txBody>
          <a:bodyPr wrap="square" lIns="0" tIns="0" rIns="0" bIns="0" rtlCol="0" anchor="ctr"/>
          <a:lstStyle/>
          <a:p>
            <a:pPr indent="0" marL="0">
              <a:buNone/>
            </a:pPr>
            <a:r>
              <a:rPr lang="en-US" sz="1600" b="1" dirty="0">
                <a:solidFill>
                  <a:schemeClr val="tx1"/>
                </a:solidFill>
              </a:rPr>
              <a:t>Ingestion &amp; Parsing</a:t>
            </a:r>
            <a:endParaRPr lang="en-US" sz="1600" dirty="0"/>
          </a:p>
        </p:txBody>
      </p:sp>
      <p:sp>
        <p:nvSpPr>
          <p:cNvPr id="18" name="Text 12"/>
          <p:cNvSpPr txBox="1"/>
          <p:nvPr/>
        </p:nvSpPr>
        <p:spPr>
          <a:xfrm>
            <a:off x="3886200" y="3136392"/>
            <a:ext cx="3977640" cy="566928"/>
          </a:xfrm>
          <a:prstGeom prst="rect">
            <a:avLst/>
          </a:prstGeom>
          <a:noFill/>
          <a:ln/>
        </p:spPr>
        <p:txBody>
          <a:bodyPr wrap="square" lIns="0" tIns="0" rIns="0" bIns="0" rtlCol="0" anchor="ctr"/>
          <a:lstStyle/>
          <a:p>
            <a:pPr indent="0" marL="0">
              <a:buNone/>
            </a:pPr>
            <a:r>
              <a:rPr lang="en-US" sz="1300" dirty="0">
                <a:solidFill>
                  <a:schemeClr val="tx2"/>
                </a:solidFill>
              </a:rPr>
              <a:t>Handlers · Docling · LlamaIndex · chunking</a:t>
            </a:r>
            <a:endParaRPr lang="en-US" sz="1300" dirty="0"/>
          </a:p>
        </p:txBody>
      </p:sp>
      <p:sp>
        <p:nvSpPr>
          <p:cNvPr id="19" name="Shape 13"/>
          <p:cNvSpPr/>
          <p:nvPr/>
        </p:nvSpPr>
        <p:spPr>
          <a:xfrm>
            <a:off x="548640" y="3867912"/>
            <a:ext cx="7406640" cy="676656"/>
          </a:xfrm>
          <a:prstGeom prst="roundRect">
            <a:avLst>
              <a:gd name="adj" fmla="val 108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layer Storage"/>
          <p:cNvSpPr/>
          <p:nvPr/>
        </p:nvSpPr>
        <p:spPr>
          <a:xfrm>
            <a:off x="685800" y="3959352"/>
            <a:ext cx="493776" cy="493776"/>
          </a:xfrm>
          <a:prstGeom prst="ellipse">
            <a:avLst/>
          </a:prstGeom>
          <a:solidFill>
            <a:schemeClr val="accent2"/>
          </a:solidFill>
          <a:ln w="12700">
            <a:solidFill>
              <a:schemeClr val="accent2"/>
            </a:solidFill>
            <a:prstDash val="solid"/>
          </a:ln>
        </p:spPr>
      </p:sp>
      <p:pic>
        <p:nvPicPr>
          <p:cNvPr id="21" name="Image 3" descr="icon">    </p:cNvPr>
          <p:cNvPicPr>
            <a:picLocks noChangeAspect="1"/>
          </p:cNvPicPr>
          <p:nvPr/>
        </p:nvPicPr>
        <p:blipFill>
          <a:blip r:embed="rId4"/>
          <a:stretch>
            <a:fillRect/>
          </a:stretch>
        </p:blipFill>
        <p:spPr>
          <a:xfrm>
            <a:off x="809244" y="4082796"/>
            <a:ext cx="246888" cy="246888"/>
          </a:xfrm>
          <a:prstGeom prst="rect">
            <a:avLst/>
          </a:prstGeom>
        </p:spPr>
      </p:pic>
      <p:sp>
        <p:nvSpPr>
          <p:cNvPr id="22" name="Text 15"/>
          <p:cNvSpPr txBox="1"/>
          <p:nvPr/>
        </p:nvSpPr>
        <p:spPr>
          <a:xfrm>
            <a:off x="1325880" y="3922776"/>
            <a:ext cx="2651760" cy="566928"/>
          </a:xfrm>
          <a:prstGeom prst="rect">
            <a:avLst/>
          </a:prstGeom>
          <a:noFill/>
          <a:ln/>
        </p:spPr>
        <p:txBody>
          <a:bodyPr wrap="square" lIns="0" tIns="0" rIns="0" bIns="0" rtlCol="0" anchor="ctr"/>
          <a:lstStyle/>
          <a:p>
            <a:pPr indent="0" marL="0">
              <a:buNone/>
            </a:pPr>
            <a:r>
              <a:rPr lang="en-US" sz="1600" b="1" dirty="0">
                <a:solidFill>
                  <a:schemeClr val="tx1"/>
                </a:solidFill>
              </a:rPr>
              <a:t>Storage</a:t>
            </a:r>
            <a:endParaRPr lang="en-US" sz="1600" dirty="0"/>
          </a:p>
        </p:txBody>
      </p:sp>
      <p:sp>
        <p:nvSpPr>
          <p:cNvPr id="23" name="Text 16"/>
          <p:cNvSpPr txBox="1"/>
          <p:nvPr/>
        </p:nvSpPr>
        <p:spPr>
          <a:xfrm>
            <a:off x="3886200" y="3922776"/>
            <a:ext cx="3977640" cy="566928"/>
          </a:xfrm>
          <a:prstGeom prst="rect">
            <a:avLst/>
          </a:prstGeom>
          <a:noFill/>
          <a:ln/>
        </p:spPr>
        <p:txBody>
          <a:bodyPr wrap="square" lIns="0" tIns="0" rIns="0" bIns="0" rtlCol="0" anchor="ctr"/>
          <a:lstStyle/>
          <a:p>
            <a:pPr indent="0" marL="0">
              <a:buNone/>
            </a:pPr>
            <a:r>
              <a:rPr lang="en-US" sz="1300" dirty="0">
                <a:solidFill>
                  <a:schemeClr val="tx2"/>
                </a:solidFill>
              </a:rPr>
              <a:t>PostgreSQL 16 + pgvector + full-text search</a:t>
            </a:r>
            <a:endParaRPr lang="en-US" sz="1300" dirty="0"/>
          </a:p>
        </p:txBody>
      </p:sp>
      <p:sp>
        <p:nvSpPr>
          <p:cNvPr id="24" name="Shape 17"/>
          <p:cNvSpPr/>
          <p:nvPr/>
        </p:nvSpPr>
        <p:spPr>
          <a:xfrm>
            <a:off x="548640" y="4654296"/>
            <a:ext cx="7406640" cy="676656"/>
          </a:xfrm>
          <a:prstGeom prst="roundRect">
            <a:avLst>
              <a:gd name="adj" fmla="val 108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layer Retrieval &amp; Ranking"/>
          <p:cNvSpPr/>
          <p:nvPr/>
        </p:nvSpPr>
        <p:spPr>
          <a:xfrm>
            <a:off x="685800" y="4745736"/>
            <a:ext cx="493776" cy="493776"/>
          </a:xfrm>
          <a:prstGeom prst="ellipse">
            <a:avLst/>
          </a:prstGeom>
          <a:solidFill>
            <a:schemeClr val="accent3"/>
          </a:solidFill>
          <a:ln w="12700">
            <a:solidFill>
              <a:schemeClr val="accent3"/>
            </a:solidFill>
            <a:prstDash val="solid"/>
          </a:ln>
        </p:spPr>
      </p:sp>
      <p:pic>
        <p:nvPicPr>
          <p:cNvPr id="26" name="Image 4" descr="icon">    </p:cNvPr>
          <p:cNvPicPr>
            <a:picLocks noChangeAspect="1"/>
          </p:cNvPicPr>
          <p:nvPr/>
        </p:nvPicPr>
        <p:blipFill>
          <a:blip r:embed="rId5"/>
          <a:stretch>
            <a:fillRect/>
          </a:stretch>
        </p:blipFill>
        <p:spPr>
          <a:xfrm>
            <a:off x="809244" y="4869180"/>
            <a:ext cx="246888" cy="246888"/>
          </a:xfrm>
          <a:prstGeom prst="rect">
            <a:avLst/>
          </a:prstGeom>
        </p:spPr>
      </p:pic>
      <p:sp>
        <p:nvSpPr>
          <p:cNvPr id="27" name="Text 19"/>
          <p:cNvSpPr txBox="1"/>
          <p:nvPr/>
        </p:nvSpPr>
        <p:spPr>
          <a:xfrm>
            <a:off x="1325880" y="4709160"/>
            <a:ext cx="2651760" cy="566928"/>
          </a:xfrm>
          <a:prstGeom prst="rect">
            <a:avLst/>
          </a:prstGeom>
          <a:noFill/>
          <a:ln/>
        </p:spPr>
        <p:txBody>
          <a:bodyPr wrap="square" lIns="0" tIns="0" rIns="0" bIns="0" rtlCol="0" anchor="ctr"/>
          <a:lstStyle/>
          <a:p>
            <a:pPr indent="0" marL="0">
              <a:buNone/>
            </a:pPr>
            <a:r>
              <a:rPr lang="en-US" sz="1600" b="1" dirty="0">
                <a:solidFill>
                  <a:schemeClr val="tx1"/>
                </a:solidFill>
              </a:rPr>
              <a:t>Retrieval &amp; Ranking</a:t>
            </a:r>
            <a:endParaRPr lang="en-US" sz="1600" dirty="0"/>
          </a:p>
        </p:txBody>
      </p:sp>
      <p:sp>
        <p:nvSpPr>
          <p:cNvPr id="28" name="Text 20"/>
          <p:cNvSpPr txBox="1"/>
          <p:nvPr/>
        </p:nvSpPr>
        <p:spPr>
          <a:xfrm>
            <a:off x="3886200" y="4709160"/>
            <a:ext cx="3977640" cy="566928"/>
          </a:xfrm>
          <a:prstGeom prst="rect">
            <a:avLst/>
          </a:prstGeom>
          <a:noFill/>
          <a:ln/>
        </p:spPr>
        <p:txBody>
          <a:bodyPr wrap="square" lIns="0" tIns="0" rIns="0" bIns="0" rtlCol="0" anchor="ctr"/>
          <a:lstStyle/>
          <a:p>
            <a:pPr indent="0" marL="0">
              <a:buNone/>
            </a:pPr>
            <a:r>
              <a:rPr lang="en-US" sz="1300" dirty="0">
                <a:solidFill>
                  <a:schemeClr val="tx2"/>
                </a:solidFill>
              </a:rPr>
              <a:t>Filters → hybrid search → rerank → evidence</a:t>
            </a:r>
            <a:endParaRPr lang="en-US" sz="1300" dirty="0"/>
          </a:p>
        </p:txBody>
      </p:sp>
      <p:sp>
        <p:nvSpPr>
          <p:cNvPr id="29" name="Shape 21"/>
          <p:cNvSpPr/>
          <p:nvPr/>
        </p:nvSpPr>
        <p:spPr>
          <a:xfrm>
            <a:off x="548640" y="5440680"/>
            <a:ext cx="7406640" cy="676656"/>
          </a:xfrm>
          <a:prstGeom prst="roundRect">
            <a:avLst>
              <a:gd name="adj" fmla="val 108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layer Research Engine"/>
          <p:cNvSpPr/>
          <p:nvPr/>
        </p:nvSpPr>
        <p:spPr>
          <a:xfrm>
            <a:off x="685800" y="5532120"/>
            <a:ext cx="493776" cy="493776"/>
          </a:xfrm>
          <a:prstGeom prst="ellipse">
            <a:avLst/>
          </a:prstGeom>
          <a:solidFill>
            <a:schemeClr val="accent6"/>
          </a:solidFill>
          <a:ln w="12700">
            <a:solidFill>
              <a:schemeClr val="accent6"/>
            </a:solidFill>
            <a:prstDash val="solid"/>
          </a:ln>
        </p:spPr>
      </p:sp>
      <p:pic>
        <p:nvPicPr>
          <p:cNvPr id="31" name="Image 5" descr="icon">    </p:cNvPr>
          <p:cNvPicPr>
            <a:picLocks noChangeAspect="1"/>
          </p:cNvPicPr>
          <p:nvPr/>
        </p:nvPicPr>
        <p:blipFill>
          <a:blip r:embed="rId6"/>
          <a:stretch>
            <a:fillRect/>
          </a:stretch>
        </p:blipFill>
        <p:spPr>
          <a:xfrm>
            <a:off x="809244" y="5655564"/>
            <a:ext cx="246888" cy="246888"/>
          </a:xfrm>
          <a:prstGeom prst="rect">
            <a:avLst/>
          </a:prstGeom>
        </p:spPr>
      </p:pic>
      <p:sp>
        <p:nvSpPr>
          <p:cNvPr id="32" name="Text 23"/>
          <p:cNvSpPr txBox="1"/>
          <p:nvPr/>
        </p:nvSpPr>
        <p:spPr>
          <a:xfrm>
            <a:off x="1325880" y="5495544"/>
            <a:ext cx="2651760" cy="566928"/>
          </a:xfrm>
          <a:prstGeom prst="rect">
            <a:avLst/>
          </a:prstGeom>
          <a:noFill/>
          <a:ln/>
        </p:spPr>
        <p:txBody>
          <a:bodyPr wrap="square" lIns="0" tIns="0" rIns="0" bIns="0" rtlCol="0" anchor="ctr"/>
          <a:lstStyle/>
          <a:p>
            <a:pPr indent="0" marL="0">
              <a:buNone/>
            </a:pPr>
            <a:r>
              <a:rPr lang="en-US" sz="1600" b="1" dirty="0">
                <a:solidFill>
                  <a:schemeClr val="tx1"/>
                </a:solidFill>
              </a:rPr>
              <a:t>Research Engine</a:t>
            </a:r>
            <a:endParaRPr lang="en-US" sz="1600" dirty="0"/>
          </a:p>
        </p:txBody>
      </p:sp>
      <p:sp>
        <p:nvSpPr>
          <p:cNvPr id="33" name="Text 24"/>
          <p:cNvSpPr txBox="1"/>
          <p:nvPr/>
        </p:nvSpPr>
        <p:spPr>
          <a:xfrm>
            <a:off x="3886200" y="5495544"/>
            <a:ext cx="3977640" cy="566928"/>
          </a:xfrm>
          <a:prstGeom prst="rect">
            <a:avLst/>
          </a:prstGeom>
          <a:noFill/>
          <a:ln/>
        </p:spPr>
        <p:txBody>
          <a:bodyPr wrap="square" lIns="0" tIns="0" rIns="0" bIns="0" rtlCol="0" anchor="ctr"/>
          <a:lstStyle/>
          <a:p>
            <a:pPr indent="0" marL="0">
              <a:buNone/>
            </a:pPr>
            <a:r>
              <a:rPr lang="en-US" sz="1300" dirty="0">
                <a:solidFill>
                  <a:schemeClr val="tx2"/>
                </a:solidFill>
              </a:rPr>
              <a:t>LangGraph workflow + LLM (Qwen via Ollama)</a:t>
            </a:r>
            <a:endParaRPr lang="en-US" sz="1300" dirty="0"/>
          </a:p>
        </p:txBody>
      </p:sp>
      <p:sp>
        <p:nvSpPr>
          <p:cNvPr id="34" name="Text 25"/>
          <p:cNvSpPr txBox="1"/>
          <p:nvPr/>
        </p:nvSpPr>
        <p:spPr>
          <a:xfrm>
            <a:off x="8412480" y="1463040"/>
            <a:ext cx="3200400" cy="274320"/>
          </a:xfrm>
          <a:prstGeom prst="rect">
            <a:avLst/>
          </a:prstGeom>
          <a:noFill/>
          <a:ln/>
        </p:spPr>
        <p:txBody>
          <a:bodyPr wrap="square" lIns="0" tIns="0" rIns="0" bIns="0" rtlCol="0" anchor="t"/>
          <a:lstStyle/>
          <a:p>
            <a:pPr indent="0" marL="0">
              <a:buNone/>
            </a:pPr>
            <a:r>
              <a:rPr lang="en-US" sz="1400" b="1" dirty="0">
                <a:solidFill>
                  <a:schemeClr val="tx2"/>
                </a:solidFill>
              </a:rPr>
              <a:t>Cross-cutting</a:t>
            </a:r>
            <a:endParaRPr lang="en-US" sz="1400" dirty="0"/>
          </a:p>
        </p:txBody>
      </p:sp>
      <p:sp>
        <p:nvSpPr>
          <p:cNvPr id="35" name="Shape 26"/>
          <p:cNvSpPr/>
          <p:nvPr/>
        </p:nvSpPr>
        <p:spPr>
          <a:xfrm>
            <a:off x="8412480" y="1828800"/>
            <a:ext cx="3227832"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6" name="cross External Integrations"/>
          <p:cNvSpPr/>
          <p:nvPr/>
        </p:nvSpPr>
        <p:spPr>
          <a:xfrm>
            <a:off x="8595360" y="2011680"/>
            <a:ext cx="475488" cy="475488"/>
          </a:xfrm>
          <a:prstGeom prst="ellipse">
            <a:avLst/>
          </a:prstGeom>
          <a:solidFill>
            <a:schemeClr val="accent3"/>
          </a:solidFill>
          <a:ln w="12700">
            <a:solidFill>
              <a:schemeClr val="accent3"/>
            </a:solidFill>
            <a:prstDash val="solid"/>
          </a:ln>
        </p:spPr>
      </p:sp>
      <p:pic>
        <p:nvPicPr>
          <p:cNvPr id="37" name="Image 6" descr="icon">    </p:cNvPr>
          <p:cNvPicPr>
            <a:picLocks noChangeAspect="1"/>
          </p:cNvPicPr>
          <p:nvPr/>
        </p:nvPicPr>
        <p:blipFill>
          <a:blip r:embed="rId7"/>
          <a:stretch>
            <a:fillRect/>
          </a:stretch>
        </p:blipFill>
        <p:spPr>
          <a:xfrm>
            <a:off x="8714232" y="2130552"/>
            <a:ext cx="237744" cy="237744"/>
          </a:xfrm>
          <a:prstGeom prst="rect">
            <a:avLst/>
          </a:prstGeom>
        </p:spPr>
      </p:pic>
      <p:sp>
        <p:nvSpPr>
          <p:cNvPr id="38" name="Text 28"/>
          <p:cNvSpPr txBox="1"/>
          <p:nvPr/>
        </p:nvSpPr>
        <p:spPr>
          <a:xfrm>
            <a:off x="9235440" y="2011680"/>
            <a:ext cx="2286000" cy="475488"/>
          </a:xfrm>
          <a:prstGeom prst="rect">
            <a:avLst/>
          </a:prstGeom>
          <a:noFill/>
          <a:ln/>
        </p:spPr>
        <p:txBody>
          <a:bodyPr wrap="square" lIns="0" tIns="0" rIns="0" bIns="0" rtlCol="0" anchor="ctr"/>
          <a:lstStyle/>
          <a:p>
            <a:pPr indent="0" marL="0">
              <a:buNone/>
            </a:pPr>
            <a:r>
              <a:rPr lang="en-US" sz="1500" b="1" dirty="0">
                <a:solidFill>
                  <a:schemeClr val="tx1"/>
                </a:solidFill>
              </a:rPr>
              <a:t>External Integrations</a:t>
            </a:r>
            <a:endParaRPr lang="en-US" sz="1500" dirty="0"/>
          </a:p>
        </p:txBody>
      </p:sp>
      <p:sp>
        <p:nvSpPr>
          <p:cNvPr id="39" name="Text 29"/>
          <p:cNvSpPr txBox="1"/>
          <p:nvPr/>
        </p:nvSpPr>
        <p:spPr>
          <a:xfrm>
            <a:off x="8595360" y="2633472"/>
            <a:ext cx="2926080" cy="457200"/>
          </a:xfrm>
          <a:prstGeom prst="rect">
            <a:avLst/>
          </a:prstGeom>
          <a:noFill/>
          <a:ln/>
        </p:spPr>
        <p:txBody>
          <a:bodyPr wrap="square" lIns="0" tIns="0" rIns="0" bIns="0" rtlCol="0" anchor="t"/>
          <a:lstStyle/>
          <a:p>
            <a:pPr indent="0" marL="0">
              <a:buNone/>
            </a:pPr>
            <a:r>
              <a:rPr lang="en-US" sz="1300" dirty="0">
                <a:solidFill>
                  <a:schemeClr val="tx2"/>
                </a:solidFill>
              </a:rPr>
              <a:t>Crossref, OpenAlex, search APIs</a:t>
            </a:r>
            <a:endParaRPr lang="en-US" sz="1300" dirty="0"/>
          </a:p>
        </p:txBody>
      </p:sp>
      <p:sp>
        <p:nvSpPr>
          <p:cNvPr id="40" name="Shape 30"/>
          <p:cNvSpPr/>
          <p:nvPr/>
        </p:nvSpPr>
        <p:spPr>
          <a:xfrm>
            <a:off x="8412480" y="3383280"/>
            <a:ext cx="3227832"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1" name="cross Security &amp; Trust"/>
          <p:cNvSpPr/>
          <p:nvPr/>
        </p:nvSpPr>
        <p:spPr>
          <a:xfrm>
            <a:off x="8595360" y="3566160"/>
            <a:ext cx="475488" cy="475488"/>
          </a:xfrm>
          <a:prstGeom prst="ellipse">
            <a:avLst/>
          </a:prstGeom>
          <a:solidFill>
            <a:schemeClr val="accent4"/>
          </a:solidFill>
          <a:ln w="12700">
            <a:solidFill>
              <a:schemeClr val="accent4"/>
            </a:solidFill>
            <a:prstDash val="solid"/>
          </a:ln>
        </p:spPr>
      </p:sp>
      <p:pic>
        <p:nvPicPr>
          <p:cNvPr id="42" name="Image 7" descr="icon">    </p:cNvPr>
          <p:cNvPicPr>
            <a:picLocks noChangeAspect="1"/>
          </p:cNvPicPr>
          <p:nvPr/>
        </p:nvPicPr>
        <p:blipFill>
          <a:blip r:embed="rId8"/>
          <a:stretch>
            <a:fillRect/>
          </a:stretch>
        </p:blipFill>
        <p:spPr>
          <a:xfrm>
            <a:off x="8714232" y="3685032"/>
            <a:ext cx="237744" cy="237744"/>
          </a:xfrm>
          <a:prstGeom prst="rect">
            <a:avLst/>
          </a:prstGeom>
        </p:spPr>
      </p:pic>
      <p:sp>
        <p:nvSpPr>
          <p:cNvPr id="43" name="Text 32"/>
          <p:cNvSpPr txBox="1"/>
          <p:nvPr/>
        </p:nvSpPr>
        <p:spPr>
          <a:xfrm>
            <a:off x="9235440" y="3566160"/>
            <a:ext cx="2286000" cy="475488"/>
          </a:xfrm>
          <a:prstGeom prst="rect">
            <a:avLst/>
          </a:prstGeom>
          <a:noFill/>
          <a:ln/>
        </p:spPr>
        <p:txBody>
          <a:bodyPr wrap="square" lIns="0" tIns="0" rIns="0" bIns="0" rtlCol="0" anchor="ctr"/>
          <a:lstStyle/>
          <a:p>
            <a:pPr indent="0" marL="0">
              <a:buNone/>
            </a:pPr>
            <a:r>
              <a:rPr lang="en-US" sz="1500" b="1" dirty="0">
                <a:solidFill>
                  <a:schemeClr val="tx1"/>
                </a:solidFill>
              </a:rPr>
              <a:t>Security &amp; Trust</a:t>
            </a:r>
            <a:endParaRPr lang="en-US" sz="1500" dirty="0"/>
          </a:p>
        </p:txBody>
      </p:sp>
      <p:sp>
        <p:nvSpPr>
          <p:cNvPr id="44" name="Text 33"/>
          <p:cNvSpPr txBox="1"/>
          <p:nvPr/>
        </p:nvSpPr>
        <p:spPr>
          <a:xfrm>
            <a:off x="8595360" y="4187952"/>
            <a:ext cx="2926080" cy="457200"/>
          </a:xfrm>
          <a:prstGeom prst="rect">
            <a:avLst/>
          </a:prstGeom>
          <a:noFill/>
          <a:ln/>
        </p:spPr>
        <p:txBody>
          <a:bodyPr wrap="square" lIns="0" tIns="0" rIns="0" bIns="0" rtlCol="0" anchor="t"/>
          <a:lstStyle/>
          <a:p>
            <a:pPr indent="0" marL="0">
              <a:buNone/>
            </a:pPr>
            <a:r>
              <a:rPr lang="en-US" sz="1300" dirty="0">
                <a:solidFill>
                  <a:schemeClr val="tx2"/>
                </a:solidFill>
              </a:rPr>
              <a:t>JWT + RBAC, scanning, audit</a:t>
            </a:r>
            <a:endParaRPr lang="en-US" sz="1300" dirty="0"/>
          </a:p>
        </p:txBody>
      </p:sp>
      <p:sp>
        <p:nvSpPr>
          <p:cNvPr id="45" name="Shape 34"/>
          <p:cNvSpPr/>
          <p:nvPr/>
        </p:nvSpPr>
        <p:spPr>
          <a:xfrm>
            <a:off x="8412480" y="4937760"/>
            <a:ext cx="3227832"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6" name="cross Observability"/>
          <p:cNvSpPr/>
          <p:nvPr/>
        </p:nvSpPr>
        <p:spPr>
          <a:xfrm>
            <a:off x="8595360" y="5120640"/>
            <a:ext cx="475488" cy="475488"/>
          </a:xfrm>
          <a:prstGeom prst="ellipse">
            <a:avLst/>
          </a:prstGeom>
          <a:solidFill>
            <a:schemeClr val="accent5"/>
          </a:solidFill>
          <a:ln w="12700">
            <a:solidFill>
              <a:schemeClr val="accent5"/>
            </a:solidFill>
            <a:prstDash val="solid"/>
          </a:ln>
        </p:spPr>
      </p:sp>
      <p:pic>
        <p:nvPicPr>
          <p:cNvPr id="47" name="Image 8" descr="icon">    </p:cNvPr>
          <p:cNvPicPr>
            <a:picLocks noChangeAspect="1"/>
          </p:cNvPicPr>
          <p:nvPr/>
        </p:nvPicPr>
        <p:blipFill>
          <a:blip r:embed="rId9"/>
          <a:stretch>
            <a:fillRect/>
          </a:stretch>
        </p:blipFill>
        <p:spPr>
          <a:xfrm>
            <a:off x="8714232" y="5239512"/>
            <a:ext cx="237744" cy="237744"/>
          </a:xfrm>
          <a:prstGeom prst="rect">
            <a:avLst/>
          </a:prstGeom>
        </p:spPr>
      </p:pic>
      <p:sp>
        <p:nvSpPr>
          <p:cNvPr id="48" name="Text 36"/>
          <p:cNvSpPr txBox="1"/>
          <p:nvPr/>
        </p:nvSpPr>
        <p:spPr>
          <a:xfrm>
            <a:off x="9235440" y="5120640"/>
            <a:ext cx="2286000" cy="475488"/>
          </a:xfrm>
          <a:prstGeom prst="rect">
            <a:avLst/>
          </a:prstGeom>
          <a:noFill/>
          <a:ln/>
        </p:spPr>
        <p:txBody>
          <a:bodyPr wrap="square" lIns="0" tIns="0" rIns="0" bIns="0" rtlCol="0" anchor="ctr"/>
          <a:lstStyle/>
          <a:p>
            <a:pPr indent="0" marL="0">
              <a:buNone/>
            </a:pPr>
            <a:r>
              <a:rPr lang="en-US" sz="1500" b="1" dirty="0">
                <a:solidFill>
                  <a:schemeClr val="tx1"/>
                </a:solidFill>
              </a:rPr>
              <a:t>Observability</a:t>
            </a:r>
            <a:endParaRPr lang="en-US" sz="1500" dirty="0"/>
          </a:p>
        </p:txBody>
      </p:sp>
      <p:sp>
        <p:nvSpPr>
          <p:cNvPr id="49" name="Text 37"/>
          <p:cNvSpPr txBox="1"/>
          <p:nvPr/>
        </p:nvSpPr>
        <p:spPr>
          <a:xfrm>
            <a:off x="8595360" y="5742432"/>
            <a:ext cx="2926080" cy="457200"/>
          </a:xfrm>
          <a:prstGeom prst="rect">
            <a:avLst/>
          </a:prstGeom>
          <a:noFill/>
          <a:ln/>
        </p:spPr>
        <p:txBody>
          <a:bodyPr wrap="square" lIns="0" tIns="0" rIns="0" bIns="0" rtlCol="0" anchor="t"/>
          <a:lstStyle/>
          <a:p>
            <a:pPr indent="0" marL="0">
              <a:buNone/>
            </a:pPr>
            <a:r>
              <a:rPr lang="en-US" sz="1300" dirty="0">
                <a:solidFill>
                  <a:schemeClr val="tx2"/>
                </a:solidFill>
              </a:rPr>
              <a:t>Logs, metrics, health, alerts</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731520" y="1280160"/>
            <a:ext cx="5486400" cy="457200"/>
          </a:xfrm>
          <a:prstGeom prst="rect">
            <a:avLst/>
          </a:prstGeom>
          <a:noFill/>
          <a:ln/>
        </p:spPr>
        <p:txBody>
          <a:bodyPr wrap="square" lIns="0" tIns="0" rIns="0" bIns="0" rtlCol="0" anchor="t"/>
          <a:lstStyle/>
          <a:p>
            <a:pPr indent="0" marL="0">
              <a:buNone/>
            </a:pPr>
            <a:r>
              <a:rPr lang="en-US" sz="2000" b="1" dirty="0">
                <a:solidFill>
                  <a:schemeClr val="accent2"/>
                </a:solidFill>
              </a:rPr>
              <a:t>PART 1</a:t>
            </a:r>
            <a:endParaRPr lang="en-US" sz="2000" dirty="0"/>
          </a:p>
        </p:txBody>
      </p:sp>
      <p:sp>
        <p:nvSpPr>
          <p:cNvPr id="4" name="Text 1"/>
          <p:cNvSpPr txBox="1"/>
          <p:nvPr/>
        </p:nvSpPr>
        <p:spPr>
          <a:xfrm>
            <a:off x="731520" y="1828800"/>
            <a:ext cx="5852160" cy="201168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Interfaces, Ingestion &amp; Parsing</a:t>
            </a:r>
            <a:endParaRPr lang="en-US" sz="4400" dirty="0"/>
          </a:p>
        </p:txBody>
      </p:sp>
      <p:sp>
        <p:nvSpPr>
          <p:cNvPr id="5" name="Text 2"/>
          <p:cNvSpPr txBox="1"/>
          <p:nvPr/>
        </p:nvSpPr>
        <p:spPr>
          <a:xfrm>
            <a:off x="731520" y="4114800"/>
            <a:ext cx="5486400" cy="822960"/>
          </a:xfrm>
          <a:prstGeom prst="rect">
            <a:avLst/>
          </a:prstGeom>
          <a:noFill/>
          <a:ln/>
        </p:spPr>
        <p:txBody>
          <a:bodyPr wrap="square" lIns="0" tIns="0" rIns="0" bIns="0" rtlCol="0" anchor="t"/>
          <a:lstStyle/>
          <a:p>
            <a:pPr indent="0" marL="0">
              <a:buNone/>
            </a:pPr>
            <a:r>
              <a:rPr lang="en-US" sz="1800" dirty="0">
                <a:solidFill>
                  <a:schemeClr val="bg2"/>
                </a:solidFill>
              </a:rPr>
              <a:t>How users, APIs and sources feed trusted content into the system</a:t>
            </a:r>
            <a:endParaRPr lang="en-US" sz="1800" dirty="0"/>
          </a:p>
        </p:txBody>
      </p:sp>
      <p:sp>
        <p:nvSpPr>
          <p:cNvPr id="6" name="Shape 3"/>
          <p:cNvSpPr/>
          <p:nvPr/>
        </p:nvSpPr>
        <p:spPr>
          <a:xfrm>
            <a:off x="7498080" y="1280160"/>
            <a:ext cx="4114800" cy="594360"/>
          </a:xfrm>
          <a:prstGeom prst="roundRect">
            <a:avLst>
              <a:gd name="adj" fmla="val 15385"/>
            </a:avLst>
          </a:prstGeom>
          <a:solidFill>
            <a:schemeClr val="tx2"/>
          </a:solidFill>
          <a:ln w="12700">
            <a:solidFill>
              <a:schemeClr val="tx2"/>
            </a:solidFill>
            <a:prstDash val="solid"/>
          </a:ln>
        </p:spPr>
      </p:sp>
      <p:sp>
        <p:nvSpPr>
          <p:cNvPr id="7" name="badge"/>
          <p:cNvSpPr/>
          <p:nvPr/>
        </p:nvSpPr>
        <p:spPr>
          <a:xfrm>
            <a:off x="7635240" y="1371600"/>
            <a:ext cx="411480" cy="411480"/>
          </a:xfrm>
          <a:prstGeom prst="ellipse">
            <a:avLst/>
          </a:prstGeom>
          <a:solidFill>
            <a:schemeClr val="accent1"/>
          </a:solidFill>
          <a:ln w="12700">
            <a:solidFill>
              <a:schemeClr val="accent1"/>
            </a:solidFill>
            <a:prstDash val="solid"/>
          </a:ln>
        </p:spPr>
      </p:sp>
      <p:sp>
        <p:nvSpPr>
          <p:cNvPr id="8" name="Text 5"/>
          <p:cNvSpPr txBox="1"/>
          <p:nvPr/>
        </p:nvSpPr>
        <p:spPr>
          <a:xfrm>
            <a:off x="763524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8229600" y="1280160"/>
            <a:ext cx="3291840" cy="594360"/>
          </a:xfrm>
          <a:prstGeom prst="rect">
            <a:avLst/>
          </a:prstGeom>
          <a:noFill/>
          <a:ln/>
        </p:spPr>
        <p:txBody>
          <a:bodyPr wrap="square" lIns="0" tIns="0" rIns="0" bIns="0" rtlCol="0" anchor="ctr"/>
          <a:lstStyle/>
          <a:p>
            <a:pPr indent="0" marL="0">
              <a:buNone/>
            </a:pPr>
            <a:r>
              <a:rPr lang="en-US" sz="1600" dirty="0">
                <a:solidFill>
                  <a:schemeClr val="bg1"/>
                </a:solidFill>
              </a:rPr>
              <a:t>Frontend</a:t>
            </a:r>
            <a:endParaRPr lang="en-US" sz="1600" dirty="0"/>
          </a:p>
        </p:txBody>
      </p:sp>
      <p:sp>
        <p:nvSpPr>
          <p:cNvPr id="10" name="Shape 7"/>
          <p:cNvSpPr/>
          <p:nvPr/>
        </p:nvSpPr>
        <p:spPr>
          <a:xfrm>
            <a:off x="7498080" y="2057400"/>
            <a:ext cx="4114800" cy="594360"/>
          </a:xfrm>
          <a:prstGeom prst="roundRect">
            <a:avLst>
              <a:gd name="adj" fmla="val 15385"/>
            </a:avLst>
          </a:prstGeom>
          <a:solidFill>
            <a:schemeClr val="tx2"/>
          </a:solidFill>
          <a:ln w="12700">
            <a:solidFill>
              <a:schemeClr val="tx2"/>
            </a:solidFill>
            <a:prstDash val="solid"/>
          </a:ln>
        </p:spPr>
      </p:sp>
      <p:sp>
        <p:nvSpPr>
          <p:cNvPr id="11" name="badge"/>
          <p:cNvSpPr/>
          <p:nvPr/>
        </p:nvSpPr>
        <p:spPr>
          <a:xfrm>
            <a:off x="7635240" y="2148840"/>
            <a:ext cx="411480" cy="411480"/>
          </a:xfrm>
          <a:prstGeom prst="ellipse">
            <a:avLst/>
          </a:prstGeom>
          <a:solidFill>
            <a:schemeClr val="accent1"/>
          </a:solidFill>
          <a:ln w="12700">
            <a:solidFill>
              <a:schemeClr val="accent1"/>
            </a:solidFill>
            <a:prstDash val="solid"/>
          </a:ln>
        </p:spPr>
      </p:sp>
      <p:sp>
        <p:nvSpPr>
          <p:cNvPr id="12" name="Text 9"/>
          <p:cNvSpPr txBox="1"/>
          <p:nvPr/>
        </p:nvSpPr>
        <p:spPr>
          <a:xfrm>
            <a:off x="7635240" y="2148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8229600" y="2057400"/>
            <a:ext cx="3291840" cy="594360"/>
          </a:xfrm>
          <a:prstGeom prst="rect">
            <a:avLst/>
          </a:prstGeom>
          <a:noFill/>
          <a:ln/>
        </p:spPr>
        <p:txBody>
          <a:bodyPr wrap="square" lIns="0" tIns="0" rIns="0" bIns="0" rtlCol="0" anchor="ctr"/>
          <a:lstStyle/>
          <a:p>
            <a:pPr indent="0" marL="0">
              <a:buNone/>
            </a:pPr>
            <a:r>
              <a:rPr lang="en-US" sz="1600" dirty="0">
                <a:solidFill>
                  <a:schemeClr val="bg1"/>
                </a:solidFill>
              </a:rPr>
              <a:t>Backend API</a:t>
            </a:r>
            <a:endParaRPr lang="en-US" sz="1600" dirty="0"/>
          </a:p>
        </p:txBody>
      </p:sp>
      <p:sp>
        <p:nvSpPr>
          <p:cNvPr id="14" name="Shape 11"/>
          <p:cNvSpPr/>
          <p:nvPr/>
        </p:nvSpPr>
        <p:spPr>
          <a:xfrm>
            <a:off x="7498080" y="2834640"/>
            <a:ext cx="4114800" cy="594360"/>
          </a:xfrm>
          <a:prstGeom prst="roundRect">
            <a:avLst>
              <a:gd name="adj" fmla="val 15385"/>
            </a:avLst>
          </a:prstGeom>
          <a:solidFill>
            <a:schemeClr val="tx2"/>
          </a:solidFill>
          <a:ln w="12700">
            <a:solidFill>
              <a:schemeClr val="tx2"/>
            </a:solidFill>
            <a:prstDash val="solid"/>
          </a:ln>
        </p:spPr>
      </p:sp>
      <p:sp>
        <p:nvSpPr>
          <p:cNvPr id="15" name="badge"/>
          <p:cNvSpPr/>
          <p:nvPr/>
        </p:nvSpPr>
        <p:spPr>
          <a:xfrm>
            <a:off x="7635240" y="2926080"/>
            <a:ext cx="411480" cy="411480"/>
          </a:xfrm>
          <a:prstGeom prst="ellipse">
            <a:avLst/>
          </a:prstGeom>
          <a:solidFill>
            <a:schemeClr val="accent1"/>
          </a:solidFill>
          <a:ln w="12700">
            <a:solidFill>
              <a:schemeClr val="accent1"/>
            </a:solidFill>
            <a:prstDash val="solid"/>
          </a:ln>
        </p:spPr>
      </p:sp>
      <p:sp>
        <p:nvSpPr>
          <p:cNvPr id="16" name="Text 13"/>
          <p:cNvSpPr txBox="1"/>
          <p:nvPr/>
        </p:nvSpPr>
        <p:spPr>
          <a:xfrm>
            <a:off x="7635240" y="2926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229600" y="2834640"/>
            <a:ext cx="3291840" cy="594360"/>
          </a:xfrm>
          <a:prstGeom prst="rect">
            <a:avLst/>
          </a:prstGeom>
          <a:noFill/>
          <a:ln/>
        </p:spPr>
        <p:txBody>
          <a:bodyPr wrap="square" lIns="0" tIns="0" rIns="0" bIns="0" rtlCol="0" anchor="ctr"/>
          <a:lstStyle/>
          <a:p>
            <a:pPr indent="0" marL="0">
              <a:buNone/>
            </a:pPr>
            <a:r>
              <a:rPr lang="en-US" sz="1600" dirty="0">
                <a:solidFill>
                  <a:schemeClr val="bg1"/>
                </a:solidFill>
              </a:rPr>
              <a:t>External integrations</a:t>
            </a:r>
            <a:endParaRPr lang="en-US" sz="1600" dirty="0"/>
          </a:p>
        </p:txBody>
      </p:sp>
      <p:sp>
        <p:nvSpPr>
          <p:cNvPr id="18" name="Shape 15"/>
          <p:cNvSpPr/>
          <p:nvPr/>
        </p:nvSpPr>
        <p:spPr>
          <a:xfrm>
            <a:off x="7498080" y="3611880"/>
            <a:ext cx="4114800" cy="594360"/>
          </a:xfrm>
          <a:prstGeom prst="roundRect">
            <a:avLst>
              <a:gd name="adj" fmla="val 15385"/>
            </a:avLst>
          </a:prstGeom>
          <a:solidFill>
            <a:schemeClr val="tx2"/>
          </a:solidFill>
          <a:ln w="12700">
            <a:solidFill>
              <a:schemeClr val="tx2"/>
            </a:solidFill>
            <a:prstDash val="solid"/>
          </a:ln>
        </p:spPr>
      </p:sp>
      <p:sp>
        <p:nvSpPr>
          <p:cNvPr id="19" name="badge"/>
          <p:cNvSpPr/>
          <p:nvPr/>
        </p:nvSpPr>
        <p:spPr>
          <a:xfrm>
            <a:off x="7635240" y="3703320"/>
            <a:ext cx="411480" cy="411480"/>
          </a:xfrm>
          <a:prstGeom prst="ellipse">
            <a:avLst/>
          </a:prstGeom>
          <a:solidFill>
            <a:schemeClr val="accent1"/>
          </a:solidFill>
          <a:ln w="12700">
            <a:solidFill>
              <a:schemeClr val="accent1"/>
            </a:solidFill>
            <a:prstDash val="solid"/>
          </a:ln>
        </p:spPr>
      </p:sp>
      <p:sp>
        <p:nvSpPr>
          <p:cNvPr id="20" name="Text 17"/>
          <p:cNvSpPr txBox="1"/>
          <p:nvPr/>
        </p:nvSpPr>
        <p:spPr>
          <a:xfrm>
            <a:off x="7635240" y="3703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8229600" y="3611880"/>
            <a:ext cx="3291840" cy="594360"/>
          </a:xfrm>
          <a:prstGeom prst="rect">
            <a:avLst/>
          </a:prstGeom>
          <a:noFill/>
          <a:ln/>
        </p:spPr>
        <p:txBody>
          <a:bodyPr wrap="square" lIns="0" tIns="0" rIns="0" bIns="0" rtlCol="0" anchor="ctr"/>
          <a:lstStyle/>
          <a:p>
            <a:pPr indent="0" marL="0">
              <a:buNone/>
            </a:pPr>
            <a:r>
              <a:rPr lang="en-US" sz="1600" dirty="0">
                <a:solidFill>
                  <a:schemeClr val="bg1"/>
                </a:solidFill>
              </a:rPr>
              <a:t>Security &amp; trust</a:t>
            </a:r>
            <a:endParaRPr lang="en-US" sz="1600" dirty="0"/>
          </a:p>
        </p:txBody>
      </p:sp>
      <p:sp>
        <p:nvSpPr>
          <p:cNvPr id="22" name="Shape 19"/>
          <p:cNvSpPr/>
          <p:nvPr/>
        </p:nvSpPr>
        <p:spPr>
          <a:xfrm>
            <a:off x="7498080" y="4389120"/>
            <a:ext cx="4114800" cy="594360"/>
          </a:xfrm>
          <a:prstGeom prst="roundRect">
            <a:avLst>
              <a:gd name="adj" fmla="val 15385"/>
            </a:avLst>
          </a:prstGeom>
          <a:solidFill>
            <a:schemeClr val="tx2"/>
          </a:solidFill>
          <a:ln w="12700">
            <a:solidFill>
              <a:schemeClr val="tx2"/>
            </a:solidFill>
            <a:prstDash val="solid"/>
          </a:ln>
        </p:spPr>
      </p:sp>
      <p:sp>
        <p:nvSpPr>
          <p:cNvPr id="23" name="badge"/>
          <p:cNvSpPr/>
          <p:nvPr/>
        </p:nvSpPr>
        <p:spPr>
          <a:xfrm>
            <a:off x="7635240" y="4480560"/>
            <a:ext cx="411480" cy="411480"/>
          </a:xfrm>
          <a:prstGeom prst="ellipse">
            <a:avLst/>
          </a:prstGeom>
          <a:solidFill>
            <a:schemeClr val="accent1"/>
          </a:solidFill>
          <a:ln w="12700">
            <a:solidFill>
              <a:schemeClr val="accent1"/>
            </a:solidFill>
            <a:prstDash val="solid"/>
          </a:ln>
        </p:spPr>
      </p:sp>
      <p:sp>
        <p:nvSpPr>
          <p:cNvPr id="24" name="Text 21"/>
          <p:cNvSpPr txBox="1"/>
          <p:nvPr/>
        </p:nvSpPr>
        <p:spPr>
          <a:xfrm>
            <a:off x="7635240" y="4480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 22"/>
          <p:cNvSpPr txBox="1"/>
          <p:nvPr/>
        </p:nvSpPr>
        <p:spPr>
          <a:xfrm>
            <a:off x="8229600" y="4389120"/>
            <a:ext cx="3291840" cy="594360"/>
          </a:xfrm>
          <a:prstGeom prst="rect">
            <a:avLst/>
          </a:prstGeom>
          <a:noFill/>
          <a:ln/>
        </p:spPr>
        <p:txBody>
          <a:bodyPr wrap="square" lIns="0" tIns="0" rIns="0" bIns="0" rtlCol="0" anchor="ctr"/>
          <a:lstStyle/>
          <a:p>
            <a:pPr indent="0" marL="0">
              <a:buNone/>
            </a:pPr>
            <a:r>
              <a:rPr lang="en-US" sz="1600" dirty="0">
                <a:solidFill>
                  <a:schemeClr val="bg1"/>
                </a:solidFill>
              </a:rPr>
              <a:t>Multi-source ingestion</a:t>
            </a:r>
            <a:endParaRPr lang="en-US" sz="1600" dirty="0"/>
          </a:p>
        </p:txBody>
      </p:sp>
      <p:sp>
        <p:nvSpPr>
          <p:cNvPr id="26" name="Shape 23"/>
          <p:cNvSpPr/>
          <p:nvPr/>
        </p:nvSpPr>
        <p:spPr>
          <a:xfrm>
            <a:off x="7498080" y="5166360"/>
            <a:ext cx="4114800" cy="594360"/>
          </a:xfrm>
          <a:prstGeom prst="roundRect">
            <a:avLst>
              <a:gd name="adj" fmla="val 15385"/>
            </a:avLst>
          </a:prstGeom>
          <a:solidFill>
            <a:schemeClr val="tx2"/>
          </a:solidFill>
          <a:ln w="12700">
            <a:solidFill>
              <a:schemeClr val="tx2"/>
            </a:solidFill>
            <a:prstDash val="solid"/>
          </a:ln>
        </p:spPr>
      </p:sp>
      <p:sp>
        <p:nvSpPr>
          <p:cNvPr id="27" name="badge"/>
          <p:cNvSpPr/>
          <p:nvPr/>
        </p:nvSpPr>
        <p:spPr>
          <a:xfrm>
            <a:off x="7635240" y="5257800"/>
            <a:ext cx="411480" cy="411480"/>
          </a:xfrm>
          <a:prstGeom prst="ellipse">
            <a:avLst/>
          </a:prstGeom>
          <a:solidFill>
            <a:schemeClr val="accent1"/>
          </a:solidFill>
          <a:ln w="12700">
            <a:solidFill>
              <a:schemeClr val="accent1"/>
            </a:solidFill>
            <a:prstDash val="solid"/>
          </a:ln>
        </p:spPr>
      </p:sp>
      <p:sp>
        <p:nvSpPr>
          <p:cNvPr id="28" name="Text 25"/>
          <p:cNvSpPr txBox="1"/>
          <p:nvPr/>
        </p:nvSpPr>
        <p:spPr>
          <a:xfrm>
            <a:off x="7635240" y="5257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9" name="Text 26"/>
          <p:cNvSpPr txBox="1"/>
          <p:nvPr/>
        </p:nvSpPr>
        <p:spPr>
          <a:xfrm>
            <a:off x="8229600" y="5166360"/>
            <a:ext cx="3291840" cy="594360"/>
          </a:xfrm>
          <a:prstGeom prst="rect">
            <a:avLst/>
          </a:prstGeom>
          <a:noFill/>
          <a:ln/>
        </p:spPr>
        <p:txBody>
          <a:bodyPr wrap="square" lIns="0" tIns="0" rIns="0" bIns="0" rtlCol="0" anchor="ctr"/>
          <a:lstStyle/>
          <a:p>
            <a:pPr indent="0" marL="0">
              <a:buNone/>
            </a:pPr>
            <a:r>
              <a:rPr lang="en-US" sz="1600" dirty="0">
                <a:solidFill>
                  <a:schemeClr val="bg1"/>
                </a:solidFill>
              </a:rPr>
              <a:t>Document processing</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Frontend</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card Pages / Routes"/>
          <p:cNvSpPr/>
          <p:nvPr/>
        </p:nvSpPr>
        <p:spPr>
          <a:xfrm>
            <a:off x="548640" y="1463040"/>
            <a:ext cx="3514344" cy="3108960"/>
          </a:xfrm>
          <a:prstGeom prst="roundRect">
            <a:avLst>
              <a:gd name="adj" fmla="val 294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Pages / Routes"/>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Pages / Routes</a:t>
            </a:r>
            <a:endParaRPr lang="en-US" sz="1500" dirty="0"/>
          </a:p>
        </p:txBody>
      </p:sp>
      <p:sp>
        <p:nvSpPr>
          <p:cNvPr id="9" name="Text 5"/>
          <p:cNvSpPr txBox="1"/>
          <p:nvPr/>
        </p:nvSpPr>
        <p:spPr>
          <a:xfrm>
            <a:off x="777240" y="2286000"/>
            <a:ext cx="3102864" cy="2194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/login, /register</a:t>
            </a:r>
            <a:endParaRPr lang="en-US" sz="1400" dirty="0"/>
          </a:p>
          <a:p>
            <a:pPr marL="177800" indent="-177800">
              <a:spcAft>
                <a:spcPts val="400"/>
              </a:spcAft>
              <a:buSzPct val="100000"/>
              <a:buChar char="•"/>
            </a:pPr>
            <a:r>
              <a:rPr lang="en-US" sz="1400" dirty="0">
                <a:solidFill>
                  <a:schemeClr val="tx1"/>
                </a:solidFill>
              </a:rPr>
              <a:t>/projects, /projects/:id</a:t>
            </a:r>
            <a:endParaRPr lang="en-US" sz="1400" dirty="0"/>
          </a:p>
          <a:p>
            <a:pPr marL="177800" indent="-177800">
              <a:spcAft>
                <a:spcPts val="400"/>
              </a:spcAft>
              <a:buSzPct val="100000"/>
              <a:buChar char="•"/>
            </a:pPr>
            <a:r>
              <a:rPr lang="en-US" sz="1400" dirty="0">
                <a:solidFill>
                  <a:schemeClr val="tx1"/>
                </a:solidFill>
              </a:rPr>
              <a:t>/sources, /sources/add</a:t>
            </a:r>
            <a:endParaRPr lang="en-US" sz="1400" dirty="0"/>
          </a:p>
          <a:p>
            <a:pPr marL="177800" indent="-177800">
              <a:spcAft>
                <a:spcPts val="400"/>
              </a:spcAft>
              <a:buSzPct val="100000"/>
              <a:buChar char="•"/>
            </a:pPr>
            <a:r>
              <a:rPr lang="en-US" sz="1400" dirty="0">
                <a:solidFill>
                  <a:schemeClr val="tx1"/>
                </a:solidFill>
              </a:rPr>
              <a:t>/research</a:t>
            </a:r>
            <a:endParaRPr lang="en-US" sz="1400" dirty="0"/>
          </a:p>
          <a:p>
            <a:pPr marL="177800" indent="-177800">
              <a:spcAft>
                <a:spcPts val="400"/>
              </a:spcAft>
              <a:buSzPct val="100000"/>
              <a:buChar char="•"/>
            </a:pPr>
            <a:r>
              <a:rPr lang="en-US" sz="1400" dirty="0">
                <a:solidFill>
                  <a:schemeClr val="tx1"/>
                </a:solidFill>
              </a:rPr>
              <a:t>/reports/:id</a:t>
            </a:r>
            <a:endParaRPr lang="en-US" sz="1400" dirty="0"/>
          </a:p>
          <a:p>
            <a:pPr marL="177800" indent="-177800">
              <a:spcAft>
                <a:spcPts val="400"/>
              </a:spcAft>
              <a:buSzPct val="100000"/>
              <a:buChar char="•"/>
            </a:pPr>
            <a:r>
              <a:rPr lang="en-US" sz="1400" dirty="0">
                <a:solidFill>
                  <a:schemeClr val="tx1"/>
                </a:solidFill>
              </a:rPr>
              <a:t>/settings</a:t>
            </a:r>
            <a:endParaRPr lang="en-US" sz="1400" dirty="0"/>
          </a:p>
        </p:txBody>
      </p:sp>
      <p:sp>
        <p:nvSpPr>
          <p:cNvPr id="10" name="card Key Features"/>
          <p:cNvSpPr/>
          <p:nvPr/>
        </p:nvSpPr>
        <p:spPr>
          <a:xfrm>
            <a:off x="4337304" y="1463040"/>
            <a:ext cx="3514344" cy="3108960"/>
          </a:xfrm>
          <a:prstGeom prst="roundRect">
            <a:avLst>
              <a:gd name="adj" fmla="val 294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Key Features"/>
          <p:cNvSpPr/>
          <p:nvPr/>
        </p:nvSpPr>
        <p:spPr>
          <a:xfrm>
            <a:off x="4520184"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Key Features</a:t>
            </a:r>
            <a:endParaRPr lang="en-US" sz="1500" dirty="0"/>
          </a:p>
        </p:txBody>
      </p:sp>
      <p:sp>
        <p:nvSpPr>
          <p:cNvPr id="14" name="Text 9"/>
          <p:cNvSpPr txBox="1"/>
          <p:nvPr/>
        </p:nvSpPr>
        <p:spPr>
          <a:xfrm>
            <a:off x="4565904" y="2286000"/>
            <a:ext cx="3102864" cy="2194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Project management</a:t>
            </a:r>
            <a:endParaRPr lang="en-US" sz="1400" dirty="0"/>
          </a:p>
          <a:p>
            <a:pPr marL="177800" indent="-177800">
              <a:spcAft>
                <a:spcPts val="400"/>
              </a:spcAft>
              <a:buSzPct val="100000"/>
              <a:buChar char="•"/>
            </a:pPr>
            <a:r>
              <a:rPr lang="en-US" sz="1400" dirty="0">
                <a:solidFill>
                  <a:schemeClr val="tx1"/>
                </a:solidFill>
              </a:rPr>
              <a:t>Source library</a:t>
            </a:r>
            <a:endParaRPr lang="en-US" sz="1400" dirty="0"/>
          </a:p>
          <a:p>
            <a:pPr marL="177800" indent="-177800">
              <a:spcAft>
                <a:spcPts val="400"/>
              </a:spcAft>
              <a:buSzPct val="100000"/>
              <a:buChar char="•"/>
            </a:pPr>
            <a:r>
              <a:rPr lang="en-US" sz="1400" dirty="0">
                <a:solidFill>
                  <a:schemeClr val="tx1"/>
                </a:solidFill>
              </a:rPr>
              <a:t>Research workspace</a:t>
            </a:r>
            <a:endParaRPr lang="en-US" sz="1400" dirty="0"/>
          </a:p>
          <a:p>
            <a:pPr marL="177800" indent="-177800">
              <a:spcAft>
                <a:spcPts val="400"/>
              </a:spcAft>
              <a:buSzPct val="100000"/>
              <a:buChar char="•"/>
            </a:pPr>
            <a:r>
              <a:rPr lang="en-US" sz="1400" dirty="0">
                <a:solidFill>
                  <a:schemeClr val="tx1"/>
                </a:solidFill>
              </a:rPr>
              <a:t>Report viewer</a:t>
            </a:r>
            <a:endParaRPr lang="en-US" sz="1400" dirty="0"/>
          </a:p>
          <a:p>
            <a:pPr marL="177800" indent="-177800">
              <a:spcAft>
                <a:spcPts val="400"/>
              </a:spcAft>
              <a:buSzPct val="100000"/>
              <a:buChar char="•"/>
            </a:pPr>
            <a:r>
              <a:rPr lang="en-US" sz="1400" dirty="0">
                <a:solidFill>
                  <a:schemeClr val="tx1"/>
                </a:solidFill>
              </a:rPr>
              <a:t>Citation &amp; evidence UI</a:t>
            </a:r>
            <a:endParaRPr lang="en-US" sz="1400" dirty="0"/>
          </a:p>
          <a:p>
            <a:pPr marL="177800" indent="-177800">
              <a:spcAft>
                <a:spcPts val="400"/>
              </a:spcAft>
              <a:buSzPct val="100000"/>
              <a:buChar char="•"/>
            </a:pPr>
            <a:r>
              <a:rPr lang="en-US" sz="1400" dirty="0">
                <a:solidFill>
                  <a:schemeClr val="tx1"/>
                </a:solidFill>
              </a:rPr>
              <a:t>Filters, real-time status</a:t>
            </a:r>
            <a:endParaRPr lang="en-US" sz="1400" dirty="0"/>
          </a:p>
        </p:txBody>
      </p:sp>
      <p:sp>
        <p:nvSpPr>
          <p:cNvPr id="15" name="card State &amp; UI Stack"/>
          <p:cNvSpPr/>
          <p:nvPr/>
        </p:nvSpPr>
        <p:spPr>
          <a:xfrm>
            <a:off x="8125968" y="1463040"/>
            <a:ext cx="3514344" cy="3108960"/>
          </a:xfrm>
          <a:prstGeom prst="roundRect">
            <a:avLst>
              <a:gd name="adj" fmla="val 294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State &amp; UI Stack"/>
          <p:cNvSpPr/>
          <p:nvPr/>
        </p:nvSpPr>
        <p:spPr>
          <a:xfrm>
            <a:off x="8308848" y="1645920"/>
            <a:ext cx="475488" cy="475488"/>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State &amp; UI Stack</a:t>
            </a:r>
            <a:endParaRPr lang="en-US" sz="1500" dirty="0"/>
          </a:p>
        </p:txBody>
      </p:sp>
      <p:sp>
        <p:nvSpPr>
          <p:cNvPr id="19" name="Text 13"/>
          <p:cNvSpPr txBox="1"/>
          <p:nvPr/>
        </p:nvSpPr>
        <p:spPr>
          <a:xfrm>
            <a:off x="8354568" y="2286000"/>
            <a:ext cx="3102864" cy="2194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React Query (server state)</a:t>
            </a:r>
            <a:endParaRPr lang="en-US" sz="1400" dirty="0"/>
          </a:p>
          <a:p>
            <a:pPr marL="177800" indent="-177800">
              <a:spcAft>
                <a:spcPts val="400"/>
              </a:spcAft>
              <a:buSzPct val="100000"/>
              <a:buChar char="•"/>
            </a:pPr>
            <a:r>
              <a:rPr lang="en-US" sz="1400" dirty="0">
                <a:solidFill>
                  <a:schemeClr val="tx1"/>
                </a:solidFill>
              </a:rPr>
              <a:t>Zustand (UI state)</a:t>
            </a:r>
            <a:endParaRPr lang="en-US" sz="1400" dirty="0"/>
          </a:p>
          <a:p>
            <a:pPr marL="177800" indent="-177800">
              <a:spcAft>
                <a:spcPts val="400"/>
              </a:spcAft>
              <a:buSzPct val="100000"/>
              <a:buChar char="•"/>
            </a:pPr>
            <a:r>
              <a:rPr lang="en-US" sz="1400" dirty="0">
                <a:solidFill>
                  <a:schemeClr val="tx1"/>
                </a:solidFill>
              </a:rPr>
              <a:t>Context API (auth, project)</a:t>
            </a:r>
            <a:endParaRPr lang="en-US" sz="1400" dirty="0"/>
          </a:p>
          <a:p>
            <a:pPr marL="177800" indent="-177800">
              <a:spcAft>
                <a:spcPts val="400"/>
              </a:spcAft>
              <a:buSzPct val="100000"/>
              <a:buChar char="•"/>
            </a:pPr>
            <a:r>
              <a:rPr lang="en-US" sz="1400" dirty="0">
                <a:solidFill>
                  <a:schemeClr val="tx1"/>
                </a:solidFill>
              </a:rPr>
              <a:t>Tailwind CSS + Shadcn UI</a:t>
            </a:r>
            <a:endParaRPr lang="en-US" sz="1400" dirty="0"/>
          </a:p>
          <a:p>
            <a:pPr marL="177800" indent="-177800">
              <a:spcAft>
                <a:spcPts val="400"/>
              </a:spcAft>
              <a:buSzPct val="100000"/>
              <a:buChar char="•"/>
            </a:pPr>
            <a:r>
              <a:rPr lang="en-US" sz="1400" dirty="0">
                <a:solidFill>
                  <a:schemeClr val="tx1"/>
                </a:solidFill>
              </a:rPr>
              <a:t>React Hook Form, Router</a:t>
            </a:r>
            <a:endParaRPr lang="en-US" sz="1400" dirty="0"/>
          </a:p>
        </p:txBody>
      </p:sp>
      <p:sp>
        <p:nvSpPr>
          <p:cNvPr id="20" name="Text 14"/>
          <p:cNvSpPr txBox="1"/>
          <p:nvPr/>
        </p:nvSpPr>
        <p:spPr>
          <a:xfrm>
            <a:off x="548640" y="4709160"/>
            <a:ext cx="3657600" cy="274320"/>
          </a:xfrm>
          <a:prstGeom prst="rect">
            <a:avLst/>
          </a:prstGeom>
          <a:noFill/>
          <a:ln/>
        </p:spPr>
        <p:txBody>
          <a:bodyPr wrap="square" lIns="0" tIns="0" rIns="0" bIns="0" rtlCol="0" anchor="t"/>
          <a:lstStyle/>
          <a:p>
            <a:pPr indent="0" marL="0">
              <a:buNone/>
            </a:pPr>
            <a:r>
              <a:rPr lang="en-US" sz="1400" b="1" dirty="0">
                <a:solidFill>
                  <a:schemeClr val="tx2"/>
                </a:solidFill>
              </a:rPr>
              <a:t>Key UI components</a:t>
            </a:r>
            <a:endParaRPr lang="en-US" sz="1400" dirty="0"/>
          </a:p>
        </p:txBody>
      </p:sp>
      <p:sp>
        <p:nvSpPr>
          <p:cNvPr id="21" name="Shape 15"/>
          <p:cNvSpPr/>
          <p:nvPr/>
        </p:nvSpPr>
        <p:spPr>
          <a:xfrm>
            <a:off x="548640" y="5074920"/>
            <a:ext cx="960120" cy="457200"/>
          </a:xfrm>
          <a:prstGeom prst="roundRect">
            <a:avLst>
              <a:gd name="adj" fmla="val 50000"/>
            </a:avLst>
          </a:prstGeom>
          <a:solidFill>
            <a:schemeClr val="accent1"/>
          </a:solidFill>
          <a:ln w="12700">
            <a:solidFill>
              <a:schemeClr val="accent1"/>
            </a:solidFill>
            <a:prstDash val="solid"/>
          </a:ln>
        </p:spPr>
      </p:sp>
      <p:sp>
        <p:nvSpPr>
          <p:cNvPr id="22" name="Text 16"/>
          <p:cNvSpPr txBox="1"/>
          <p:nvPr/>
        </p:nvSpPr>
        <p:spPr>
          <a:xfrm>
            <a:off x="548640" y="5074920"/>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rPr>
              <a:t>Navbar</a:t>
            </a:r>
            <a:endParaRPr lang="en-US" sz="1200" dirty="0"/>
          </a:p>
        </p:txBody>
      </p:sp>
      <p:sp>
        <p:nvSpPr>
          <p:cNvPr id="23" name="Shape 17"/>
          <p:cNvSpPr/>
          <p:nvPr/>
        </p:nvSpPr>
        <p:spPr>
          <a:xfrm>
            <a:off x="1636776" y="5074920"/>
            <a:ext cx="1051560" cy="457200"/>
          </a:xfrm>
          <a:prstGeom prst="roundRect">
            <a:avLst>
              <a:gd name="adj" fmla="val 50000"/>
            </a:avLst>
          </a:prstGeom>
          <a:solidFill>
            <a:schemeClr val="accent2"/>
          </a:solidFill>
          <a:ln w="12700">
            <a:solidFill>
              <a:schemeClr val="accent2"/>
            </a:solidFill>
            <a:prstDash val="solid"/>
          </a:ln>
        </p:spPr>
      </p:sp>
      <p:sp>
        <p:nvSpPr>
          <p:cNvPr id="24" name="Text 18"/>
          <p:cNvSpPr txBox="1"/>
          <p:nvPr/>
        </p:nvSpPr>
        <p:spPr>
          <a:xfrm>
            <a:off x="1636776" y="5074920"/>
            <a:ext cx="1051560" cy="457200"/>
          </a:xfrm>
          <a:prstGeom prst="rect">
            <a:avLst/>
          </a:prstGeom>
          <a:noFill/>
          <a:ln/>
        </p:spPr>
        <p:txBody>
          <a:bodyPr wrap="square" lIns="0" tIns="0" rIns="0" bIns="0" rtlCol="0" anchor="ctr"/>
          <a:lstStyle/>
          <a:p>
            <a:pPr algn="ctr" indent="0" marL="0">
              <a:buNone/>
            </a:pPr>
            <a:r>
              <a:rPr lang="en-US" sz="1200" b="1" dirty="0">
                <a:solidFill>
                  <a:schemeClr val="bg1"/>
                </a:solidFill>
              </a:rPr>
              <a:t>Sidebar</a:t>
            </a:r>
            <a:endParaRPr lang="en-US" sz="1200" dirty="0"/>
          </a:p>
        </p:txBody>
      </p:sp>
      <p:sp>
        <p:nvSpPr>
          <p:cNvPr id="25" name="Shape 19"/>
          <p:cNvSpPr/>
          <p:nvPr/>
        </p:nvSpPr>
        <p:spPr>
          <a:xfrm>
            <a:off x="2816352" y="5074920"/>
            <a:ext cx="1417320" cy="457200"/>
          </a:xfrm>
          <a:prstGeom prst="roundRect">
            <a:avLst>
              <a:gd name="adj" fmla="val 50000"/>
            </a:avLst>
          </a:prstGeom>
          <a:solidFill>
            <a:schemeClr val="accent3"/>
          </a:solidFill>
          <a:ln w="12700">
            <a:solidFill>
              <a:schemeClr val="accent3"/>
            </a:solidFill>
            <a:prstDash val="solid"/>
          </a:ln>
        </p:spPr>
      </p:sp>
      <p:sp>
        <p:nvSpPr>
          <p:cNvPr id="26" name="Text 20"/>
          <p:cNvSpPr txBox="1"/>
          <p:nvPr/>
        </p:nvSpPr>
        <p:spPr>
          <a:xfrm>
            <a:off x="2816352" y="5074920"/>
            <a:ext cx="1417320" cy="457200"/>
          </a:xfrm>
          <a:prstGeom prst="rect">
            <a:avLst/>
          </a:prstGeom>
          <a:noFill/>
          <a:ln/>
        </p:spPr>
        <p:txBody>
          <a:bodyPr wrap="square" lIns="0" tIns="0" rIns="0" bIns="0" rtlCol="0" anchor="ctr"/>
          <a:lstStyle/>
          <a:p>
            <a:pPr algn="ctr" indent="0" marL="0">
              <a:buNone/>
            </a:pPr>
            <a:r>
              <a:rPr lang="en-US" sz="1200" b="1" dirty="0">
                <a:solidFill>
                  <a:schemeClr val="bg1"/>
                </a:solidFill>
              </a:rPr>
              <a:t>ProjectCard</a:t>
            </a:r>
            <a:endParaRPr lang="en-US" sz="1200" dirty="0"/>
          </a:p>
        </p:txBody>
      </p:sp>
      <p:sp>
        <p:nvSpPr>
          <p:cNvPr id="27" name="Shape 21"/>
          <p:cNvSpPr/>
          <p:nvPr/>
        </p:nvSpPr>
        <p:spPr>
          <a:xfrm>
            <a:off x="4361688" y="5074920"/>
            <a:ext cx="1508760" cy="457200"/>
          </a:xfrm>
          <a:prstGeom prst="roundRect">
            <a:avLst>
              <a:gd name="adj" fmla="val 50000"/>
            </a:avLst>
          </a:prstGeom>
          <a:solidFill>
            <a:schemeClr val="accent4"/>
          </a:solidFill>
          <a:ln w="12700">
            <a:solidFill>
              <a:schemeClr val="accent4"/>
            </a:solidFill>
            <a:prstDash val="solid"/>
          </a:ln>
        </p:spPr>
      </p:sp>
      <p:sp>
        <p:nvSpPr>
          <p:cNvPr id="28" name="Text 22"/>
          <p:cNvSpPr txBox="1"/>
          <p:nvPr/>
        </p:nvSpPr>
        <p:spPr>
          <a:xfrm>
            <a:off x="4361688" y="5074920"/>
            <a:ext cx="1508760" cy="457200"/>
          </a:xfrm>
          <a:prstGeom prst="rect">
            <a:avLst/>
          </a:prstGeom>
          <a:noFill/>
          <a:ln/>
        </p:spPr>
        <p:txBody>
          <a:bodyPr wrap="square" lIns="0" tIns="0" rIns="0" bIns="0" rtlCol="0" anchor="ctr"/>
          <a:lstStyle/>
          <a:p>
            <a:pPr algn="ctr" indent="0" marL="0">
              <a:buNone/>
            </a:pPr>
            <a:r>
              <a:rPr lang="en-US" sz="1200" b="1" dirty="0">
                <a:solidFill>
                  <a:schemeClr val="bg1"/>
                </a:solidFill>
              </a:rPr>
              <a:t>UploadDialog</a:t>
            </a:r>
            <a:endParaRPr lang="en-US" sz="1200" dirty="0"/>
          </a:p>
        </p:txBody>
      </p:sp>
      <p:sp>
        <p:nvSpPr>
          <p:cNvPr id="29" name="Shape 23"/>
          <p:cNvSpPr/>
          <p:nvPr/>
        </p:nvSpPr>
        <p:spPr>
          <a:xfrm>
            <a:off x="5998464" y="5074920"/>
            <a:ext cx="1874520" cy="457200"/>
          </a:xfrm>
          <a:prstGeom prst="roundRect">
            <a:avLst>
              <a:gd name="adj" fmla="val 50000"/>
            </a:avLst>
          </a:prstGeom>
          <a:solidFill>
            <a:schemeClr val="accent5"/>
          </a:solidFill>
          <a:ln w="12700">
            <a:solidFill>
              <a:schemeClr val="accent5"/>
            </a:solidFill>
            <a:prstDash val="solid"/>
          </a:ln>
        </p:spPr>
      </p:sp>
      <p:sp>
        <p:nvSpPr>
          <p:cNvPr id="30" name="Text 24"/>
          <p:cNvSpPr txBox="1"/>
          <p:nvPr/>
        </p:nvSpPr>
        <p:spPr>
          <a:xfrm>
            <a:off x="5998464" y="5074920"/>
            <a:ext cx="1874520" cy="457200"/>
          </a:xfrm>
          <a:prstGeom prst="rect">
            <a:avLst/>
          </a:prstGeom>
          <a:noFill/>
          <a:ln/>
        </p:spPr>
        <p:txBody>
          <a:bodyPr wrap="square" lIns="0" tIns="0" rIns="0" bIns="0" rtlCol="0" anchor="ctr"/>
          <a:lstStyle/>
          <a:p>
            <a:pPr algn="ctr" indent="0" marL="0">
              <a:buNone/>
            </a:pPr>
            <a:r>
              <a:rPr lang="en-US" sz="1200" b="1" dirty="0">
                <a:solidFill>
                  <a:schemeClr val="bg1"/>
                </a:solidFill>
              </a:rPr>
              <a:t>ResearchComposer</a:t>
            </a:r>
            <a:endParaRPr lang="en-US" sz="1200" dirty="0"/>
          </a:p>
        </p:txBody>
      </p:sp>
      <p:sp>
        <p:nvSpPr>
          <p:cNvPr id="31" name="Shape 25"/>
          <p:cNvSpPr/>
          <p:nvPr/>
        </p:nvSpPr>
        <p:spPr>
          <a:xfrm>
            <a:off x="8001000" y="5074920"/>
            <a:ext cx="1325880" cy="457200"/>
          </a:xfrm>
          <a:prstGeom prst="roundRect">
            <a:avLst>
              <a:gd name="adj" fmla="val 50000"/>
            </a:avLst>
          </a:prstGeom>
          <a:solidFill>
            <a:schemeClr val="accent6"/>
          </a:solidFill>
          <a:ln w="12700">
            <a:solidFill>
              <a:schemeClr val="accent6"/>
            </a:solidFill>
            <a:prstDash val="solid"/>
          </a:ln>
        </p:spPr>
      </p:sp>
      <p:sp>
        <p:nvSpPr>
          <p:cNvPr id="32" name="Text 26"/>
          <p:cNvSpPr txBox="1"/>
          <p:nvPr/>
        </p:nvSpPr>
        <p:spPr>
          <a:xfrm>
            <a:off x="8001000" y="5074920"/>
            <a:ext cx="1325880" cy="457200"/>
          </a:xfrm>
          <a:prstGeom prst="rect">
            <a:avLst/>
          </a:prstGeom>
          <a:noFill/>
          <a:ln/>
        </p:spPr>
        <p:txBody>
          <a:bodyPr wrap="square" lIns="0" tIns="0" rIns="0" bIns="0" rtlCol="0" anchor="ctr"/>
          <a:lstStyle/>
          <a:p>
            <a:pPr algn="ctr" indent="0" marL="0">
              <a:buNone/>
            </a:pPr>
            <a:r>
              <a:rPr lang="en-US" sz="1200" b="1" dirty="0">
                <a:solidFill>
                  <a:schemeClr val="bg1"/>
                </a:solidFill>
              </a:rPr>
              <a:t>ResultView</a:t>
            </a:r>
            <a:endParaRPr lang="en-US" sz="1200" dirty="0"/>
          </a:p>
        </p:txBody>
      </p:sp>
      <p:sp>
        <p:nvSpPr>
          <p:cNvPr id="33" name="Shape 27"/>
          <p:cNvSpPr/>
          <p:nvPr/>
        </p:nvSpPr>
        <p:spPr>
          <a:xfrm>
            <a:off x="9454896" y="5074920"/>
            <a:ext cx="1600200" cy="457200"/>
          </a:xfrm>
          <a:prstGeom prst="roundRect">
            <a:avLst>
              <a:gd name="adj" fmla="val 50000"/>
            </a:avLst>
          </a:prstGeom>
          <a:solidFill>
            <a:schemeClr val="accent1"/>
          </a:solidFill>
          <a:ln w="12700">
            <a:solidFill>
              <a:schemeClr val="accent1"/>
            </a:solidFill>
            <a:prstDash val="solid"/>
          </a:ln>
        </p:spPr>
      </p:sp>
      <p:sp>
        <p:nvSpPr>
          <p:cNvPr id="34" name="Text 28"/>
          <p:cNvSpPr txBox="1"/>
          <p:nvPr/>
        </p:nvSpPr>
        <p:spPr>
          <a:xfrm>
            <a:off x="9454896" y="5074920"/>
            <a:ext cx="1600200" cy="457200"/>
          </a:xfrm>
          <a:prstGeom prst="rect">
            <a:avLst/>
          </a:prstGeom>
          <a:noFill/>
          <a:ln/>
        </p:spPr>
        <p:txBody>
          <a:bodyPr wrap="square" lIns="0" tIns="0" rIns="0" bIns="0" rtlCol="0" anchor="ctr"/>
          <a:lstStyle/>
          <a:p>
            <a:pPr algn="ctr" indent="0" marL="0">
              <a:buNone/>
            </a:pPr>
            <a:r>
              <a:rPr lang="en-US" sz="1200" b="1" dirty="0">
                <a:solidFill>
                  <a:schemeClr val="bg1"/>
                </a:solidFill>
              </a:rPr>
              <a:t>CitationPanel</a:t>
            </a:r>
            <a:endParaRPr lang="en-US" sz="1200" dirty="0"/>
          </a:p>
        </p:txBody>
      </p:sp>
      <p:sp>
        <p:nvSpPr>
          <p:cNvPr id="35" name="Shape 29"/>
          <p:cNvSpPr/>
          <p:nvPr/>
        </p:nvSpPr>
        <p:spPr>
          <a:xfrm>
            <a:off x="548640" y="5669280"/>
            <a:ext cx="1600200" cy="457200"/>
          </a:xfrm>
          <a:prstGeom prst="roundRect">
            <a:avLst>
              <a:gd name="adj" fmla="val 50000"/>
            </a:avLst>
          </a:prstGeom>
          <a:solidFill>
            <a:schemeClr val="accent2"/>
          </a:solidFill>
          <a:ln w="12700">
            <a:solidFill>
              <a:schemeClr val="accent2"/>
            </a:solidFill>
            <a:prstDash val="solid"/>
          </a:ln>
        </p:spPr>
      </p:sp>
      <p:sp>
        <p:nvSpPr>
          <p:cNvPr id="36" name="Text 30"/>
          <p:cNvSpPr txBox="1"/>
          <p:nvPr/>
        </p:nvSpPr>
        <p:spPr>
          <a:xfrm>
            <a:off x="548640" y="5669280"/>
            <a:ext cx="1600200" cy="457200"/>
          </a:xfrm>
          <a:prstGeom prst="rect">
            <a:avLst/>
          </a:prstGeom>
          <a:noFill/>
          <a:ln/>
        </p:spPr>
        <p:txBody>
          <a:bodyPr wrap="square" lIns="0" tIns="0" rIns="0" bIns="0" rtlCol="0" anchor="ctr"/>
          <a:lstStyle/>
          <a:p>
            <a:pPr algn="ctr" indent="0" marL="0">
              <a:buNone/>
            </a:pPr>
            <a:r>
              <a:rPr lang="en-US" sz="1200" b="1" dirty="0">
                <a:solidFill>
                  <a:schemeClr val="bg1"/>
                </a:solidFill>
              </a:rPr>
              <a:t>ReportHistory</a:t>
            </a:r>
            <a:endParaRPr lang="en-US" sz="1200" dirty="0"/>
          </a:p>
        </p:txBody>
      </p:sp>
      <p:sp>
        <p:nvSpPr>
          <p:cNvPr id="37" name="Shape 31"/>
          <p:cNvSpPr/>
          <p:nvPr/>
        </p:nvSpPr>
        <p:spPr>
          <a:xfrm>
            <a:off x="2276856" y="5669280"/>
            <a:ext cx="960120" cy="457200"/>
          </a:xfrm>
          <a:prstGeom prst="roundRect">
            <a:avLst>
              <a:gd name="adj" fmla="val 50000"/>
            </a:avLst>
          </a:prstGeom>
          <a:solidFill>
            <a:schemeClr val="accent3"/>
          </a:solidFill>
          <a:ln w="12700">
            <a:solidFill>
              <a:schemeClr val="accent3"/>
            </a:solidFill>
            <a:prstDash val="solid"/>
          </a:ln>
        </p:spPr>
      </p:sp>
      <p:sp>
        <p:nvSpPr>
          <p:cNvPr id="38" name="Text 32"/>
          <p:cNvSpPr txBox="1"/>
          <p:nvPr/>
        </p:nvSpPr>
        <p:spPr>
          <a:xfrm>
            <a:off x="2276856" y="5669280"/>
            <a:ext cx="960120" cy="457200"/>
          </a:xfrm>
          <a:prstGeom prst="rect">
            <a:avLst/>
          </a:prstGeom>
          <a:noFill/>
          <a:ln/>
        </p:spPr>
        <p:txBody>
          <a:bodyPr wrap="square" lIns="0" tIns="0" rIns="0" bIns="0" rtlCol="0" anchor="ctr"/>
          <a:lstStyle/>
          <a:p>
            <a:pPr algn="ctr" indent="0" marL="0">
              <a:buNone/>
            </a:pPr>
            <a:r>
              <a:rPr lang="en-US" sz="1200" b="1" dirty="0">
                <a:solidFill>
                  <a:schemeClr val="bg1"/>
                </a:solidFill>
              </a:rPr>
              <a:t>Charts</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Backend API</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Shape 2"/>
          <p:cNvSpPr/>
          <p:nvPr/>
        </p:nvSpPr>
        <p:spPr>
          <a:xfrm>
            <a:off x="548640" y="1463040"/>
            <a:ext cx="11091672" cy="1417320"/>
          </a:xfrm>
          <a:prstGeom prst="roundRect">
            <a:avLst>
              <a:gd name="adj" fmla="val 6452"/>
            </a:avLst>
          </a:prstGeom>
          <a:solidFill>
            <a:schemeClr val="bg2"/>
          </a:solidFill>
          <a:ln w="12700">
            <a:solidFill>
              <a:schemeClr val="bg2"/>
            </a:solidFill>
            <a:prstDash val="solid"/>
          </a:ln>
        </p:spPr>
      </p:sp>
      <p:sp>
        <p:nvSpPr>
          <p:cNvPr id="6" name="Text 3"/>
          <p:cNvSpPr txBox="1"/>
          <p:nvPr/>
        </p:nvSpPr>
        <p:spPr>
          <a:xfrm>
            <a:off x="777240" y="1645920"/>
            <a:ext cx="1645920" cy="365760"/>
          </a:xfrm>
          <a:prstGeom prst="rect">
            <a:avLst/>
          </a:prstGeom>
          <a:noFill/>
          <a:ln/>
        </p:spPr>
        <p:txBody>
          <a:bodyPr wrap="square" lIns="0" tIns="0" rIns="0" bIns="0" rtlCol="0" anchor="t"/>
          <a:lstStyle/>
          <a:p>
            <a:pPr indent="0" marL="0">
              <a:buNone/>
            </a:pPr>
            <a:r>
              <a:rPr lang="en-US" sz="1600" b="1" dirty="0">
                <a:solidFill>
                  <a:schemeClr val="accent1"/>
                </a:solidFill>
              </a:rPr>
              <a:t>API Layer</a:t>
            </a:r>
            <a:endParaRPr lang="en-US" sz="1600" dirty="0"/>
          </a:p>
        </p:txBody>
      </p:sp>
      <p:sp>
        <p:nvSpPr>
          <p:cNvPr id="7" name="Text 4"/>
          <p:cNvSpPr txBox="1"/>
          <p:nvPr/>
        </p:nvSpPr>
        <p:spPr>
          <a:xfrm>
            <a:off x="777240" y="2029968"/>
            <a:ext cx="1645920" cy="274320"/>
          </a:xfrm>
          <a:prstGeom prst="rect">
            <a:avLst/>
          </a:prstGeom>
          <a:noFill/>
          <a:ln/>
        </p:spPr>
        <p:txBody>
          <a:bodyPr wrap="square" lIns="0" tIns="0" rIns="0" bIns="0" rtlCol="0" anchor="t"/>
          <a:lstStyle/>
          <a:p>
            <a:pPr indent="0" marL="0">
              <a:buNone/>
            </a:pPr>
            <a:r>
              <a:rPr lang="en-US" sz="1200" dirty="0">
                <a:solidFill>
                  <a:schemeClr val="tx2"/>
                </a:solidFill>
              </a:rPr>
              <a:t>Routers</a:t>
            </a:r>
            <a:endParaRPr lang="en-US" sz="1200" dirty="0"/>
          </a:p>
        </p:txBody>
      </p:sp>
      <p:sp>
        <p:nvSpPr>
          <p:cNvPr id="8" name="Shape 5"/>
          <p:cNvSpPr/>
          <p:nvPr/>
        </p:nvSpPr>
        <p:spPr>
          <a:xfrm>
            <a:off x="2560320" y="1645920"/>
            <a:ext cx="1315212" cy="1051560"/>
          </a:xfrm>
          <a:prstGeom prst="roundRect">
            <a:avLst>
              <a:gd name="adj" fmla="val 6957"/>
            </a:avLst>
          </a:prstGeom>
          <a:solidFill>
            <a:schemeClr val="accent1"/>
          </a:solidFill>
          <a:ln w="12700">
            <a:solidFill>
              <a:schemeClr val="accent1"/>
            </a:solidFill>
            <a:prstDash val="solid"/>
          </a:ln>
        </p:spPr>
      </p:sp>
      <p:sp>
        <p:nvSpPr>
          <p:cNvPr id="9" name="Text 6"/>
          <p:cNvSpPr txBox="1"/>
          <p:nvPr/>
        </p:nvSpPr>
        <p:spPr>
          <a:xfrm>
            <a:off x="2606040" y="1645920"/>
            <a:ext cx="1223772" cy="640080"/>
          </a:xfrm>
          <a:prstGeom prst="rect">
            <a:avLst/>
          </a:prstGeom>
          <a:noFill/>
          <a:ln/>
        </p:spPr>
        <p:txBody>
          <a:bodyPr wrap="square" lIns="0" tIns="0" rIns="0" bIns="0" rtlCol="0" anchor="ctr"/>
          <a:lstStyle/>
          <a:p>
            <a:pPr algn="ctr" indent="0" marL="0">
              <a:buNone/>
            </a:pPr>
            <a:r>
              <a:rPr lang="en-US" sz="1400" b="1" dirty="0">
                <a:solidFill>
                  <a:schemeClr val="bg1"/>
                </a:solidFill>
              </a:rPr>
              <a:t>Auth
</a:t>
            </a:r>
            <a:endParaRPr lang="en-US" sz="1400" dirty="0"/>
          </a:p>
        </p:txBody>
      </p:sp>
      <p:sp>
        <p:nvSpPr>
          <p:cNvPr id="10" name="Text 7"/>
          <p:cNvSpPr txBox="1"/>
          <p:nvPr/>
        </p:nvSpPr>
        <p:spPr>
          <a:xfrm>
            <a:off x="2606040" y="2240280"/>
            <a:ext cx="1223772" cy="457200"/>
          </a:xfrm>
          <a:prstGeom prst="rect">
            <a:avLst/>
          </a:prstGeom>
          <a:noFill/>
          <a:ln/>
        </p:spPr>
        <p:txBody>
          <a:bodyPr wrap="square" lIns="0" tIns="0" rIns="0" bIns="0" rtlCol="0" anchor="t"/>
          <a:lstStyle/>
          <a:p>
            <a:pPr algn="ctr" indent="0" marL="0">
              <a:buNone/>
            </a:pPr>
            <a:r>
              <a:rPr lang="en-US" sz="1100" dirty="0">
                <a:solidFill>
                  <a:schemeClr val="bg1"/>
                </a:solidFill>
              </a:rPr>
              <a:t>/login, /register</a:t>
            </a:r>
            <a:endParaRPr lang="en-US" sz="1100" dirty="0"/>
          </a:p>
        </p:txBody>
      </p:sp>
      <p:sp>
        <p:nvSpPr>
          <p:cNvPr id="11" name="Shape 8"/>
          <p:cNvSpPr/>
          <p:nvPr/>
        </p:nvSpPr>
        <p:spPr>
          <a:xfrm>
            <a:off x="4058412" y="1645920"/>
            <a:ext cx="1315212" cy="1051560"/>
          </a:xfrm>
          <a:prstGeom prst="roundRect">
            <a:avLst>
              <a:gd name="adj" fmla="val 6957"/>
            </a:avLst>
          </a:prstGeom>
          <a:solidFill>
            <a:schemeClr val="accent1"/>
          </a:solidFill>
          <a:ln w="12700">
            <a:solidFill>
              <a:schemeClr val="accent1"/>
            </a:solidFill>
            <a:prstDash val="solid"/>
          </a:ln>
        </p:spPr>
      </p:sp>
      <p:sp>
        <p:nvSpPr>
          <p:cNvPr id="12" name="Text 9"/>
          <p:cNvSpPr txBox="1"/>
          <p:nvPr/>
        </p:nvSpPr>
        <p:spPr>
          <a:xfrm>
            <a:off x="4104132" y="1645920"/>
            <a:ext cx="1223772" cy="640080"/>
          </a:xfrm>
          <a:prstGeom prst="rect">
            <a:avLst/>
          </a:prstGeom>
          <a:noFill/>
          <a:ln/>
        </p:spPr>
        <p:txBody>
          <a:bodyPr wrap="square" lIns="0" tIns="0" rIns="0" bIns="0" rtlCol="0" anchor="ctr"/>
          <a:lstStyle/>
          <a:p>
            <a:pPr algn="ctr" indent="0" marL="0">
              <a:buNone/>
            </a:pPr>
            <a:r>
              <a:rPr lang="en-US" sz="1400" b="1" dirty="0">
                <a:solidFill>
                  <a:schemeClr val="bg1"/>
                </a:solidFill>
              </a:rPr>
              <a:t>Project
</a:t>
            </a:r>
            <a:endParaRPr lang="en-US" sz="1400" dirty="0"/>
          </a:p>
        </p:txBody>
      </p:sp>
      <p:sp>
        <p:nvSpPr>
          <p:cNvPr id="13" name="Text 10"/>
          <p:cNvSpPr txBox="1"/>
          <p:nvPr/>
        </p:nvSpPr>
        <p:spPr>
          <a:xfrm>
            <a:off x="4104132" y="2240280"/>
            <a:ext cx="1223772" cy="457200"/>
          </a:xfrm>
          <a:prstGeom prst="rect">
            <a:avLst/>
          </a:prstGeom>
          <a:noFill/>
          <a:ln/>
        </p:spPr>
        <p:txBody>
          <a:bodyPr wrap="square" lIns="0" tIns="0" rIns="0" bIns="0" rtlCol="0" anchor="t"/>
          <a:lstStyle/>
          <a:p>
            <a:pPr algn="ctr" indent="0" marL="0">
              <a:buNone/>
            </a:pPr>
            <a:r>
              <a:rPr lang="en-US" sz="1100" dirty="0">
                <a:solidFill>
                  <a:schemeClr val="bg1"/>
                </a:solidFill>
              </a:rPr>
              <a:t>/projects, /members</a:t>
            </a:r>
            <a:endParaRPr lang="en-US" sz="1100" dirty="0"/>
          </a:p>
        </p:txBody>
      </p:sp>
      <p:sp>
        <p:nvSpPr>
          <p:cNvPr id="14" name="Shape 11"/>
          <p:cNvSpPr/>
          <p:nvPr/>
        </p:nvSpPr>
        <p:spPr>
          <a:xfrm>
            <a:off x="5556504" y="1645920"/>
            <a:ext cx="1315212" cy="1051560"/>
          </a:xfrm>
          <a:prstGeom prst="roundRect">
            <a:avLst>
              <a:gd name="adj" fmla="val 6957"/>
            </a:avLst>
          </a:prstGeom>
          <a:solidFill>
            <a:schemeClr val="accent1"/>
          </a:solidFill>
          <a:ln w="12700">
            <a:solidFill>
              <a:schemeClr val="accent1"/>
            </a:solidFill>
            <a:prstDash val="solid"/>
          </a:ln>
        </p:spPr>
      </p:sp>
      <p:sp>
        <p:nvSpPr>
          <p:cNvPr id="15" name="Text 12"/>
          <p:cNvSpPr txBox="1"/>
          <p:nvPr/>
        </p:nvSpPr>
        <p:spPr>
          <a:xfrm>
            <a:off x="5602224" y="1645920"/>
            <a:ext cx="1223772" cy="640080"/>
          </a:xfrm>
          <a:prstGeom prst="rect">
            <a:avLst/>
          </a:prstGeom>
          <a:noFill/>
          <a:ln/>
        </p:spPr>
        <p:txBody>
          <a:bodyPr wrap="square" lIns="0" tIns="0" rIns="0" bIns="0" rtlCol="0" anchor="ctr"/>
          <a:lstStyle/>
          <a:p>
            <a:pPr algn="ctr" indent="0" marL="0">
              <a:buNone/>
            </a:pPr>
            <a:r>
              <a:rPr lang="en-US" sz="1400" b="1" dirty="0">
                <a:solidFill>
                  <a:schemeClr val="bg1"/>
                </a:solidFill>
              </a:rPr>
              <a:t>Source
</a:t>
            </a:r>
            <a:endParaRPr lang="en-US" sz="1400" dirty="0"/>
          </a:p>
        </p:txBody>
      </p:sp>
      <p:sp>
        <p:nvSpPr>
          <p:cNvPr id="16" name="Text 13"/>
          <p:cNvSpPr txBox="1"/>
          <p:nvPr/>
        </p:nvSpPr>
        <p:spPr>
          <a:xfrm>
            <a:off x="5602224" y="2240280"/>
            <a:ext cx="1223772" cy="457200"/>
          </a:xfrm>
          <a:prstGeom prst="rect">
            <a:avLst/>
          </a:prstGeom>
          <a:noFill/>
          <a:ln/>
        </p:spPr>
        <p:txBody>
          <a:bodyPr wrap="square" lIns="0" tIns="0" rIns="0" bIns="0" rtlCol="0" anchor="t"/>
          <a:lstStyle/>
          <a:p>
            <a:pPr algn="ctr" indent="0" marL="0">
              <a:buNone/>
            </a:pPr>
            <a:r>
              <a:rPr lang="en-US" sz="1100" dirty="0">
                <a:solidFill>
                  <a:schemeClr val="bg1"/>
                </a:solidFill>
              </a:rPr>
              <a:t>/sources, /ingest</a:t>
            </a:r>
            <a:endParaRPr lang="en-US" sz="1100" dirty="0"/>
          </a:p>
        </p:txBody>
      </p:sp>
      <p:sp>
        <p:nvSpPr>
          <p:cNvPr id="17" name="Shape 14"/>
          <p:cNvSpPr/>
          <p:nvPr/>
        </p:nvSpPr>
        <p:spPr>
          <a:xfrm>
            <a:off x="7054596" y="1645920"/>
            <a:ext cx="1315212" cy="1051560"/>
          </a:xfrm>
          <a:prstGeom prst="roundRect">
            <a:avLst>
              <a:gd name="adj" fmla="val 6957"/>
            </a:avLst>
          </a:prstGeom>
          <a:solidFill>
            <a:schemeClr val="accent1"/>
          </a:solidFill>
          <a:ln w="12700">
            <a:solidFill>
              <a:schemeClr val="accent1"/>
            </a:solidFill>
            <a:prstDash val="solid"/>
          </a:ln>
        </p:spPr>
      </p:sp>
      <p:sp>
        <p:nvSpPr>
          <p:cNvPr id="18" name="Text 15"/>
          <p:cNvSpPr txBox="1"/>
          <p:nvPr/>
        </p:nvSpPr>
        <p:spPr>
          <a:xfrm>
            <a:off x="7100316" y="1645920"/>
            <a:ext cx="1223772" cy="640080"/>
          </a:xfrm>
          <a:prstGeom prst="rect">
            <a:avLst/>
          </a:prstGeom>
          <a:noFill/>
          <a:ln/>
        </p:spPr>
        <p:txBody>
          <a:bodyPr wrap="square" lIns="0" tIns="0" rIns="0" bIns="0" rtlCol="0" anchor="ctr"/>
          <a:lstStyle/>
          <a:p>
            <a:pPr algn="ctr" indent="0" marL="0">
              <a:buNone/>
            </a:pPr>
            <a:r>
              <a:rPr lang="en-US" sz="1400" b="1" dirty="0">
                <a:solidFill>
                  <a:schemeClr val="bg1"/>
                </a:solidFill>
              </a:rPr>
              <a:t>Research
</a:t>
            </a:r>
            <a:endParaRPr lang="en-US" sz="1400" dirty="0"/>
          </a:p>
        </p:txBody>
      </p:sp>
      <p:sp>
        <p:nvSpPr>
          <p:cNvPr id="19" name="Text 16"/>
          <p:cNvSpPr txBox="1"/>
          <p:nvPr/>
        </p:nvSpPr>
        <p:spPr>
          <a:xfrm>
            <a:off x="7100316" y="2240280"/>
            <a:ext cx="1223772" cy="457200"/>
          </a:xfrm>
          <a:prstGeom prst="rect">
            <a:avLst/>
          </a:prstGeom>
          <a:noFill/>
          <a:ln/>
        </p:spPr>
        <p:txBody>
          <a:bodyPr wrap="square" lIns="0" tIns="0" rIns="0" bIns="0" rtlCol="0" anchor="t"/>
          <a:lstStyle/>
          <a:p>
            <a:pPr algn="ctr" indent="0" marL="0">
              <a:buNone/>
            </a:pPr>
            <a:r>
              <a:rPr lang="en-US" sz="1100" dirty="0">
                <a:solidFill>
                  <a:schemeClr val="bg1"/>
                </a:solidFill>
              </a:rPr>
              <a:t>/runs</a:t>
            </a:r>
            <a:endParaRPr lang="en-US" sz="1100" dirty="0"/>
          </a:p>
        </p:txBody>
      </p:sp>
      <p:sp>
        <p:nvSpPr>
          <p:cNvPr id="20" name="Shape 17"/>
          <p:cNvSpPr/>
          <p:nvPr/>
        </p:nvSpPr>
        <p:spPr>
          <a:xfrm>
            <a:off x="8552688" y="1645920"/>
            <a:ext cx="1315212" cy="1051560"/>
          </a:xfrm>
          <a:prstGeom prst="roundRect">
            <a:avLst>
              <a:gd name="adj" fmla="val 6957"/>
            </a:avLst>
          </a:prstGeom>
          <a:solidFill>
            <a:schemeClr val="accent1"/>
          </a:solidFill>
          <a:ln w="12700">
            <a:solidFill>
              <a:schemeClr val="accent1"/>
            </a:solidFill>
            <a:prstDash val="solid"/>
          </a:ln>
        </p:spPr>
      </p:sp>
      <p:sp>
        <p:nvSpPr>
          <p:cNvPr id="21" name="Text 18"/>
          <p:cNvSpPr txBox="1"/>
          <p:nvPr/>
        </p:nvSpPr>
        <p:spPr>
          <a:xfrm>
            <a:off x="8598408" y="1645920"/>
            <a:ext cx="1223772" cy="640080"/>
          </a:xfrm>
          <a:prstGeom prst="rect">
            <a:avLst/>
          </a:prstGeom>
          <a:noFill/>
          <a:ln/>
        </p:spPr>
        <p:txBody>
          <a:bodyPr wrap="square" lIns="0" tIns="0" rIns="0" bIns="0" rtlCol="0" anchor="ctr"/>
          <a:lstStyle/>
          <a:p>
            <a:pPr algn="ctr" indent="0" marL="0">
              <a:buNone/>
            </a:pPr>
            <a:r>
              <a:rPr lang="en-US" sz="1400" b="1" dirty="0">
                <a:solidFill>
                  <a:schemeClr val="bg1"/>
                </a:solidFill>
              </a:rPr>
              <a:t>Report
</a:t>
            </a:r>
            <a:endParaRPr lang="en-US" sz="1400" dirty="0"/>
          </a:p>
        </p:txBody>
      </p:sp>
      <p:sp>
        <p:nvSpPr>
          <p:cNvPr id="22" name="Text 19"/>
          <p:cNvSpPr txBox="1"/>
          <p:nvPr/>
        </p:nvSpPr>
        <p:spPr>
          <a:xfrm>
            <a:off x="8598408" y="2240280"/>
            <a:ext cx="1223772" cy="457200"/>
          </a:xfrm>
          <a:prstGeom prst="rect">
            <a:avLst/>
          </a:prstGeom>
          <a:noFill/>
          <a:ln/>
        </p:spPr>
        <p:txBody>
          <a:bodyPr wrap="square" lIns="0" tIns="0" rIns="0" bIns="0" rtlCol="0" anchor="t"/>
          <a:lstStyle/>
          <a:p>
            <a:pPr algn="ctr" indent="0" marL="0">
              <a:buNone/>
            </a:pPr>
            <a:r>
              <a:rPr lang="en-US" sz="1100" dirty="0">
                <a:solidFill>
                  <a:schemeClr val="bg1"/>
                </a:solidFill>
              </a:rPr>
              <a:t>/reports, /history</a:t>
            </a:r>
            <a:endParaRPr lang="en-US" sz="1100" dirty="0"/>
          </a:p>
        </p:txBody>
      </p:sp>
      <p:sp>
        <p:nvSpPr>
          <p:cNvPr id="23" name="Shape 20"/>
          <p:cNvSpPr/>
          <p:nvPr/>
        </p:nvSpPr>
        <p:spPr>
          <a:xfrm>
            <a:off x="10050780" y="1645920"/>
            <a:ext cx="1315212" cy="1051560"/>
          </a:xfrm>
          <a:prstGeom prst="roundRect">
            <a:avLst>
              <a:gd name="adj" fmla="val 6957"/>
            </a:avLst>
          </a:prstGeom>
          <a:solidFill>
            <a:schemeClr val="accent1"/>
          </a:solidFill>
          <a:ln w="12700">
            <a:solidFill>
              <a:schemeClr val="accent1"/>
            </a:solidFill>
            <a:prstDash val="solid"/>
          </a:ln>
        </p:spPr>
      </p:sp>
      <p:sp>
        <p:nvSpPr>
          <p:cNvPr id="24" name="Text 21"/>
          <p:cNvSpPr txBox="1"/>
          <p:nvPr/>
        </p:nvSpPr>
        <p:spPr>
          <a:xfrm>
            <a:off x="10096500" y="1645920"/>
            <a:ext cx="1223772" cy="640080"/>
          </a:xfrm>
          <a:prstGeom prst="rect">
            <a:avLst/>
          </a:prstGeom>
          <a:noFill/>
          <a:ln/>
        </p:spPr>
        <p:txBody>
          <a:bodyPr wrap="square" lIns="0" tIns="0" rIns="0" bIns="0" rtlCol="0" anchor="ctr"/>
          <a:lstStyle/>
          <a:p>
            <a:pPr algn="ctr" indent="0" marL="0">
              <a:buNone/>
            </a:pPr>
            <a:r>
              <a:rPr lang="en-US" sz="1400" b="1" dirty="0">
                <a:solidFill>
                  <a:schemeClr val="bg1"/>
                </a:solidFill>
              </a:rPr>
              <a:t>Admin
</a:t>
            </a:r>
            <a:endParaRPr lang="en-US" sz="1400" dirty="0"/>
          </a:p>
        </p:txBody>
      </p:sp>
      <p:sp>
        <p:nvSpPr>
          <p:cNvPr id="25" name="Text 22"/>
          <p:cNvSpPr txBox="1"/>
          <p:nvPr/>
        </p:nvSpPr>
        <p:spPr>
          <a:xfrm>
            <a:off x="10096500" y="2240280"/>
            <a:ext cx="1223772" cy="457200"/>
          </a:xfrm>
          <a:prstGeom prst="rect">
            <a:avLst/>
          </a:prstGeom>
          <a:noFill/>
          <a:ln/>
        </p:spPr>
        <p:txBody>
          <a:bodyPr wrap="square" lIns="0" tIns="0" rIns="0" bIns="0" rtlCol="0" anchor="t"/>
          <a:lstStyle/>
          <a:p>
            <a:pPr algn="ctr" indent="0" marL="0">
              <a:buNone/>
            </a:pPr>
            <a:r>
              <a:rPr lang="en-US" sz="1100" dirty="0">
                <a:solidFill>
                  <a:schemeClr val="bg1"/>
                </a:solidFill>
              </a:rPr>
              <a:t>/health, /metrics</a:t>
            </a:r>
            <a:endParaRPr lang="en-US" sz="1100" dirty="0"/>
          </a:p>
        </p:txBody>
      </p:sp>
      <p:sp>
        <p:nvSpPr>
          <p:cNvPr id="26" name="Shape 23"/>
          <p:cNvSpPr/>
          <p:nvPr/>
        </p:nvSpPr>
        <p:spPr>
          <a:xfrm>
            <a:off x="548640" y="3154680"/>
            <a:ext cx="11091672" cy="914400"/>
          </a:xfrm>
          <a:prstGeom prst="roundRect">
            <a:avLst>
              <a:gd name="adj" fmla="val 10000"/>
            </a:avLst>
          </a:prstGeom>
          <a:solidFill>
            <a:schemeClr val="bg2"/>
          </a:solidFill>
          <a:ln w="12700">
            <a:solidFill>
              <a:schemeClr val="bg2"/>
            </a:solidFill>
            <a:prstDash val="solid"/>
          </a:ln>
        </p:spPr>
      </p:sp>
      <p:sp>
        <p:nvSpPr>
          <p:cNvPr id="27" name="Text 24"/>
          <p:cNvSpPr txBox="1"/>
          <p:nvPr/>
        </p:nvSpPr>
        <p:spPr>
          <a:xfrm>
            <a:off x="777240" y="3337560"/>
            <a:ext cx="1645920" cy="365760"/>
          </a:xfrm>
          <a:prstGeom prst="rect">
            <a:avLst/>
          </a:prstGeom>
          <a:noFill/>
          <a:ln/>
        </p:spPr>
        <p:txBody>
          <a:bodyPr wrap="square" lIns="0" tIns="0" rIns="0" bIns="0" rtlCol="0" anchor="t"/>
          <a:lstStyle/>
          <a:p>
            <a:pPr indent="0" marL="0">
              <a:buNone/>
            </a:pPr>
            <a:r>
              <a:rPr lang="en-US" sz="1600" b="1" dirty="0">
                <a:solidFill>
                  <a:schemeClr val="accent3"/>
                </a:solidFill>
              </a:rPr>
              <a:t>Service Layer</a:t>
            </a:r>
            <a:endParaRPr lang="en-US" sz="1600" dirty="0"/>
          </a:p>
        </p:txBody>
      </p:sp>
      <p:sp>
        <p:nvSpPr>
          <p:cNvPr id="28" name="Text 25"/>
          <p:cNvSpPr txBox="1"/>
          <p:nvPr/>
        </p:nvSpPr>
        <p:spPr>
          <a:xfrm>
            <a:off x="777240" y="3721608"/>
            <a:ext cx="1645920" cy="274320"/>
          </a:xfrm>
          <a:prstGeom prst="rect">
            <a:avLst/>
          </a:prstGeom>
          <a:noFill/>
          <a:ln/>
        </p:spPr>
        <p:txBody>
          <a:bodyPr wrap="square" lIns="0" tIns="0" rIns="0" bIns="0" rtlCol="0" anchor="t"/>
          <a:lstStyle/>
          <a:p>
            <a:pPr indent="0" marL="0">
              <a:buNone/>
            </a:pPr>
            <a:r>
              <a:rPr lang="en-US" sz="1200" dirty="0">
                <a:solidFill>
                  <a:schemeClr val="tx2"/>
                </a:solidFill>
              </a:rPr>
              <a:t>Business logic</a:t>
            </a:r>
            <a:endParaRPr lang="en-US" sz="1200" dirty="0"/>
          </a:p>
        </p:txBody>
      </p:sp>
      <p:sp>
        <p:nvSpPr>
          <p:cNvPr id="29" name="Shape 26"/>
          <p:cNvSpPr/>
          <p:nvPr/>
        </p:nvSpPr>
        <p:spPr>
          <a:xfrm>
            <a:off x="2560320" y="3337560"/>
            <a:ext cx="1315212" cy="548640"/>
          </a:xfrm>
          <a:prstGeom prst="roundRect">
            <a:avLst>
              <a:gd name="adj" fmla="val 13333"/>
            </a:avLst>
          </a:prstGeom>
          <a:solidFill>
            <a:schemeClr val="accent3"/>
          </a:solidFill>
          <a:ln w="12700">
            <a:solidFill>
              <a:schemeClr val="accent3"/>
            </a:solidFill>
            <a:prstDash val="solid"/>
          </a:ln>
        </p:spPr>
      </p:sp>
      <p:sp>
        <p:nvSpPr>
          <p:cNvPr id="30" name="Text 27"/>
          <p:cNvSpPr txBox="1"/>
          <p:nvPr/>
        </p:nvSpPr>
        <p:spPr>
          <a:xfrm>
            <a:off x="2606040" y="3337560"/>
            <a:ext cx="1223772" cy="548640"/>
          </a:xfrm>
          <a:prstGeom prst="rect">
            <a:avLst/>
          </a:prstGeom>
          <a:noFill/>
          <a:ln/>
        </p:spPr>
        <p:txBody>
          <a:bodyPr wrap="square" lIns="0" tIns="0" rIns="0" bIns="0" rtlCol="0" anchor="ctr"/>
          <a:lstStyle/>
          <a:p>
            <a:pPr algn="ctr" indent="0" marL="0">
              <a:buNone/>
            </a:pPr>
            <a:r>
              <a:rPr lang="en-US" sz="1400" b="1" dirty="0">
                <a:solidFill>
                  <a:schemeClr val="bg1"/>
                </a:solidFill>
              </a:rPr>
              <a:t>Auth Service</a:t>
            </a:r>
            <a:endParaRPr lang="en-US" sz="1400" dirty="0"/>
          </a:p>
        </p:txBody>
      </p:sp>
      <p:sp>
        <p:nvSpPr>
          <p:cNvPr id="31" name="Shape 28"/>
          <p:cNvSpPr/>
          <p:nvPr/>
        </p:nvSpPr>
        <p:spPr>
          <a:xfrm>
            <a:off x="4058412" y="3337560"/>
            <a:ext cx="1315212" cy="548640"/>
          </a:xfrm>
          <a:prstGeom prst="roundRect">
            <a:avLst>
              <a:gd name="adj" fmla="val 13333"/>
            </a:avLst>
          </a:prstGeom>
          <a:solidFill>
            <a:schemeClr val="accent3"/>
          </a:solidFill>
          <a:ln w="12700">
            <a:solidFill>
              <a:schemeClr val="accent3"/>
            </a:solidFill>
            <a:prstDash val="solid"/>
          </a:ln>
        </p:spPr>
      </p:sp>
      <p:sp>
        <p:nvSpPr>
          <p:cNvPr id="32" name="Text 29"/>
          <p:cNvSpPr txBox="1"/>
          <p:nvPr/>
        </p:nvSpPr>
        <p:spPr>
          <a:xfrm>
            <a:off x="4104132" y="3337560"/>
            <a:ext cx="1223772" cy="548640"/>
          </a:xfrm>
          <a:prstGeom prst="rect">
            <a:avLst/>
          </a:prstGeom>
          <a:noFill/>
          <a:ln/>
        </p:spPr>
        <p:txBody>
          <a:bodyPr wrap="square" lIns="0" tIns="0" rIns="0" bIns="0" rtlCol="0" anchor="ctr"/>
          <a:lstStyle/>
          <a:p>
            <a:pPr algn="ctr" indent="0" marL="0">
              <a:buNone/>
            </a:pPr>
            <a:r>
              <a:rPr lang="en-US" sz="1400" b="1" dirty="0">
                <a:solidFill>
                  <a:schemeClr val="bg1"/>
                </a:solidFill>
              </a:rPr>
              <a:t>Project Service</a:t>
            </a:r>
            <a:endParaRPr lang="en-US" sz="1400" dirty="0"/>
          </a:p>
        </p:txBody>
      </p:sp>
      <p:sp>
        <p:nvSpPr>
          <p:cNvPr id="33" name="Shape 30"/>
          <p:cNvSpPr/>
          <p:nvPr/>
        </p:nvSpPr>
        <p:spPr>
          <a:xfrm>
            <a:off x="5556504" y="3337560"/>
            <a:ext cx="1315212" cy="548640"/>
          </a:xfrm>
          <a:prstGeom prst="roundRect">
            <a:avLst>
              <a:gd name="adj" fmla="val 13333"/>
            </a:avLst>
          </a:prstGeom>
          <a:solidFill>
            <a:schemeClr val="accent3"/>
          </a:solidFill>
          <a:ln w="12700">
            <a:solidFill>
              <a:schemeClr val="accent3"/>
            </a:solidFill>
            <a:prstDash val="solid"/>
          </a:ln>
        </p:spPr>
      </p:sp>
      <p:sp>
        <p:nvSpPr>
          <p:cNvPr id="34" name="Text 31"/>
          <p:cNvSpPr txBox="1"/>
          <p:nvPr/>
        </p:nvSpPr>
        <p:spPr>
          <a:xfrm>
            <a:off x="5602224" y="3337560"/>
            <a:ext cx="1223772" cy="548640"/>
          </a:xfrm>
          <a:prstGeom prst="rect">
            <a:avLst/>
          </a:prstGeom>
          <a:noFill/>
          <a:ln/>
        </p:spPr>
        <p:txBody>
          <a:bodyPr wrap="square" lIns="0" tIns="0" rIns="0" bIns="0" rtlCol="0" anchor="ctr"/>
          <a:lstStyle/>
          <a:p>
            <a:pPr algn="ctr" indent="0" marL="0">
              <a:buNone/>
            </a:pPr>
            <a:r>
              <a:rPr lang="en-US" sz="1400" b="1" dirty="0">
                <a:solidFill>
                  <a:schemeClr val="bg1"/>
                </a:solidFill>
              </a:rPr>
              <a:t>Source Service</a:t>
            </a:r>
            <a:endParaRPr lang="en-US" sz="1400" dirty="0"/>
          </a:p>
        </p:txBody>
      </p:sp>
      <p:sp>
        <p:nvSpPr>
          <p:cNvPr id="35" name="Shape 32"/>
          <p:cNvSpPr/>
          <p:nvPr/>
        </p:nvSpPr>
        <p:spPr>
          <a:xfrm>
            <a:off x="7054596" y="3337560"/>
            <a:ext cx="1315212" cy="548640"/>
          </a:xfrm>
          <a:prstGeom prst="roundRect">
            <a:avLst>
              <a:gd name="adj" fmla="val 13333"/>
            </a:avLst>
          </a:prstGeom>
          <a:solidFill>
            <a:schemeClr val="accent3"/>
          </a:solidFill>
          <a:ln w="12700">
            <a:solidFill>
              <a:schemeClr val="accent3"/>
            </a:solidFill>
            <a:prstDash val="solid"/>
          </a:ln>
        </p:spPr>
      </p:sp>
      <p:sp>
        <p:nvSpPr>
          <p:cNvPr id="36" name="Text 33"/>
          <p:cNvSpPr txBox="1"/>
          <p:nvPr/>
        </p:nvSpPr>
        <p:spPr>
          <a:xfrm>
            <a:off x="7100316" y="3337560"/>
            <a:ext cx="1223772" cy="548640"/>
          </a:xfrm>
          <a:prstGeom prst="rect">
            <a:avLst/>
          </a:prstGeom>
          <a:noFill/>
          <a:ln/>
        </p:spPr>
        <p:txBody>
          <a:bodyPr wrap="square" lIns="0" tIns="0" rIns="0" bIns="0" rtlCol="0" anchor="ctr"/>
          <a:lstStyle/>
          <a:p>
            <a:pPr algn="ctr" indent="0" marL="0">
              <a:buNone/>
            </a:pPr>
            <a:r>
              <a:rPr lang="en-US" sz="1400" b="1" dirty="0">
                <a:solidFill>
                  <a:schemeClr val="bg1"/>
                </a:solidFill>
              </a:rPr>
              <a:t>Research Service</a:t>
            </a:r>
            <a:endParaRPr lang="en-US" sz="1400" dirty="0"/>
          </a:p>
        </p:txBody>
      </p:sp>
      <p:sp>
        <p:nvSpPr>
          <p:cNvPr id="37" name="Shape 34"/>
          <p:cNvSpPr/>
          <p:nvPr/>
        </p:nvSpPr>
        <p:spPr>
          <a:xfrm>
            <a:off x="8552688" y="3337560"/>
            <a:ext cx="1315212" cy="548640"/>
          </a:xfrm>
          <a:prstGeom prst="roundRect">
            <a:avLst>
              <a:gd name="adj" fmla="val 13333"/>
            </a:avLst>
          </a:prstGeom>
          <a:solidFill>
            <a:schemeClr val="accent3"/>
          </a:solidFill>
          <a:ln w="12700">
            <a:solidFill>
              <a:schemeClr val="accent3"/>
            </a:solidFill>
            <a:prstDash val="solid"/>
          </a:ln>
        </p:spPr>
      </p:sp>
      <p:sp>
        <p:nvSpPr>
          <p:cNvPr id="38" name="Text 35"/>
          <p:cNvSpPr txBox="1"/>
          <p:nvPr/>
        </p:nvSpPr>
        <p:spPr>
          <a:xfrm>
            <a:off x="8598408" y="3337560"/>
            <a:ext cx="1223772" cy="548640"/>
          </a:xfrm>
          <a:prstGeom prst="rect">
            <a:avLst/>
          </a:prstGeom>
          <a:noFill/>
          <a:ln/>
        </p:spPr>
        <p:txBody>
          <a:bodyPr wrap="square" lIns="0" tIns="0" rIns="0" bIns="0" rtlCol="0" anchor="ctr"/>
          <a:lstStyle/>
          <a:p>
            <a:pPr algn="ctr" indent="0" marL="0">
              <a:buNone/>
            </a:pPr>
            <a:r>
              <a:rPr lang="en-US" sz="1400" b="1" dirty="0">
                <a:solidFill>
                  <a:schemeClr val="bg1"/>
                </a:solidFill>
              </a:rPr>
              <a:t>Report Service</a:t>
            </a:r>
            <a:endParaRPr lang="en-US" sz="1400" dirty="0"/>
          </a:p>
        </p:txBody>
      </p:sp>
      <p:sp>
        <p:nvSpPr>
          <p:cNvPr id="39" name="Shape 36"/>
          <p:cNvSpPr/>
          <p:nvPr/>
        </p:nvSpPr>
        <p:spPr>
          <a:xfrm>
            <a:off x="10050780" y="3337560"/>
            <a:ext cx="1315212" cy="548640"/>
          </a:xfrm>
          <a:prstGeom prst="roundRect">
            <a:avLst>
              <a:gd name="adj" fmla="val 13333"/>
            </a:avLst>
          </a:prstGeom>
          <a:solidFill>
            <a:schemeClr val="accent3"/>
          </a:solidFill>
          <a:ln w="12700">
            <a:solidFill>
              <a:schemeClr val="accent3"/>
            </a:solidFill>
            <a:prstDash val="solid"/>
          </a:ln>
        </p:spPr>
      </p:sp>
      <p:sp>
        <p:nvSpPr>
          <p:cNvPr id="40" name="Text 37"/>
          <p:cNvSpPr txBox="1"/>
          <p:nvPr/>
        </p:nvSpPr>
        <p:spPr>
          <a:xfrm>
            <a:off x="10096500" y="3337560"/>
            <a:ext cx="1223772" cy="548640"/>
          </a:xfrm>
          <a:prstGeom prst="rect">
            <a:avLst/>
          </a:prstGeom>
          <a:noFill/>
          <a:ln/>
        </p:spPr>
        <p:txBody>
          <a:bodyPr wrap="square" lIns="0" tIns="0" rIns="0" bIns="0" rtlCol="0" anchor="ctr"/>
          <a:lstStyle/>
          <a:p>
            <a:pPr algn="ctr" indent="0" marL="0">
              <a:buNone/>
            </a:pPr>
            <a:r>
              <a:rPr lang="en-US" sz="1400" b="1" dirty="0">
                <a:solidFill>
                  <a:schemeClr val="bg1"/>
                </a:solidFill>
              </a:rPr>
              <a:t>Evaluation Service</a:t>
            </a:r>
            <a:endParaRPr lang="en-US" sz="1400" dirty="0"/>
          </a:p>
        </p:txBody>
      </p:sp>
      <p:sp>
        <p:nvSpPr>
          <p:cNvPr id="41" name="Shape 38"/>
          <p:cNvSpPr/>
          <p:nvPr/>
        </p:nvSpPr>
        <p:spPr>
          <a:xfrm>
            <a:off x="548640" y="4297680"/>
            <a:ext cx="11091672" cy="1737360"/>
          </a:xfrm>
          <a:prstGeom prst="roundRect">
            <a:avLst>
              <a:gd name="adj" fmla="val 5263"/>
            </a:avLst>
          </a:prstGeom>
          <a:solidFill>
            <a:schemeClr val="bg2"/>
          </a:solidFill>
          <a:ln w="12700">
            <a:solidFill>
              <a:schemeClr val="bg2"/>
            </a:solidFill>
            <a:prstDash val="solid"/>
          </a:ln>
        </p:spPr>
      </p:sp>
      <p:sp>
        <p:nvSpPr>
          <p:cNvPr id="42" name="Text 39"/>
          <p:cNvSpPr txBox="1"/>
          <p:nvPr/>
        </p:nvSpPr>
        <p:spPr>
          <a:xfrm>
            <a:off x="777240" y="448056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Domain Layer</a:t>
            </a:r>
            <a:endParaRPr lang="en-US" sz="1600" dirty="0"/>
          </a:p>
        </p:txBody>
      </p:sp>
      <p:sp>
        <p:nvSpPr>
          <p:cNvPr id="43" name="Text 40"/>
          <p:cNvSpPr txBox="1"/>
          <p:nvPr/>
        </p:nvSpPr>
        <p:spPr>
          <a:xfrm>
            <a:off x="777240" y="4864608"/>
            <a:ext cx="1737360" cy="274320"/>
          </a:xfrm>
          <a:prstGeom prst="rect">
            <a:avLst/>
          </a:prstGeom>
          <a:noFill/>
          <a:ln/>
        </p:spPr>
        <p:txBody>
          <a:bodyPr wrap="square" lIns="0" tIns="0" rIns="0" bIns="0" rtlCol="0" anchor="t"/>
          <a:lstStyle/>
          <a:p>
            <a:pPr indent="0" marL="0">
              <a:buNone/>
            </a:pPr>
            <a:r>
              <a:rPr lang="en-US" sz="1200" dirty="0">
                <a:solidFill>
                  <a:schemeClr val="tx2"/>
                </a:solidFill>
              </a:rPr>
              <a:t>Pydantic models</a:t>
            </a:r>
            <a:endParaRPr lang="en-US" sz="1200" dirty="0"/>
          </a:p>
        </p:txBody>
      </p:sp>
      <p:sp>
        <p:nvSpPr>
          <p:cNvPr id="44" name="Shape 41"/>
          <p:cNvSpPr/>
          <p:nvPr/>
        </p:nvSpPr>
        <p:spPr>
          <a:xfrm>
            <a:off x="2560320" y="4526280"/>
            <a:ext cx="1691640" cy="502920"/>
          </a:xfrm>
          <a:prstGeom prst="roundRect">
            <a:avLst>
              <a:gd name="adj" fmla="val 50000"/>
            </a:avLst>
          </a:prstGeom>
          <a:solidFill>
            <a:schemeClr val="accent2"/>
          </a:solidFill>
          <a:ln w="12700">
            <a:solidFill>
              <a:schemeClr val="accent2"/>
            </a:solidFill>
            <a:prstDash val="solid"/>
          </a:ln>
        </p:spPr>
      </p:sp>
      <p:sp>
        <p:nvSpPr>
          <p:cNvPr id="45" name="Text 42"/>
          <p:cNvSpPr txBox="1"/>
          <p:nvPr/>
        </p:nvSpPr>
        <p:spPr>
          <a:xfrm>
            <a:off x="2560320" y="452628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User</a:t>
            </a:r>
            <a:endParaRPr lang="en-US" sz="1400" dirty="0"/>
          </a:p>
        </p:txBody>
      </p:sp>
      <p:sp>
        <p:nvSpPr>
          <p:cNvPr id="46" name="Shape 43"/>
          <p:cNvSpPr/>
          <p:nvPr/>
        </p:nvSpPr>
        <p:spPr>
          <a:xfrm>
            <a:off x="4389120" y="4526280"/>
            <a:ext cx="1691640" cy="502920"/>
          </a:xfrm>
          <a:prstGeom prst="roundRect">
            <a:avLst>
              <a:gd name="adj" fmla="val 50000"/>
            </a:avLst>
          </a:prstGeom>
          <a:solidFill>
            <a:schemeClr val="accent2"/>
          </a:solidFill>
          <a:ln w="12700">
            <a:solidFill>
              <a:schemeClr val="accent2"/>
            </a:solidFill>
            <a:prstDash val="solid"/>
          </a:ln>
        </p:spPr>
      </p:sp>
      <p:sp>
        <p:nvSpPr>
          <p:cNvPr id="47" name="Text 44"/>
          <p:cNvSpPr txBox="1"/>
          <p:nvPr/>
        </p:nvSpPr>
        <p:spPr>
          <a:xfrm>
            <a:off x="4389120" y="452628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Project</a:t>
            </a:r>
            <a:endParaRPr lang="en-US" sz="1400" dirty="0"/>
          </a:p>
        </p:txBody>
      </p:sp>
      <p:sp>
        <p:nvSpPr>
          <p:cNvPr id="48" name="Shape 45"/>
          <p:cNvSpPr/>
          <p:nvPr/>
        </p:nvSpPr>
        <p:spPr>
          <a:xfrm>
            <a:off x="6217920" y="4526280"/>
            <a:ext cx="1691640" cy="502920"/>
          </a:xfrm>
          <a:prstGeom prst="roundRect">
            <a:avLst>
              <a:gd name="adj" fmla="val 50000"/>
            </a:avLst>
          </a:prstGeom>
          <a:solidFill>
            <a:schemeClr val="accent2"/>
          </a:solidFill>
          <a:ln w="12700">
            <a:solidFill>
              <a:schemeClr val="accent2"/>
            </a:solidFill>
            <a:prstDash val="solid"/>
          </a:ln>
        </p:spPr>
      </p:sp>
      <p:sp>
        <p:nvSpPr>
          <p:cNvPr id="49" name="Text 46"/>
          <p:cNvSpPr txBox="1"/>
          <p:nvPr/>
        </p:nvSpPr>
        <p:spPr>
          <a:xfrm>
            <a:off x="6217920" y="452628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Source</a:t>
            </a:r>
            <a:endParaRPr lang="en-US" sz="1400" dirty="0"/>
          </a:p>
        </p:txBody>
      </p:sp>
      <p:sp>
        <p:nvSpPr>
          <p:cNvPr id="50" name="Shape 47"/>
          <p:cNvSpPr/>
          <p:nvPr/>
        </p:nvSpPr>
        <p:spPr>
          <a:xfrm>
            <a:off x="8046720" y="4526280"/>
            <a:ext cx="1691640" cy="502920"/>
          </a:xfrm>
          <a:prstGeom prst="roundRect">
            <a:avLst>
              <a:gd name="adj" fmla="val 50000"/>
            </a:avLst>
          </a:prstGeom>
          <a:solidFill>
            <a:schemeClr val="accent2"/>
          </a:solidFill>
          <a:ln w="12700">
            <a:solidFill>
              <a:schemeClr val="accent2"/>
            </a:solidFill>
            <a:prstDash val="solid"/>
          </a:ln>
        </p:spPr>
      </p:sp>
      <p:sp>
        <p:nvSpPr>
          <p:cNvPr id="51" name="Text 48"/>
          <p:cNvSpPr txBox="1"/>
          <p:nvPr/>
        </p:nvSpPr>
        <p:spPr>
          <a:xfrm>
            <a:off x="8046720" y="452628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Document</a:t>
            </a:r>
            <a:endParaRPr lang="en-US" sz="1400" dirty="0"/>
          </a:p>
        </p:txBody>
      </p:sp>
      <p:sp>
        <p:nvSpPr>
          <p:cNvPr id="52" name="Shape 49"/>
          <p:cNvSpPr/>
          <p:nvPr/>
        </p:nvSpPr>
        <p:spPr>
          <a:xfrm>
            <a:off x="9875520" y="4526280"/>
            <a:ext cx="1691640" cy="502920"/>
          </a:xfrm>
          <a:prstGeom prst="roundRect">
            <a:avLst>
              <a:gd name="adj" fmla="val 50000"/>
            </a:avLst>
          </a:prstGeom>
          <a:solidFill>
            <a:schemeClr val="accent2"/>
          </a:solidFill>
          <a:ln w="12700">
            <a:solidFill>
              <a:schemeClr val="accent2"/>
            </a:solidFill>
            <a:prstDash val="solid"/>
          </a:ln>
        </p:spPr>
      </p:sp>
      <p:sp>
        <p:nvSpPr>
          <p:cNvPr id="53" name="Text 50"/>
          <p:cNvSpPr txBox="1"/>
          <p:nvPr/>
        </p:nvSpPr>
        <p:spPr>
          <a:xfrm>
            <a:off x="9875520" y="452628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ResearchRequest</a:t>
            </a:r>
            <a:endParaRPr lang="en-US" sz="1400" dirty="0"/>
          </a:p>
        </p:txBody>
      </p:sp>
      <p:sp>
        <p:nvSpPr>
          <p:cNvPr id="54" name="Shape 51"/>
          <p:cNvSpPr/>
          <p:nvPr/>
        </p:nvSpPr>
        <p:spPr>
          <a:xfrm>
            <a:off x="2560320" y="5257800"/>
            <a:ext cx="1691640" cy="502920"/>
          </a:xfrm>
          <a:prstGeom prst="roundRect">
            <a:avLst>
              <a:gd name="adj" fmla="val 50000"/>
            </a:avLst>
          </a:prstGeom>
          <a:solidFill>
            <a:schemeClr val="accent2"/>
          </a:solidFill>
          <a:ln w="12700">
            <a:solidFill>
              <a:schemeClr val="accent2"/>
            </a:solidFill>
            <a:prstDash val="solid"/>
          </a:ln>
        </p:spPr>
      </p:sp>
      <p:sp>
        <p:nvSpPr>
          <p:cNvPr id="55" name="Text 52"/>
          <p:cNvSpPr txBox="1"/>
          <p:nvPr/>
        </p:nvSpPr>
        <p:spPr>
          <a:xfrm>
            <a:off x="2560320" y="525780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ResearchRun</a:t>
            </a:r>
            <a:endParaRPr lang="en-US" sz="1400" dirty="0"/>
          </a:p>
        </p:txBody>
      </p:sp>
      <p:sp>
        <p:nvSpPr>
          <p:cNvPr id="56" name="Shape 53"/>
          <p:cNvSpPr/>
          <p:nvPr/>
        </p:nvSpPr>
        <p:spPr>
          <a:xfrm>
            <a:off x="4389120" y="5257800"/>
            <a:ext cx="1691640" cy="502920"/>
          </a:xfrm>
          <a:prstGeom prst="roundRect">
            <a:avLst>
              <a:gd name="adj" fmla="val 50000"/>
            </a:avLst>
          </a:prstGeom>
          <a:solidFill>
            <a:schemeClr val="accent2"/>
          </a:solidFill>
          <a:ln w="12700">
            <a:solidFill>
              <a:schemeClr val="accent2"/>
            </a:solidFill>
            <a:prstDash val="solid"/>
          </a:ln>
        </p:spPr>
      </p:sp>
      <p:sp>
        <p:nvSpPr>
          <p:cNvPr id="57" name="Text 54"/>
          <p:cNvSpPr txBox="1"/>
          <p:nvPr/>
        </p:nvSpPr>
        <p:spPr>
          <a:xfrm>
            <a:off x="4389120" y="525780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Report</a:t>
            </a:r>
            <a:endParaRPr lang="en-US" sz="1400" dirty="0"/>
          </a:p>
        </p:txBody>
      </p:sp>
      <p:sp>
        <p:nvSpPr>
          <p:cNvPr id="58" name="Shape 55"/>
          <p:cNvSpPr/>
          <p:nvPr/>
        </p:nvSpPr>
        <p:spPr>
          <a:xfrm>
            <a:off x="6217920" y="5257800"/>
            <a:ext cx="1691640" cy="502920"/>
          </a:xfrm>
          <a:prstGeom prst="roundRect">
            <a:avLst>
              <a:gd name="adj" fmla="val 50000"/>
            </a:avLst>
          </a:prstGeom>
          <a:solidFill>
            <a:schemeClr val="accent2"/>
          </a:solidFill>
          <a:ln w="12700">
            <a:solidFill>
              <a:schemeClr val="accent2"/>
            </a:solidFill>
            <a:prstDash val="solid"/>
          </a:ln>
        </p:spPr>
      </p:sp>
      <p:sp>
        <p:nvSpPr>
          <p:cNvPr id="59" name="Text 56"/>
          <p:cNvSpPr txBox="1"/>
          <p:nvPr/>
        </p:nvSpPr>
        <p:spPr>
          <a:xfrm>
            <a:off x="6217920" y="525780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Evidence</a:t>
            </a:r>
            <a:endParaRPr lang="en-US" sz="1400" dirty="0"/>
          </a:p>
        </p:txBody>
      </p:sp>
      <p:sp>
        <p:nvSpPr>
          <p:cNvPr id="60" name="Shape 57"/>
          <p:cNvSpPr/>
          <p:nvPr/>
        </p:nvSpPr>
        <p:spPr>
          <a:xfrm>
            <a:off x="8046720" y="5257800"/>
            <a:ext cx="1691640" cy="502920"/>
          </a:xfrm>
          <a:prstGeom prst="roundRect">
            <a:avLst>
              <a:gd name="adj" fmla="val 50000"/>
            </a:avLst>
          </a:prstGeom>
          <a:solidFill>
            <a:schemeClr val="accent2"/>
          </a:solidFill>
          <a:ln w="12700">
            <a:solidFill>
              <a:schemeClr val="accent2"/>
            </a:solidFill>
            <a:prstDash val="solid"/>
          </a:ln>
        </p:spPr>
      </p:sp>
      <p:sp>
        <p:nvSpPr>
          <p:cNvPr id="61" name="Text 58"/>
          <p:cNvSpPr txBox="1"/>
          <p:nvPr/>
        </p:nvSpPr>
        <p:spPr>
          <a:xfrm>
            <a:off x="8046720" y="5257800"/>
            <a:ext cx="1691640" cy="502920"/>
          </a:xfrm>
          <a:prstGeom prst="rect">
            <a:avLst/>
          </a:prstGeom>
          <a:noFill/>
          <a:ln/>
        </p:spPr>
        <p:txBody>
          <a:bodyPr wrap="square" lIns="0" tIns="0" rIns="0" bIns="0" rtlCol="0" anchor="ctr"/>
          <a:lstStyle/>
          <a:p>
            <a:pPr algn="ctr" indent="0" marL="0">
              <a:buNone/>
            </a:pPr>
            <a:r>
              <a:rPr lang="en-US" sz="1400" b="1" dirty="0">
                <a:solidFill>
                  <a:schemeClr val="bg1"/>
                </a:solidFill>
              </a:rPr>
              <a:t>Citation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External Integrations</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card Crossref API"/>
          <p:cNvSpPr/>
          <p:nvPr/>
        </p:nvSpPr>
        <p:spPr>
          <a:xfrm>
            <a:off x="548640"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Crossref API"/>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Crossref API</a:t>
            </a:r>
            <a:endParaRPr lang="en-US" sz="1500" dirty="0"/>
          </a:p>
        </p:txBody>
      </p:sp>
      <p:sp>
        <p:nvSpPr>
          <p:cNvPr id="9" name="Text 5"/>
          <p:cNvSpPr txBox="1"/>
          <p:nvPr/>
        </p:nvSpPr>
        <p:spPr>
          <a:xfrm>
            <a:off x="777240"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DOI lookup, metadata</a:t>
            </a:r>
            <a:endParaRPr lang="en-US" sz="1400" dirty="0"/>
          </a:p>
          <a:p>
            <a:pPr marL="177800" indent="-177800">
              <a:spcAft>
                <a:spcPts val="400"/>
              </a:spcAft>
              <a:buSzPct val="100000"/>
              <a:buChar char="•"/>
            </a:pPr>
            <a:r>
              <a:rPr lang="en-US" sz="1400" dirty="0">
                <a:solidFill>
                  <a:schemeClr val="tx1"/>
                </a:solidFill>
              </a:rPr>
              <a:t>Full text (if available)</a:t>
            </a:r>
            <a:endParaRPr lang="en-US" sz="1400" dirty="0"/>
          </a:p>
          <a:p>
            <a:pPr marL="177800" indent="-177800">
              <a:spcAft>
                <a:spcPts val="400"/>
              </a:spcAft>
              <a:buSzPct val="100000"/>
              <a:buChar char="•"/>
            </a:pPr>
            <a:r>
              <a:rPr lang="en-US" sz="1400" dirty="0">
                <a:solidFill>
                  <a:schemeClr val="tx1"/>
                </a:solidFill>
              </a:rPr>
              <a:t>Citations &amp; references</a:t>
            </a:r>
            <a:endParaRPr lang="en-US" sz="1400" dirty="0"/>
          </a:p>
        </p:txBody>
      </p:sp>
      <p:sp>
        <p:nvSpPr>
          <p:cNvPr id="10" name="card OpenAlex API"/>
          <p:cNvSpPr/>
          <p:nvPr/>
        </p:nvSpPr>
        <p:spPr>
          <a:xfrm>
            <a:off x="4337304"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OpenAlex API"/>
          <p:cNvSpPr/>
          <p:nvPr/>
        </p:nvSpPr>
        <p:spPr>
          <a:xfrm>
            <a:off x="4520184"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OpenAlex API</a:t>
            </a:r>
            <a:endParaRPr lang="en-US" sz="1500" dirty="0"/>
          </a:p>
        </p:txBody>
      </p:sp>
      <p:sp>
        <p:nvSpPr>
          <p:cNvPr id="14" name="Text 9"/>
          <p:cNvSpPr txBox="1"/>
          <p:nvPr/>
        </p:nvSpPr>
        <p:spPr>
          <a:xfrm>
            <a:off x="4565904"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Works &amp; authors</a:t>
            </a:r>
            <a:endParaRPr lang="en-US" sz="1400" dirty="0"/>
          </a:p>
          <a:p>
            <a:pPr marL="177800" indent="-177800">
              <a:spcAft>
                <a:spcPts val="400"/>
              </a:spcAft>
              <a:buSzPct val="100000"/>
              <a:buChar char="•"/>
            </a:pPr>
            <a:r>
              <a:rPr lang="en-US" sz="1400" dirty="0">
                <a:solidFill>
                  <a:schemeClr val="tx1"/>
                </a:solidFill>
              </a:rPr>
              <a:t>Abstracts, related works</a:t>
            </a:r>
            <a:endParaRPr lang="en-US" sz="1400" dirty="0"/>
          </a:p>
          <a:p>
            <a:pPr marL="177800" indent="-177800">
              <a:spcAft>
                <a:spcPts val="400"/>
              </a:spcAft>
              <a:buSzPct val="100000"/>
              <a:buChar char="•"/>
            </a:pPr>
            <a:r>
              <a:rPr lang="en-US" sz="1400" dirty="0">
                <a:solidFill>
                  <a:schemeClr val="tx1"/>
                </a:solidFill>
              </a:rPr>
              <a:t>Citations</a:t>
            </a:r>
            <a:endParaRPr lang="en-US" sz="1400" dirty="0"/>
          </a:p>
        </p:txBody>
      </p:sp>
      <p:sp>
        <p:nvSpPr>
          <p:cNvPr id="15" name="card Semantic Scholar (optional)"/>
          <p:cNvSpPr/>
          <p:nvPr/>
        </p:nvSpPr>
        <p:spPr>
          <a:xfrm>
            <a:off x="8125968"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Semantic Scholar (optional)"/>
          <p:cNvSpPr/>
          <p:nvPr/>
        </p:nvSpPr>
        <p:spPr>
          <a:xfrm>
            <a:off x="8308848" y="1645920"/>
            <a:ext cx="475488" cy="475488"/>
          </a:xfrm>
          <a:prstGeom prst="ellipse">
            <a:avLst/>
          </a:prstGeom>
          <a:solidFill>
            <a:schemeClr val="accent6"/>
          </a:solidFill>
          <a:ln w="12700">
            <a:solidFill>
              <a:schemeClr val="accent6"/>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Semantic Scholar (optional)</a:t>
            </a:r>
            <a:endParaRPr lang="en-US" sz="1500" dirty="0"/>
          </a:p>
        </p:txBody>
      </p:sp>
      <p:sp>
        <p:nvSpPr>
          <p:cNvPr id="19" name="Text 13"/>
          <p:cNvSpPr txBox="1"/>
          <p:nvPr/>
        </p:nvSpPr>
        <p:spPr>
          <a:xfrm>
            <a:off x="8354568"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Papers &amp; citations</a:t>
            </a:r>
            <a:endParaRPr lang="en-US" sz="1400" dirty="0"/>
          </a:p>
          <a:p>
            <a:pPr marL="177800" indent="-177800">
              <a:spcAft>
                <a:spcPts val="400"/>
              </a:spcAft>
              <a:buSzPct val="100000"/>
              <a:buChar char="•"/>
            </a:pPr>
            <a:r>
              <a:rPr lang="en-US" sz="1400" dirty="0">
                <a:solidFill>
                  <a:schemeClr val="tx1"/>
                </a:solidFill>
              </a:rPr>
              <a:t>TL;DR / summaries</a:t>
            </a:r>
            <a:endParaRPr lang="en-US" sz="1400" dirty="0"/>
          </a:p>
          <a:p>
            <a:pPr marL="177800" indent="-177800">
              <a:spcAft>
                <a:spcPts val="400"/>
              </a:spcAft>
              <a:buSzPct val="100000"/>
              <a:buChar char="•"/>
            </a:pPr>
            <a:r>
              <a:rPr lang="en-US" sz="1400" dirty="0">
                <a:solidFill>
                  <a:schemeClr val="tx1"/>
                </a:solidFill>
              </a:rPr>
              <a:t>Author info</a:t>
            </a:r>
            <a:endParaRPr lang="en-US" sz="1400" dirty="0"/>
          </a:p>
        </p:txBody>
      </p:sp>
      <p:sp>
        <p:nvSpPr>
          <p:cNvPr id="20" name="card Google Scholar (optional)"/>
          <p:cNvSpPr/>
          <p:nvPr/>
        </p:nvSpPr>
        <p:spPr>
          <a:xfrm>
            <a:off x="548640"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Google Scholar (optional)"/>
          <p:cNvSpPr/>
          <p:nvPr/>
        </p:nvSpPr>
        <p:spPr>
          <a:xfrm>
            <a:off x="731520" y="4114800"/>
            <a:ext cx="475488" cy="475488"/>
          </a:xfrm>
          <a:prstGeom prst="ellipse">
            <a:avLst/>
          </a:prstGeom>
          <a:solidFill>
            <a:schemeClr val="accent2"/>
          </a:solidFill>
          <a:ln w="12700">
            <a:solidFill>
              <a:schemeClr val="accent2"/>
            </a:solidFill>
            <a:prstDash val="solid"/>
          </a:ln>
        </p:spPr>
      </p:sp>
      <p:pic>
        <p:nvPicPr>
          <p:cNvPr id="22" name="Image 3" descr="icon">    </p:cNvPr>
          <p:cNvPicPr>
            <a:picLocks noChangeAspect="1"/>
          </p:cNvPicPr>
          <p:nvPr/>
        </p:nvPicPr>
        <p:blipFill>
          <a:blip r:embed="rId4"/>
          <a:stretch>
            <a:fillRect/>
          </a:stretch>
        </p:blipFill>
        <p:spPr>
          <a:xfrm>
            <a:off x="850392" y="4233672"/>
            <a:ext cx="237744" cy="237744"/>
          </a:xfrm>
          <a:prstGeom prst="rect">
            <a:avLst/>
          </a:prstGeom>
        </p:spPr>
      </p:pic>
      <p:sp>
        <p:nvSpPr>
          <p:cNvPr id="23" name="Text 16"/>
          <p:cNvSpPr txBox="1"/>
          <p:nvPr/>
        </p:nvSpPr>
        <p:spPr>
          <a:xfrm>
            <a:off x="1353312"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Google Scholar (optional)</a:t>
            </a:r>
            <a:endParaRPr lang="en-US" sz="1500" dirty="0"/>
          </a:p>
        </p:txBody>
      </p:sp>
      <p:sp>
        <p:nvSpPr>
          <p:cNvPr id="24" name="Text 17"/>
          <p:cNvSpPr txBox="1"/>
          <p:nvPr/>
        </p:nvSpPr>
        <p:spPr>
          <a:xfrm>
            <a:off x="777240"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Search &amp; metadata</a:t>
            </a:r>
            <a:endParaRPr lang="en-US" sz="1400" dirty="0"/>
          </a:p>
          <a:p>
            <a:pPr marL="177800" indent="-177800">
              <a:spcAft>
                <a:spcPts val="400"/>
              </a:spcAft>
              <a:buSzPct val="100000"/>
              <a:buChar char="•"/>
            </a:pPr>
            <a:r>
              <a:rPr lang="en-US" sz="1400" dirty="0">
                <a:solidFill>
                  <a:schemeClr val="tx1"/>
                </a:solidFill>
              </a:rPr>
              <a:t>Citations</a:t>
            </a:r>
            <a:endParaRPr lang="en-US" sz="1400" dirty="0"/>
          </a:p>
          <a:p>
            <a:pPr marL="177800" indent="-177800">
              <a:spcAft>
                <a:spcPts val="400"/>
              </a:spcAft>
              <a:buSzPct val="100000"/>
              <a:buChar char="•"/>
            </a:pPr>
            <a:r>
              <a:rPr lang="en-US" sz="1400" dirty="0">
                <a:solidFill>
                  <a:schemeClr val="tx1"/>
                </a:solidFill>
              </a:rPr>
              <a:t>Related papers</a:t>
            </a:r>
            <a:endParaRPr lang="en-US" sz="1400" dirty="0"/>
          </a:p>
        </p:txBody>
      </p:sp>
      <p:sp>
        <p:nvSpPr>
          <p:cNvPr id="25" name="card Search &amp; Web Scraping"/>
          <p:cNvSpPr/>
          <p:nvPr/>
        </p:nvSpPr>
        <p:spPr>
          <a:xfrm>
            <a:off x="4337304"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icon Search &amp; Web Scraping"/>
          <p:cNvSpPr/>
          <p:nvPr/>
        </p:nvSpPr>
        <p:spPr>
          <a:xfrm>
            <a:off x="4520184" y="4114800"/>
            <a:ext cx="475488" cy="475488"/>
          </a:xfrm>
          <a:prstGeom prst="ellipse">
            <a:avLst/>
          </a:prstGeom>
          <a:solidFill>
            <a:schemeClr val="accent5"/>
          </a:solidFill>
          <a:ln w="12700">
            <a:solidFill>
              <a:schemeClr val="accent5"/>
            </a:solidFill>
            <a:prstDash val="solid"/>
          </a:ln>
        </p:spPr>
      </p:sp>
      <p:pic>
        <p:nvPicPr>
          <p:cNvPr id="27" name="Image 4" descr="icon">    </p:cNvPr>
          <p:cNvPicPr>
            <a:picLocks noChangeAspect="1"/>
          </p:cNvPicPr>
          <p:nvPr/>
        </p:nvPicPr>
        <p:blipFill>
          <a:blip r:embed="rId5"/>
          <a:stretch>
            <a:fillRect/>
          </a:stretch>
        </p:blipFill>
        <p:spPr>
          <a:xfrm>
            <a:off x="4639056" y="4233672"/>
            <a:ext cx="237744" cy="237744"/>
          </a:xfrm>
          <a:prstGeom prst="rect">
            <a:avLst/>
          </a:prstGeom>
        </p:spPr>
      </p:pic>
      <p:sp>
        <p:nvSpPr>
          <p:cNvPr id="28" name="Text 20"/>
          <p:cNvSpPr txBox="1"/>
          <p:nvPr/>
        </p:nvSpPr>
        <p:spPr>
          <a:xfrm>
            <a:off x="5141976"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Search &amp; Web Scraping</a:t>
            </a:r>
            <a:endParaRPr lang="en-US" sz="1500" dirty="0"/>
          </a:p>
        </p:txBody>
      </p:sp>
      <p:sp>
        <p:nvSpPr>
          <p:cNvPr id="29" name="Text 21"/>
          <p:cNvSpPr txBox="1"/>
          <p:nvPr/>
        </p:nvSpPr>
        <p:spPr>
          <a:xfrm>
            <a:off x="4565904"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SerpAPI / Brave Search</a:t>
            </a:r>
            <a:endParaRPr lang="en-US" sz="1400" dirty="0"/>
          </a:p>
          <a:p>
            <a:pPr marL="177800" indent="-177800">
              <a:spcAft>
                <a:spcPts val="400"/>
              </a:spcAft>
              <a:buSzPct val="100000"/>
              <a:buChar char="•"/>
            </a:pPr>
            <a:r>
              <a:rPr lang="en-US" sz="1400" dirty="0">
                <a:solidFill>
                  <a:schemeClr val="tx1"/>
                </a:solidFill>
              </a:rPr>
              <a:t>Trusted-domain crawlers</a:t>
            </a:r>
            <a:endParaRPr lang="en-US" sz="1400" dirty="0"/>
          </a:p>
          <a:p>
            <a:pPr marL="177800" indent="-177800">
              <a:spcAft>
                <a:spcPts val="400"/>
              </a:spcAft>
              <a:buSzPct val="100000"/>
              <a:buChar char="•"/>
            </a:pPr>
            <a:r>
              <a:rPr lang="en-US" sz="1400" dirty="0">
                <a:solidFill>
                  <a:schemeClr val="tx1"/>
                </a:solidFill>
              </a:rPr>
              <a:t>robots.txt compliance</a:t>
            </a:r>
            <a:endParaRPr lang="en-US" sz="1400" dirty="0"/>
          </a:p>
        </p:txBody>
      </p:sp>
      <p:sp>
        <p:nvSpPr>
          <p:cNvPr id="30" name="card Auth &amp; Rate Limits"/>
          <p:cNvSpPr/>
          <p:nvPr/>
        </p:nvSpPr>
        <p:spPr>
          <a:xfrm>
            <a:off x="8125968"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1" name="icon Auth &amp; Rate Limits"/>
          <p:cNvSpPr/>
          <p:nvPr/>
        </p:nvSpPr>
        <p:spPr>
          <a:xfrm>
            <a:off x="8308848" y="4114800"/>
            <a:ext cx="475488" cy="475488"/>
          </a:xfrm>
          <a:prstGeom prst="ellipse">
            <a:avLst/>
          </a:prstGeom>
          <a:solidFill>
            <a:schemeClr val="accent4"/>
          </a:solidFill>
          <a:ln w="12700">
            <a:solidFill>
              <a:schemeClr val="accent4"/>
            </a:solidFill>
            <a:prstDash val="solid"/>
          </a:ln>
        </p:spPr>
      </p:sp>
      <p:pic>
        <p:nvPicPr>
          <p:cNvPr id="32" name="Image 5" descr="icon">    </p:cNvPr>
          <p:cNvPicPr>
            <a:picLocks noChangeAspect="1"/>
          </p:cNvPicPr>
          <p:nvPr/>
        </p:nvPicPr>
        <p:blipFill>
          <a:blip r:embed="rId6"/>
          <a:stretch>
            <a:fillRect/>
          </a:stretch>
        </p:blipFill>
        <p:spPr>
          <a:xfrm>
            <a:off x="8427720" y="4233672"/>
            <a:ext cx="237744" cy="237744"/>
          </a:xfrm>
          <a:prstGeom prst="rect">
            <a:avLst/>
          </a:prstGeom>
        </p:spPr>
      </p:pic>
      <p:sp>
        <p:nvSpPr>
          <p:cNvPr id="33" name="Text 24"/>
          <p:cNvSpPr txBox="1"/>
          <p:nvPr/>
        </p:nvSpPr>
        <p:spPr>
          <a:xfrm>
            <a:off x="8930640"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Auth &amp; Rate Limits</a:t>
            </a:r>
            <a:endParaRPr lang="en-US" sz="1500" dirty="0"/>
          </a:p>
        </p:txBody>
      </p:sp>
      <p:sp>
        <p:nvSpPr>
          <p:cNvPr id="34" name="Text 25"/>
          <p:cNvSpPr txBox="1"/>
          <p:nvPr/>
        </p:nvSpPr>
        <p:spPr>
          <a:xfrm>
            <a:off x="8354568"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API keys (vault), OAuth 2.0</a:t>
            </a:r>
            <a:endParaRPr lang="en-US" sz="1400" dirty="0"/>
          </a:p>
          <a:p>
            <a:pPr marL="177800" indent="-177800">
              <a:spcAft>
                <a:spcPts val="400"/>
              </a:spcAft>
              <a:buSzPct val="100000"/>
              <a:buChar char="•"/>
            </a:pPr>
            <a:r>
              <a:rPr lang="en-US" sz="1400" dirty="0">
                <a:solidFill>
                  <a:schemeClr val="tx1"/>
                </a:solidFill>
              </a:rPr>
              <a:t>Rate limiting</a:t>
            </a:r>
            <a:endParaRPr lang="en-US" sz="1400" dirty="0"/>
          </a:p>
          <a:p>
            <a:pPr marL="177800" indent="-177800">
              <a:spcAft>
                <a:spcPts val="400"/>
              </a:spcAft>
              <a:buSzPct val="100000"/>
              <a:buChar char="•"/>
            </a:pPr>
            <a:r>
              <a:rPr lang="en-US" sz="1400" dirty="0">
                <a:solidFill>
                  <a:schemeClr val="tx1"/>
                </a:solidFill>
              </a:rPr>
              <a:t>Retry / backoff</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Security &amp; Trust Layer</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card Input Validation"/>
          <p:cNvSpPr/>
          <p:nvPr/>
        </p:nvSpPr>
        <p:spPr>
          <a:xfrm>
            <a:off x="548640" y="1463040"/>
            <a:ext cx="3514344" cy="22860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Input Validation"/>
          <p:cNvSpPr/>
          <p:nvPr/>
        </p:nvSpPr>
        <p:spPr>
          <a:xfrm>
            <a:off x="731520" y="1645920"/>
            <a:ext cx="475488" cy="475488"/>
          </a:xfrm>
          <a:prstGeom prst="ellipse">
            <a:avLst/>
          </a:prstGeom>
          <a:solidFill>
            <a:schemeClr val="accent4"/>
          </a:solidFill>
          <a:ln w="12700">
            <a:solidFill>
              <a:schemeClr val="accent4"/>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Input Validation</a:t>
            </a:r>
            <a:endParaRPr lang="en-US" sz="1500" dirty="0"/>
          </a:p>
        </p:txBody>
      </p:sp>
      <p:sp>
        <p:nvSpPr>
          <p:cNvPr id="9" name="Text 5"/>
          <p:cNvSpPr txBox="1"/>
          <p:nvPr/>
        </p:nvSpPr>
        <p:spPr>
          <a:xfrm>
            <a:off x="777240" y="2286000"/>
            <a:ext cx="310286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XSS / SSRF prevention</a:t>
            </a:r>
            <a:endParaRPr lang="en-US" sz="1400" dirty="0"/>
          </a:p>
          <a:p>
            <a:pPr marL="177800" indent="-177800">
              <a:spcAft>
                <a:spcPts val="400"/>
              </a:spcAft>
              <a:buSzPct val="100000"/>
              <a:buChar char="•"/>
            </a:pPr>
            <a:r>
              <a:rPr lang="en-US" sz="1400" dirty="0">
                <a:solidFill>
                  <a:schemeClr val="tx1"/>
                </a:solidFill>
              </a:rPr>
              <a:t>File type verification</a:t>
            </a:r>
            <a:endParaRPr lang="en-US" sz="1400" dirty="0"/>
          </a:p>
          <a:p>
            <a:pPr marL="177800" indent="-177800">
              <a:spcAft>
                <a:spcPts val="400"/>
              </a:spcAft>
              <a:buSzPct val="100000"/>
              <a:buChar char="•"/>
            </a:pPr>
            <a:r>
              <a:rPr lang="en-US" sz="1400" dirty="0">
                <a:solidFill>
                  <a:schemeClr val="tx1"/>
                </a:solidFill>
              </a:rPr>
              <a:t>Malicious content scan</a:t>
            </a:r>
            <a:endParaRPr lang="en-US" sz="1400" dirty="0"/>
          </a:p>
        </p:txBody>
      </p:sp>
      <p:sp>
        <p:nvSpPr>
          <p:cNvPr id="10" name="card Virus &amp; Malware Scanning"/>
          <p:cNvSpPr/>
          <p:nvPr/>
        </p:nvSpPr>
        <p:spPr>
          <a:xfrm>
            <a:off x="4337304" y="1463040"/>
            <a:ext cx="3514344" cy="22860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Virus &amp; Malware Scanning"/>
          <p:cNvSpPr/>
          <p:nvPr/>
        </p:nvSpPr>
        <p:spPr>
          <a:xfrm>
            <a:off x="4520184" y="1645920"/>
            <a:ext cx="475488" cy="475488"/>
          </a:xfrm>
          <a:prstGeom prst="ellipse">
            <a:avLst/>
          </a:prstGeom>
          <a:solidFill>
            <a:schemeClr val="accent2"/>
          </a:solidFill>
          <a:ln w="12700">
            <a:solidFill>
              <a:schemeClr val="accent2"/>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Virus &amp; Malware Scanning</a:t>
            </a:r>
            <a:endParaRPr lang="en-US" sz="1500" dirty="0"/>
          </a:p>
        </p:txBody>
      </p:sp>
      <p:sp>
        <p:nvSpPr>
          <p:cNvPr id="14" name="Text 9"/>
          <p:cNvSpPr txBox="1"/>
          <p:nvPr/>
        </p:nvSpPr>
        <p:spPr>
          <a:xfrm>
            <a:off x="4565904" y="2286000"/>
            <a:ext cx="310286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ClamAV / multi-engine</a:t>
            </a:r>
            <a:endParaRPr lang="en-US" sz="1400" dirty="0"/>
          </a:p>
          <a:p>
            <a:pPr marL="177800" indent="-177800">
              <a:spcAft>
                <a:spcPts val="400"/>
              </a:spcAft>
              <a:buSzPct val="100000"/>
              <a:buChar char="•"/>
            </a:pPr>
            <a:r>
              <a:rPr lang="en-US" sz="1400" dirty="0">
                <a:solidFill>
                  <a:schemeClr val="tx1"/>
                </a:solidFill>
              </a:rPr>
              <a:t>Archive scan (DOCX / PPTX)</a:t>
            </a:r>
            <a:endParaRPr lang="en-US" sz="1400" dirty="0"/>
          </a:p>
        </p:txBody>
      </p:sp>
      <p:sp>
        <p:nvSpPr>
          <p:cNvPr id="15" name="card Access Control"/>
          <p:cNvSpPr/>
          <p:nvPr/>
        </p:nvSpPr>
        <p:spPr>
          <a:xfrm>
            <a:off x="8125968" y="1463040"/>
            <a:ext cx="3514344" cy="22860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Access Control"/>
          <p:cNvSpPr/>
          <p:nvPr/>
        </p:nvSpPr>
        <p:spPr>
          <a:xfrm>
            <a:off x="8308848" y="1645920"/>
            <a:ext cx="475488" cy="475488"/>
          </a:xfrm>
          <a:prstGeom prst="ellipse">
            <a:avLst/>
          </a:prstGeom>
          <a:solidFill>
            <a:schemeClr val="accent3"/>
          </a:solidFill>
          <a:ln w="12700">
            <a:solidFill>
              <a:schemeClr val="accent3"/>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Access Control</a:t>
            </a:r>
            <a:endParaRPr lang="en-US" sz="1500" dirty="0"/>
          </a:p>
        </p:txBody>
      </p:sp>
      <p:sp>
        <p:nvSpPr>
          <p:cNvPr id="19" name="Text 13"/>
          <p:cNvSpPr txBox="1"/>
          <p:nvPr/>
        </p:nvSpPr>
        <p:spPr>
          <a:xfrm>
            <a:off x="8354568" y="2286000"/>
            <a:ext cx="310286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JWT + RBAC</a:t>
            </a:r>
            <a:endParaRPr lang="en-US" sz="1400" dirty="0"/>
          </a:p>
          <a:p>
            <a:pPr marL="177800" indent="-177800">
              <a:spcAft>
                <a:spcPts val="400"/>
              </a:spcAft>
              <a:buSzPct val="100000"/>
              <a:buChar char="•"/>
            </a:pPr>
            <a:r>
              <a:rPr lang="en-US" sz="1400" dirty="0">
                <a:solidFill>
                  <a:schemeClr val="tx1"/>
                </a:solidFill>
              </a:rPr>
              <a:t>Project isolation</a:t>
            </a:r>
            <a:endParaRPr lang="en-US" sz="1400" dirty="0"/>
          </a:p>
          <a:p>
            <a:pPr marL="177800" indent="-177800">
              <a:spcAft>
                <a:spcPts val="400"/>
              </a:spcAft>
              <a:buSzPct val="100000"/>
              <a:buChar char="•"/>
            </a:pPr>
            <a:r>
              <a:rPr lang="en-US" sz="1400" dirty="0">
                <a:solidFill>
                  <a:schemeClr val="tx1"/>
                </a:solidFill>
              </a:rPr>
              <a:t>Ownership validation</a:t>
            </a:r>
            <a:endParaRPr lang="en-US" sz="1400" dirty="0"/>
          </a:p>
        </p:txBody>
      </p:sp>
      <p:sp>
        <p:nvSpPr>
          <p:cNvPr id="20" name="card Audit Logging"/>
          <p:cNvSpPr/>
          <p:nvPr/>
        </p:nvSpPr>
        <p:spPr>
          <a:xfrm>
            <a:off x="548640" y="4023360"/>
            <a:ext cx="5408676" cy="2103120"/>
          </a:xfrm>
          <a:prstGeom prst="roundRect">
            <a:avLst>
              <a:gd name="adj" fmla="val 43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Audit Logging"/>
          <p:cNvSpPr/>
          <p:nvPr/>
        </p:nvSpPr>
        <p:spPr>
          <a:xfrm>
            <a:off x="731520" y="4206240"/>
            <a:ext cx="475488" cy="475488"/>
          </a:xfrm>
          <a:prstGeom prst="ellipse">
            <a:avLst/>
          </a:prstGeom>
          <a:solidFill>
            <a:schemeClr val="accent5"/>
          </a:solidFill>
          <a:ln w="12700">
            <a:solidFill>
              <a:schemeClr val="accent5"/>
            </a:solidFill>
            <a:prstDash val="solid"/>
          </a:ln>
        </p:spPr>
      </p:sp>
      <p:pic>
        <p:nvPicPr>
          <p:cNvPr id="22" name="Image 3" descr="icon">    </p:cNvPr>
          <p:cNvPicPr>
            <a:picLocks noChangeAspect="1"/>
          </p:cNvPicPr>
          <p:nvPr/>
        </p:nvPicPr>
        <p:blipFill>
          <a:blip r:embed="rId4"/>
          <a:stretch>
            <a:fillRect/>
          </a:stretch>
        </p:blipFill>
        <p:spPr>
          <a:xfrm>
            <a:off x="850392" y="4325112"/>
            <a:ext cx="237744" cy="237744"/>
          </a:xfrm>
          <a:prstGeom prst="rect">
            <a:avLst/>
          </a:prstGeom>
        </p:spPr>
      </p:pic>
      <p:sp>
        <p:nvSpPr>
          <p:cNvPr id="23" name="Text 16"/>
          <p:cNvSpPr txBox="1"/>
          <p:nvPr/>
        </p:nvSpPr>
        <p:spPr>
          <a:xfrm>
            <a:off x="1353312" y="4178808"/>
            <a:ext cx="4448556" cy="530352"/>
          </a:xfrm>
          <a:prstGeom prst="rect">
            <a:avLst/>
          </a:prstGeom>
          <a:noFill/>
          <a:ln/>
        </p:spPr>
        <p:txBody>
          <a:bodyPr wrap="square" lIns="0" tIns="0" rIns="0" bIns="0" rtlCol="0" anchor="ctr"/>
          <a:lstStyle/>
          <a:p>
            <a:pPr indent="0" marL="0">
              <a:buNone/>
            </a:pPr>
            <a:r>
              <a:rPr lang="en-US" sz="1500" b="1" dirty="0">
                <a:solidFill>
                  <a:schemeClr val="tx1"/>
                </a:solidFill>
              </a:rPr>
              <a:t>Audit Logging</a:t>
            </a:r>
            <a:endParaRPr lang="en-US" sz="1500" dirty="0"/>
          </a:p>
        </p:txBody>
      </p:sp>
      <p:sp>
        <p:nvSpPr>
          <p:cNvPr id="24" name="Text 17"/>
          <p:cNvSpPr txBox="1"/>
          <p:nvPr/>
        </p:nvSpPr>
        <p:spPr>
          <a:xfrm>
            <a:off x="777240" y="4846320"/>
            <a:ext cx="4997196"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All actions &amp; API calls</a:t>
            </a:r>
            <a:endParaRPr lang="en-US" sz="1400" dirty="0"/>
          </a:p>
          <a:p>
            <a:pPr marL="177800" indent="-177800">
              <a:spcAft>
                <a:spcPts val="400"/>
              </a:spcAft>
              <a:buSzPct val="100000"/>
              <a:buChar char="•"/>
            </a:pPr>
            <a:r>
              <a:rPr lang="en-US" sz="1400" dirty="0">
                <a:solidFill>
                  <a:schemeClr val="tx1"/>
                </a:solidFill>
              </a:rPr>
              <a:t>Immutable logs</a:t>
            </a:r>
            <a:endParaRPr lang="en-US" sz="1400" dirty="0"/>
          </a:p>
        </p:txBody>
      </p:sp>
      <p:sp>
        <p:nvSpPr>
          <p:cNvPr id="25" name="card Data Privacy"/>
          <p:cNvSpPr/>
          <p:nvPr/>
        </p:nvSpPr>
        <p:spPr>
          <a:xfrm>
            <a:off x="6231636" y="4023360"/>
            <a:ext cx="5408676" cy="2103120"/>
          </a:xfrm>
          <a:prstGeom prst="roundRect">
            <a:avLst>
              <a:gd name="adj" fmla="val 434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icon Data Privacy"/>
          <p:cNvSpPr/>
          <p:nvPr/>
        </p:nvSpPr>
        <p:spPr>
          <a:xfrm>
            <a:off x="6414516" y="4206240"/>
            <a:ext cx="475488" cy="475488"/>
          </a:xfrm>
          <a:prstGeom prst="ellipse">
            <a:avLst/>
          </a:prstGeom>
          <a:solidFill>
            <a:schemeClr val="accent6"/>
          </a:solidFill>
          <a:ln w="12700">
            <a:solidFill>
              <a:schemeClr val="accent6"/>
            </a:solidFill>
            <a:prstDash val="solid"/>
          </a:ln>
        </p:spPr>
      </p:sp>
      <p:pic>
        <p:nvPicPr>
          <p:cNvPr id="27" name="Image 4" descr="icon">    </p:cNvPr>
          <p:cNvPicPr>
            <a:picLocks noChangeAspect="1"/>
          </p:cNvPicPr>
          <p:nvPr/>
        </p:nvPicPr>
        <p:blipFill>
          <a:blip r:embed="rId5"/>
          <a:stretch>
            <a:fillRect/>
          </a:stretch>
        </p:blipFill>
        <p:spPr>
          <a:xfrm>
            <a:off x="6533388" y="4325112"/>
            <a:ext cx="237744" cy="237744"/>
          </a:xfrm>
          <a:prstGeom prst="rect">
            <a:avLst/>
          </a:prstGeom>
        </p:spPr>
      </p:pic>
      <p:sp>
        <p:nvSpPr>
          <p:cNvPr id="28" name="Text 20"/>
          <p:cNvSpPr txBox="1"/>
          <p:nvPr/>
        </p:nvSpPr>
        <p:spPr>
          <a:xfrm>
            <a:off x="7036308" y="4178808"/>
            <a:ext cx="4448556" cy="530352"/>
          </a:xfrm>
          <a:prstGeom prst="rect">
            <a:avLst/>
          </a:prstGeom>
          <a:noFill/>
          <a:ln/>
        </p:spPr>
        <p:txBody>
          <a:bodyPr wrap="square" lIns="0" tIns="0" rIns="0" bIns="0" rtlCol="0" anchor="ctr"/>
          <a:lstStyle/>
          <a:p>
            <a:pPr indent="0" marL="0">
              <a:buNone/>
            </a:pPr>
            <a:r>
              <a:rPr lang="en-US" sz="1500" b="1" dirty="0">
                <a:solidFill>
                  <a:schemeClr val="tx1"/>
                </a:solidFill>
              </a:rPr>
              <a:t>Data Privacy</a:t>
            </a:r>
            <a:endParaRPr lang="en-US" sz="1500" dirty="0"/>
          </a:p>
        </p:txBody>
      </p:sp>
      <p:sp>
        <p:nvSpPr>
          <p:cNvPr id="29" name="Text 21"/>
          <p:cNvSpPr txBox="1"/>
          <p:nvPr/>
        </p:nvSpPr>
        <p:spPr>
          <a:xfrm>
            <a:off x="6460236" y="4846320"/>
            <a:ext cx="4997196"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PII detection &amp; masking</a:t>
            </a:r>
            <a:endParaRPr lang="en-US" sz="1400" dirty="0"/>
          </a:p>
          <a:p>
            <a:pPr marL="177800" indent="-177800">
              <a:spcAft>
                <a:spcPts val="400"/>
              </a:spcAft>
              <a:buSzPct val="100000"/>
              <a:buChar char="•"/>
            </a:pPr>
            <a:r>
              <a:rPr lang="en-US" sz="1400" dirty="0">
                <a:solidFill>
                  <a:schemeClr val="tx1"/>
                </a:solidFill>
              </a:rPr>
              <a:t>GDPR compliance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Multi-Source Ingestion: What We Accept</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card Files (local upload)"/>
          <p:cNvSpPr/>
          <p:nvPr/>
        </p:nvSpPr>
        <p:spPr>
          <a:xfrm>
            <a:off x="548640"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Files (local upload)"/>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Files (local upload)</a:t>
            </a:r>
            <a:endParaRPr lang="en-US" sz="1500" dirty="0"/>
          </a:p>
        </p:txBody>
      </p:sp>
      <p:sp>
        <p:nvSpPr>
          <p:cNvPr id="9" name="Text 5"/>
          <p:cNvSpPr txBox="1"/>
          <p:nvPr/>
        </p:nvSpPr>
        <p:spPr>
          <a:xfrm>
            <a:off x="777240"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PDF, DOCX, PPTX, HTML</a:t>
            </a:r>
            <a:endParaRPr lang="en-US" sz="1400" dirty="0"/>
          </a:p>
          <a:p>
            <a:pPr marL="177800" indent="-177800">
              <a:spcAft>
                <a:spcPts val="400"/>
              </a:spcAft>
              <a:buSzPct val="100000"/>
              <a:buChar char="•"/>
            </a:pPr>
            <a:r>
              <a:rPr lang="en-US" sz="1400" dirty="0">
                <a:solidFill>
                  <a:schemeClr val="tx1"/>
                </a:solidFill>
              </a:rPr>
              <a:t>MD, TXT, XLSX, CSV, XML</a:t>
            </a:r>
            <a:endParaRPr lang="en-US" sz="1400" dirty="0"/>
          </a:p>
          <a:p>
            <a:pPr marL="177800" indent="-177800">
              <a:spcAft>
                <a:spcPts val="400"/>
              </a:spcAft>
              <a:buSzPct val="100000"/>
              <a:buChar char="•"/>
            </a:pPr>
            <a:r>
              <a:rPr lang="en-US" sz="1400" dirty="0">
                <a:solidFill>
                  <a:schemeClr val="tx1"/>
                </a:solidFill>
              </a:rPr>
              <a:t>Images, audio, video</a:t>
            </a:r>
            <a:endParaRPr lang="en-US" sz="1400" dirty="0"/>
          </a:p>
        </p:txBody>
      </p:sp>
      <p:sp>
        <p:nvSpPr>
          <p:cNvPr id="10" name="card Web Sources"/>
          <p:cNvSpPr/>
          <p:nvPr/>
        </p:nvSpPr>
        <p:spPr>
          <a:xfrm>
            <a:off x="4337304"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Web Sources"/>
          <p:cNvSpPr/>
          <p:nvPr/>
        </p:nvSpPr>
        <p:spPr>
          <a:xfrm>
            <a:off x="4520184"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Web Sources</a:t>
            </a:r>
            <a:endParaRPr lang="en-US" sz="1500" dirty="0"/>
          </a:p>
        </p:txBody>
      </p:sp>
      <p:sp>
        <p:nvSpPr>
          <p:cNvPr id="14" name="Text 9"/>
          <p:cNvSpPr txBox="1"/>
          <p:nvPr/>
        </p:nvSpPr>
        <p:spPr>
          <a:xfrm>
            <a:off x="4565904"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URLs (security scanned)</a:t>
            </a:r>
            <a:endParaRPr lang="en-US" sz="1400" dirty="0"/>
          </a:p>
          <a:p>
            <a:pPr marL="177800" indent="-177800">
              <a:spcAft>
                <a:spcPts val="400"/>
              </a:spcAft>
              <a:buSzPct val="100000"/>
              <a:buChar char="•"/>
            </a:pPr>
            <a:r>
              <a:rPr lang="en-US" sz="1400" dirty="0">
                <a:solidFill>
                  <a:schemeClr val="tx1"/>
                </a:solidFill>
              </a:rPr>
              <a:t>Google Scholar, news</a:t>
            </a:r>
            <a:endParaRPr lang="en-US" sz="1400" dirty="0"/>
          </a:p>
          <a:p>
            <a:pPr marL="177800" indent="-177800">
              <a:spcAft>
                <a:spcPts val="400"/>
              </a:spcAft>
              <a:buSzPct val="100000"/>
              <a:buChar char="•"/>
            </a:pPr>
            <a:r>
              <a:rPr lang="en-US" sz="1400" dirty="0">
                <a:solidFill>
                  <a:schemeClr val="tx1"/>
                </a:solidFill>
              </a:rPr>
              <a:t>Institutional sites, .gov</a:t>
            </a:r>
            <a:endParaRPr lang="en-US" sz="1400" dirty="0"/>
          </a:p>
        </p:txBody>
      </p:sp>
      <p:sp>
        <p:nvSpPr>
          <p:cNvPr id="15" name="card Trusted Databases"/>
          <p:cNvSpPr/>
          <p:nvPr/>
        </p:nvSpPr>
        <p:spPr>
          <a:xfrm>
            <a:off x="8125968"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Trusted Databases"/>
          <p:cNvSpPr/>
          <p:nvPr/>
        </p:nvSpPr>
        <p:spPr>
          <a:xfrm>
            <a:off x="8308848" y="1645920"/>
            <a:ext cx="475488" cy="475488"/>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Trusted Databases</a:t>
            </a:r>
            <a:endParaRPr lang="en-US" sz="1500" dirty="0"/>
          </a:p>
        </p:txBody>
      </p:sp>
      <p:sp>
        <p:nvSpPr>
          <p:cNvPr id="19" name="Text 13"/>
          <p:cNvSpPr txBox="1"/>
          <p:nvPr/>
        </p:nvSpPr>
        <p:spPr>
          <a:xfrm>
            <a:off x="8354568"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Crossref, OpenAlex</a:t>
            </a:r>
            <a:endParaRPr lang="en-US" sz="1400" dirty="0"/>
          </a:p>
          <a:p>
            <a:pPr marL="177800" indent="-177800">
              <a:spcAft>
                <a:spcPts val="400"/>
              </a:spcAft>
              <a:buSzPct val="100000"/>
              <a:buChar char="•"/>
            </a:pPr>
            <a:r>
              <a:rPr lang="en-US" sz="1400" dirty="0">
                <a:solidFill>
                  <a:schemeClr val="tx1"/>
                </a:solidFill>
              </a:rPr>
              <a:t>PubMed, arXiv</a:t>
            </a:r>
            <a:endParaRPr lang="en-US" sz="1400" dirty="0"/>
          </a:p>
          <a:p>
            <a:pPr marL="177800" indent="-177800">
              <a:spcAft>
                <a:spcPts val="400"/>
              </a:spcAft>
              <a:buSzPct val="100000"/>
              <a:buChar char="•"/>
            </a:pPr>
            <a:r>
              <a:rPr lang="en-US" sz="1400" dirty="0">
                <a:solidFill>
                  <a:schemeClr val="tx1"/>
                </a:solidFill>
              </a:rPr>
              <a:t>Semantic Scholar</a:t>
            </a:r>
            <a:endParaRPr lang="en-US" sz="1400" dirty="0"/>
          </a:p>
        </p:txBody>
      </p:sp>
      <p:sp>
        <p:nvSpPr>
          <p:cNvPr id="20" name="card Institutional"/>
          <p:cNvSpPr/>
          <p:nvPr/>
        </p:nvSpPr>
        <p:spPr>
          <a:xfrm>
            <a:off x="548640"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Institutional"/>
          <p:cNvSpPr/>
          <p:nvPr/>
        </p:nvSpPr>
        <p:spPr>
          <a:xfrm>
            <a:off x="731520" y="4114800"/>
            <a:ext cx="475488" cy="475488"/>
          </a:xfrm>
          <a:prstGeom prst="ellipse">
            <a:avLst/>
          </a:prstGeom>
          <a:solidFill>
            <a:schemeClr val="accent5"/>
          </a:solidFill>
          <a:ln w="12700">
            <a:solidFill>
              <a:schemeClr val="accent5"/>
            </a:solidFill>
            <a:prstDash val="solid"/>
          </a:ln>
        </p:spPr>
      </p:sp>
      <p:pic>
        <p:nvPicPr>
          <p:cNvPr id="22" name="Image 3" descr="icon">    </p:cNvPr>
          <p:cNvPicPr>
            <a:picLocks noChangeAspect="1"/>
          </p:cNvPicPr>
          <p:nvPr/>
        </p:nvPicPr>
        <p:blipFill>
          <a:blip r:embed="rId4"/>
          <a:stretch>
            <a:fillRect/>
          </a:stretch>
        </p:blipFill>
        <p:spPr>
          <a:xfrm>
            <a:off x="850392" y="4233672"/>
            <a:ext cx="237744" cy="237744"/>
          </a:xfrm>
          <a:prstGeom prst="rect">
            <a:avLst/>
          </a:prstGeom>
        </p:spPr>
      </p:pic>
      <p:sp>
        <p:nvSpPr>
          <p:cNvPr id="23" name="Text 16"/>
          <p:cNvSpPr txBox="1"/>
          <p:nvPr/>
        </p:nvSpPr>
        <p:spPr>
          <a:xfrm>
            <a:off x="1353312"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Institutional</a:t>
            </a:r>
            <a:endParaRPr lang="en-US" sz="1500" dirty="0"/>
          </a:p>
        </p:txBody>
      </p:sp>
      <p:sp>
        <p:nvSpPr>
          <p:cNvPr id="24" name="Text 17"/>
          <p:cNvSpPr txBox="1"/>
          <p:nvPr/>
        </p:nvSpPr>
        <p:spPr>
          <a:xfrm>
            <a:off x="777240"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University repositories</a:t>
            </a:r>
            <a:endParaRPr lang="en-US" sz="1400" dirty="0"/>
          </a:p>
          <a:p>
            <a:pPr marL="177800" indent="-177800">
              <a:spcAft>
                <a:spcPts val="400"/>
              </a:spcAft>
              <a:buSzPct val="100000"/>
              <a:buChar char="•"/>
            </a:pPr>
            <a:r>
              <a:rPr lang="en-US" sz="1400" dirty="0">
                <a:solidFill>
                  <a:schemeClr val="tx1"/>
                </a:solidFill>
              </a:rPr>
              <a:t>Library systems</a:t>
            </a:r>
            <a:endParaRPr lang="en-US" sz="1400" dirty="0"/>
          </a:p>
          <a:p>
            <a:pPr marL="177800" indent="-177800">
              <a:spcAft>
                <a:spcPts val="400"/>
              </a:spcAft>
              <a:buSzPct val="100000"/>
              <a:buChar char="•"/>
            </a:pPr>
            <a:r>
              <a:rPr lang="en-US" sz="1400" dirty="0">
                <a:solidFill>
                  <a:schemeClr val="tx1"/>
                </a:solidFill>
              </a:rPr>
              <a:t>Internal docs</a:t>
            </a:r>
            <a:endParaRPr lang="en-US" sz="1400" dirty="0"/>
          </a:p>
        </p:txBody>
      </p:sp>
      <p:sp>
        <p:nvSpPr>
          <p:cNvPr id="25" name="card Enterprise"/>
          <p:cNvSpPr/>
          <p:nvPr/>
        </p:nvSpPr>
        <p:spPr>
          <a:xfrm>
            <a:off x="4337304"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icon Enterprise"/>
          <p:cNvSpPr/>
          <p:nvPr/>
        </p:nvSpPr>
        <p:spPr>
          <a:xfrm>
            <a:off x="4520184" y="4114800"/>
            <a:ext cx="475488" cy="475488"/>
          </a:xfrm>
          <a:prstGeom prst="ellipse">
            <a:avLst/>
          </a:prstGeom>
          <a:solidFill>
            <a:schemeClr val="accent6"/>
          </a:solidFill>
          <a:ln w="12700">
            <a:solidFill>
              <a:schemeClr val="accent6"/>
            </a:solidFill>
            <a:prstDash val="solid"/>
          </a:ln>
        </p:spPr>
      </p:sp>
      <p:pic>
        <p:nvPicPr>
          <p:cNvPr id="27" name="Image 4" descr="icon">    </p:cNvPr>
          <p:cNvPicPr>
            <a:picLocks noChangeAspect="1"/>
          </p:cNvPicPr>
          <p:nvPr/>
        </p:nvPicPr>
        <p:blipFill>
          <a:blip r:embed="rId5"/>
          <a:stretch>
            <a:fillRect/>
          </a:stretch>
        </p:blipFill>
        <p:spPr>
          <a:xfrm>
            <a:off x="4639056" y="4233672"/>
            <a:ext cx="237744" cy="237744"/>
          </a:xfrm>
          <a:prstGeom prst="rect">
            <a:avLst/>
          </a:prstGeom>
        </p:spPr>
      </p:pic>
      <p:sp>
        <p:nvSpPr>
          <p:cNvPr id="28" name="Text 20"/>
          <p:cNvSpPr txBox="1"/>
          <p:nvPr/>
        </p:nvSpPr>
        <p:spPr>
          <a:xfrm>
            <a:off x="5141976"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Enterprise</a:t>
            </a:r>
            <a:endParaRPr lang="en-US" sz="1500" dirty="0"/>
          </a:p>
        </p:txBody>
      </p:sp>
      <p:sp>
        <p:nvSpPr>
          <p:cNvPr id="29" name="Text 21"/>
          <p:cNvSpPr txBox="1"/>
          <p:nvPr/>
        </p:nvSpPr>
        <p:spPr>
          <a:xfrm>
            <a:off x="4565904"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Google Drive, OneDrive</a:t>
            </a:r>
            <a:endParaRPr lang="en-US" sz="1400" dirty="0"/>
          </a:p>
          <a:p>
            <a:pPr marL="177800" indent="-177800">
              <a:spcAft>
                <a:spcPts val="400"/>
              </a:spcAft>
              <a:buSzPct val="100000"/>
              <a:buChar char="•"/>
            </a:pPr>
            <a:r>
              <a:rPr lang="en-US" sz="1400" dirty="0">
                <a:solidFill>
                  <a:schemeClr val="tx1"/>
                </a:solidFill>
              </a:rPr>
              <a:t>SharePoint</a:t>
            </a:r>
            <a:endParaRPr lang="en-US" sz="1400" dirty="0"/>
          </a:p>
          <a:p>
            <a:pPr marL="177800" indent="-177800">
              <a:spcAft>
                <a:spcPts val="400"/>
              </a:spcAft>
              <a:buSzPct val="100000"/>
              <a:buChar char="•"/>
            </a:pPr>
            <a:r>
              <a:rPr lang="en-US" sz="1400" dirty="0">
                <a:solidFill>
                  <a:schemeClr val="tx1"/>
                </a:solidFill>
              </a:rPr>
              <a:t>S3 / MinIO (private)</a:t>
            </a:r>
            <a:endParaRPr lang="en-US" sz="1400" dirty="0"/>
          </a:p>
        </p:txBody>
      </p:sp>
      <p:sp>
        <p:nvSpPr>
          <p:cNvPr id="30" name="card Other Identifiers"/>
          <p:cNvSpPr/>
          <p:nvPr/>
        </p:nvSpPr>
        <p:spPr>
          <a:xfrm>
            <a:off x="8125968"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1" name="icon Other Identifiers"/>
          <p:cNvSpPr/>
          <p:nvPr/>
        </p:nvSpPr>
        <p:spPr>
          <a:xfrm>
            <a:off x="8308848" y="4114800"/>
            <a:ext cx="475488" cy="475488"/>
          </a:xfrm>
          <a:prstGeom prst="ellipse">
            <a:avLst/>
          </a:prstGeom>
          <a:solidFill>
            <a:schemeClr val="accent4"/>
          </a:solidFill>
          <a:ln w="12700">
            <a:solidFill>
              <a:schemeClr val="accent4"/>
            </a:solidFill>
            <a:prstDash val="solid"/>
          </a:ln>
        </p:spPr>
      </p:sp>
      <p:pic>
        <p:nvPicPr>
          <p:cNvPr id="32" name="Image 5" descr="icon">    </p:cNvPr>
          <p:cNvPicPr>
            <a:picLocks noChangeAspect="1"/>
          </p:cNvPicPr>
          <p:nvPr/>
        </p:nvPicPr>
        <p:blipFill>
          <a:blip r:embed="rId6"/>
          <a:stretch>
            <a:fillRect/>
          </a:stretch>
        </p:blipFill>
        <p:spPr>
          <a:xfrm>
            <a:off x="8427720" y="4233672"/>
            <a:ext cx="237744" cy="237744"/>
          </a:xfrm>
          <a:prstGeom prst="rect">
            <a:avLst/>
          </a:prstGeom>
        </p:spPr>
      </p:pic>
      <p:sp>
        <p:nvSpPr>
          <p:cNvPr id="33" name="Text 24"/>
          <p:cNvSpPr txBox="1"/>
          <p:nvPr/>
        </p:nvSpPr>
        <p:spPr>
          <a:xfrm>
            <a:off x="8930640"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Other Identifiers</a:t>
            </a:r>
            <a:endParaRPr lang="en-US" sz="1500" dirty="0"/>
          </a:p>
        </p:txBody>
      </p:sp>
      <p:sp>
        <p:nvSpPr>
          <p:cNvPr id="34" name="Text 25"/>
          <p:cNvSpPr txBox="1"/>
          <p:nvPr/>
        </p:nvSpPr>
        <p:spPr>
          <a:xfrm>
            <a:off x="8354568"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DOI, ISBN</a:t>
            </a:r>
            <a:endParaRPr lang="en-US" sz="1400" dirty="0"/>
          </a:p>
          <a:p>
            <a:pPr marL="177800" indent="-177800">
              <a:spcAft>
                <a:spcPts val="400"/>
              </a:spcAft>
              <a:buSzPct val="100000"/>
              <a:buChar char="•"/>
            </a:pPr>
            <a:r>
              <a:rPr lang="en-US" sz="1400" dirty="0">
                <a:solidFill>
                  <a:schemeClr val="tx1"/>
                </a:solidFill>
              </a:rPr>
              <a:t>Zotero, Mendeley</a:t>
            </a:r>
            <a:endParaRPr lang="en-US" sz="1400" dirty="0"/>
          </a:p>
          <a:p>
            <a:pPr marL="177800" indent="-177800">
              <a:spcAft>
                <a:spcPts val="400"/>
              </a:spcAft>
              <a:buSzPct val="100000"/>
              <a:buChar char="•"/>
            </a:pPr>
            <a:r>
              <a:rPr lang="en-US" sz="1400" dirty="0">
                <a:solidFill>
                  <a:schemeClr val="tx1"/>
                </a:solidFill>
              </a:rPr>
              <a:t>Custom APIs (future)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Source Processing Pipeline</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Shape 2"/>
          <p:cNvSpPr/>
          <p:nvPr/>
        </p:nvSpPr>
        <p:spPr>
          <a:xfrm>
            <a:off x="1340902" y="1737360"/>
            <a:ext cx="9507147" cy="0"/>
          </a:xfrm>
          <a:prstGeom prst="line">
            <a:avLst/>
          </a:prstGeom>
          <a:noFill/>
          <a:ln w="25400">
            <a:solidFill>
              <a:schemeClr val="tx2"/>
            </a:solidFill>
            <a:prstDash val="dash"/>
          </a:ln>
        </p:spPr>
      </p:sp>
      <p:sp>
        <p:nvSpPr>
          <p:cNvPr id="6" name="step 1"/>
          <p:cNvSpPr/>
          <p:nvPr/>
        </p:nvSpPr>
        <p:spPr>
          <a:xfrm>
            <a:off x="1066582" y="146304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1066582"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594360"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Validate</a:t>
            </a:r>
            <a:endParaRPr lang="en-US" sz="1400" dirty="0"/>
          </a:p>
        </p:txBody>
      </p:sp>
      <p:sp>
        <p:nvSpPr>
          <p:cNvPr id="9" name="Text 6"/>
          <p:cNvSpPr txBox="1"/>
          <p:nvPr/>
        </p:nvSpPr>
        <p:spPr>
          <a:xfrm>
            <a:off x="594360"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file type, size, security scan</a:t>
            </a:r>
            <a:endParaRPr lang="en-US" sz="1200" dirty="0"/>
          </a:p>
        </p:txBody>
      </p:sp>
      <p:sp>
        <p:nvSpPr>
          <p:cNvPr id="10" name="step 2"/>
          <p:cNvSpPr/>
          <p:nvPr/>
        </p:nvSpPr>
        <p:spPr>
          <a:xfrm>
            <a:off x="2651107" y="1463040"/>
            <a:ext cx="548640" cy="548640"/>
          </a:xfrm>
          <a:prstGeom prst="ellipse">
            <a:avLst/>
          </a:prstGeom>
          <a:solidFill>
            <a:schemeClr val="accent3"/>
          </a:solidFill>
          <a:ln w="12700">
            <a:solidFill>
              <a:schemeClr val="accent3"/>
            </a:solidFill>
            <a:prstDash val="solid"/>
          </a:ln>
        </p:spPr>
      </p:sp>
      <p:sp>
        <p:nvSpPr>
          <p:cNvPr id="11" name="Text 8"/>
          <p:cNvSpPr txBox="1"/>
          <p:nvPr/>
        </p:nvSpPr>
        <p:spPr>
          <a:xfrm>
            <a:off x="2651107"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178885"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Fetch</a:t>
            </a:r>
            <a:endParaRPr lang="en-US" sz="1400" dirty="0"/>
          </a:p>
        </p:txBody>
      </p:sp>
      <p:sp>
        <p:nvSpPr>
          <p:cNvPr id="13" name="Text 10"/>
          <p:cNvSpPr txBox="1"/>
          <p:nvPr/>
        </p:nvSpPr>
        <p:spPr>
          <a:xfrm>
            <a:off x="2178885"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download / stream, SSRF protection</a:t>
            </a:r>
            <a:endParaRPr lang="en-US" sz="1200" dirty="0"/>
          </a:p>
        </p:txBody>
      </p:sp>
      <p:sp>
        <p:nvSpPr>
          <p:cNvPr id="14" name="step 3"/>
          <p:cNvSpPr/>
          <p:nvPr/>
        </p:nvSpPr>
        <p:spPr>
          <a:xfrm>
            <a:off x="4235631" y="1463040"/>
            <a:ext cx="548640" cy="548640"/>
          </a:xfrm>
          <a:prstGeom prst="ellipse">
            <a:avLst/>
          </a:prstGeom>
          <a:solidFill>
            <a:schemeClr val="accent5"/>
          </a:solidFill>
          <a:ln w="12700">
            <a:solidFill>
              <a:schemeClr val="accent5"/>
            </a:solidFill>
            <a:prstDash val="solid"/>
          </a:ln>
        </p:spPr>
      </p:sp>
      <p:sp>
        <p:nvSpPr>
          <p:cNvPr id="15" name="Text 12"/>
          <p:cNvSpPr txBox="1"/>
          <p:nvPr/>
        </p:nvSpPr>
        <p:spPr>
          <a:xfrm>
            <a:off x="4235631"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3763409"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Normalize</a:t>
            </a:r>
            <a:endParaRPr lang="en-US" sz="1400" dirty="0"/>
          </a:p>
        </p:txBody>
      </p:sp>
      <p:sp>
        <p:nvSpPr>
          <p:cNvPr id="17" name="Text 14"/>
          <p:cNvSpPr txBox="1"/>
          <p:nvPr/>
        </p:nvSpPr>
        <p:spPr>
          <a:xfrm>
            <a:off x="3763409"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unify format, extract metadata</a:t>
            </a:r>
            <a:endParaRPr lang="en-US" sz="1200" dirty="0"/>
          </a:p>
        </p:txBody>
      </p:sp>
      <p:sp>
        <p:nvSpPr>
          <p:cNvPr id="18" name="step 4"/>
          <p:cNvSpPr/>
          <p:nvPr/>
        </p:nvSpPr>
        <p:spPr>
          <a:xfrm>
            <a:off x="5820156" y="1463040"/>
            <a:ext cx="548640" cy="548640"/>
          </a:xfrm>
          <a:prstGeom prst="ellipse">
            <a:avLst/>
          </a:prstGeom>
          <a:solidFill>
            <a:schemeClr val="accent1"/>
          </a:solidFill>
          <a:ln w="12700">
            <a:solidFill>
              <a:schemeClr val="accent1"/>
            </a:solidFill>
            <a:prstDash val="solid"/>
          </a:ln>
        </p:spPr>
      </p:sp>
      <p:sp>
        <p:nvSpPr>
          <p:cNvPr id="19" name="Text 16"/>
          <p:cNvSpPr txBox="1"/>
          <p:nvPr/>
        </p:nvSpPr>
        <p:spPr>
          <a:xfrm>
            <a:off x="5820156"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 17"/>
          <p:cNvSpPr txBox="1"/>
          <p:nvPr/>
        </p:nvSpPr>
        <p:spPr>
          <a:xfrm>
            <a:off x="5347934"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Store</a:t>
            </a:r>
            <a:endParaRPr lang="en-US" sz="1400" dirty="0"/>
          </a:p>
        </p:txBody>
      </p:sp>
      <p:sp>
        <p:nvSpPr>
          <p:cNvPr id="21" name="Text 18"/>
          <p:cNvSpPr txBox="1"/>
          <p:nvPr/>
        </p:nvSpPr>
        <p:spPr>
          <a:xfrm>
            <a:off x="5347934"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temp storage + checksum</a:t>
            </a:r>
            <a:endParaRPr lang="en-US" sz="1200" dirty="0"/>
          </a:p>
        </p:txBody>
      </p:sp>
      <p:sp>
        <p:nvSpPr>
          <p:cNvPr id="22" name="step 5"/>
          <p:cNvSpPr/>
          <p:nvPr/>
        </p:nvSpPr>
        <p:spPr>
          <a:xfrm>
            <a:off x="7404681" y="1463040"/>
            <a:ext cx="548640" cy="548640"/>
          </a:xfrm>
          <a:prstGeom prst="ellipse">
            <a:avLst/>
          </a:prstGeom>
          <a:solidFill>
            <a:schemeClr val="accent3"/>
          </a:solidFill>
          <a:ln w="12700">
            <a:solidFill>
              <a:schemeClr val="accent3"/>
            </a:solidFill>
            <a:prstDash val="solid"/>
          </a:ln>
        </p:spPr>
      </p:sp>
      <p:sp>
        <p:nvSpPr>
          <p:cNvPr id="23" name="Text 20"/>
          <p:cNvSpPr txBox="1"/>
          <p:nvPr/>
        </p:nvSpPr>
        <p:spPr>
          <a:xfrm>
            <a:off x="7404681"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Text 21"/>
          <p:cNvSpPr txBox="1"/>
          <p:nvPr/>
        </p:nvSpPr>
        <p:spPr>
          <a:xfrm>
            <a:off x="6932458"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Register</a:t>
            </a:r>
            <a:endParaRPr lang="en-US" sz="1400" dirty="0"/>
          </a:p>
        </p:txBody>
      </p:sp>
      <p:sp>
        <p:nvSpPr>
          <p:cNvPr id="25" name="Text 22"/>
          <p:cNvSpPr txBox="1"/>
          <p:nvPr/>
        </p:nvSpPr>
        <p:spPr>
          <a:xfrm>
            <a:off x="6932458"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user, project, source type</a:t>
            </a:r>
            <a:endParaRPr lang="en-US" sz="1200" dirty="0"/>
          </a:p>
        </p:txBody>
      </p:sp>
      <p:sp>
        <p:nvSpPr>
          <p:cNvPr id="26" name="step 6"/>
          <p:cNvSpPr/>
          <p:nvPr/>
        </p:nvSpPr>
        <p:spPr>
          <a:xfrm>
            <a:off x="8989205" y="1463040"/>
            <a:ext cx="548640" cy="548640"/>
          </a:xfrm>
          <a:prstGeom prst="ellipse">
            <a:avLst/>
          </a:prstGeom>
          <a:solidFill>
            <a:schemeClr val="accent5"/>
          </a:solidFill>
          <a:ln w="12700">
            <a:solidFill>
              <a:schemeClr val="accent5"/>
            </a:solidFill>
            <a:prstDash val="solid"/>
          </a:ln>
        </p:spPr>
      </p:sp>
      <p:sp>
        <p:nvSpPr>
          <p:cNvPr id="27" name="Text 24"/>
          <p:cNvSpPr txBox="1"/>
          <p:nvPr/>
        </p:nvSpPr>
        <p:spPr>
          <a:xfrm>
            <a:off x="8989205"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8" name="Text 25"/>
          <p:cNvSpPr txBox="1"/>
          <p:nvPr/>
        </p:nvSpPr>
        <p:spPr>
          <a:xfrm>
            <a:off x="8516983"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Deduplicate</a:t>
            </a:r>
            <a:endParaRPr lang="en-US" sz="1400" dirty="0"/>
          </a:p>
        </p:txBody>
      </p:sp>
      <p:sp>
        <p:nvSpPr>
          <p:cNvPr id="29" name="Text 26"/>
          <p:cNvSpPr txBox="1"/>
          <p:nvPr/>
        </p:nvSpPr>
        <p:spPr>
          <a:xfrm>
            <a:off x="8516983"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checksum + user + project</a:t>
            </a:r>
            <a:endParaRPr lang="en-US" sz="1200" dirty="0"/>
          </a:p>
        </p:txBody>
      </p:sp>
      <p:sp>
        <p:nvSpPr>
          <p:cNvPr id="30" name="step 7"/>
          <p:cNvSpPr/>
          <p:nvPr/>
        </p:nvSpPr>
        <p:spPr>
          <a:xfrm>
            <a:off x="10573730" y="146304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1057373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2" name="Text 29"/>
          <p:cNvSpPr txBox="1"/>
          <p:nvPr/>
        </p:nvSpPr>
        <p:spPr>
          <a:xfrm>
            <a:off x="10101507" y="2121408"/>
            <a:ext cx="1493085" cy="502920"/>
          </a:xfrm>
          <a:prstGeom prst="rect">
            <a:avLst/>
          </a:prstGeom>
          <a:noFill/>
          <a:ln/>
        </p:spPr>
        <p:txBody>
          <a:bodyPr wrap="square" lIns="0" tIns="0" rIns="0" bIns="0" rtlCol="0" anchor="t"/>
          <a:lstStyle/>
          <a:p>
            <a:pPr algn="ctr" indent="0" marL="0">
              <a:buNone/>
            </a:pPr>
            <a:r>
              <a:rPr lang="en-US" sz="1400" b="1" dirty="0">
                <a:solidFill>
                  <a:schemeClr val="tx1"/>
                </a:solidFill>
              </a:rPr>
              <a:t>Trigger ingestion</a:t>
            </a:r>
            <a:endParaRPr lang="en-US" sz="1400" dirty="0"/>
          </a:p>
        </p:txBody>
      </p:sp>
      <p:sp>
        <p:nvSpPr>
          <p:cNvPr id="33" name="Text 30"/>
          <p:cNvSpPr txBox="1"/>
          <p:nvPr/>
        </p:nvSpPr>
        <p:spPr>
          <a:xfrm>
            <a:off x="10101507" y="2651760"/>
            <a:ext cx="1493085" cy="731520"/>
          </a:xfrm>
          <a:prstGeom prst="rect">
            <a:avLst/>
          </a:prstGeom>
          <a:noFill/>
          <a:ln/>
        </p:spPr>
        <p:txBody>
          <a:bodyPr wrap="square" lIns="0" tIns="0" rIns="0" bIns="0" rtlCol="0" anchor="t"/>
          <a:lstStyle/>
          <a:p>
            <a:pPr algn="ctr" indent="0" marL="0">
              <a:buNone/>
            </a:pPr>
            <a:r>
              <a:rPr lang="en-US" sz="1200" dirty="0">
                <a:solidFill>
                  <a:schemeClr val="tx2"/>
                </a:solidFill>
              </a:rPr>
              <a:t>status: UPLOADED</a:t>
            </a:r>
            <a:endParaRPr lang="en-US" sz="1200" dirty="0"/>
          </a:p>
        </p:txBody>
      </p:sp>
      <p:sp>
        <p:nvSpPr>
          <p:cNvPr id="34" name="Text 31"/>
          <p:cNvSpPr txBox="1"/>
          <p:nvPr/>
        </p:nvSpPr>
        <p:spPr>
          <a:xfrm>
            <a:off x="548640" y="3657600"/>
            <a:ext cx="3657600" cy="274320"/>
          </a:xfrm>
          <a:prstGeom prst="rect">
            <a:avLst/>
          </a:prstGeom>
          <a:noFill/>
          <a:ln/>
        </p:spPr>
        <p:txBody>
          <a:bodyPr wrap="square" lIns="0" tIns="0" rIns="0" bIns="0" rtlCol="0" anchor="t"/>
          <a:lstStyle/>
          <a:p>
            <a:pPr indent="0" marL="0">
              <a:buNone/>
            </a:pPr>
            <a:r>
              <a:rPr lang="en-US" sz="1400" b="1" dirty="0">
                <a:solidFill>
                  <a:schemeClr val="tx2"/>
                </a:solidFill>
              </a:rPr>
              <a:t>Input handlers</a:t>
            </a:r>
            <a:endParaRPr lang="en-US" sz="1400" dirty="0"/>
          </a:p>
        </p:txBody>
      </p:sp>
      <p:sp>
        <p:nvSpPr>
          <p:cNvPr id="35" name="card File Upload"/>
          <p:cNvSpPr/>
          <p:nvPr/>
        </p:nvSpPr>
        <p:spPr>
          <a:xfrm>
            <a:off x="548640" y="4023360"/>
            <a:ext cx="2567178" cy="2148840"/>
          </a:xfrm>
          <a:prstGeom prst="roundRect">
            <a:avLst>
              <a:gd name="adj" fmla="val 42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6" name="icon File Upload"/>
          <p:cNvSpPr/>
          <p:nvPr/>
        </p:nvSpPr>
        <p:spPr>
          <a:xfrm>
            <a:off x="731520" y="4206240"/>
            <a:ext cx="475488" cy="475488"/>
          </a:xfrm>
          <a:prstGeom prst="ellipse">
            <a:avLst/>
          </a:prstGeom>
          <a:solidFill>
            <a:schemeClr val="accent1"/>
          </a:solidFill>
          <a:ln w="12700">
            <a:solidFill>
              <a:schemeClr val="accent1"/>
            </a:solidFill>
            <a:prstDash val="solid"/>
          </a:ln>
        </p:spPr>
      </p:sp>
      <p:pic>
        <p:nvPicPr>
          <p:cNvPr id="37" name="Image 0" descr="icon">    </p:cNvPr>
          <p:cNvPicPr>
            <a:picLocks noChangeAspect="1"/>
          </p:cNvPicPr>
          <p:nvPr/>
        </p:nvPicPr>
        <p:blipFill>
          <a:blip r:embed="rId1"/>
          <a:stretch>
            <a:fillRect/>
          </a:stretch>
        </p:blipFill>
        <p:spPr>
          <a:xfrm>
            <a:off x="850392" y="4325112"/>
            <a:ext cx="237744" cy="237744"/>
          </a:xfrm>
          <a:prstGeom prst="rect">
            <a:avLst/>
          </a:prstGeom>
        </p:spPr>
      </p:pic>
      <p:sp>
        <p:nvSpPr>
          <p:cNvPr id="38" name="Text 34"/>
          <p:cNvSpPr txBox="1"/>
          <p:nvPr/>
        </p:nvSpPr>
        <p:spPr>
          <a:xfrm>
            <a:off x="1353312" y="417880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File Upload</a:t>
            </a:r>
            <a:endParaRPr lang="en-US" sz="1500" dirty="0"/>
          </a:p>
        </p:txBody>
      </p:sp>
      <p:sp>
        <p:nvSpPr>
          <p:cNvPr id="39" name="Text 35"/>
          <p:cNvSpPr txBox="1"/>
          <p:nvPr/>
        </p:nvSpPr>
        <p:spPr>
          <a:xfrm>
            <a:off x="777240" y="4846320"/>
            <a:ext cx="2155698" cy="12344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Validation, size check</a:t>
            </a:r>
            <a:endParaRPr lang="en-US" sz="1300" dirty="0"/>
          </a:p>
          <a:p>
            <a:pPr marL="177800" indent="-177800">
              <a:spcAft>
                <a:spcPts val="400"/>
              </a:spcAft>
              <a:buSzPct val="100000"/>
              <a:buChar char="•"/>
            </a:pPr>
            <a:r>
              <a:rPr lang="en-US" sz="1300" dirty="0">
                <a:solidFill>
                  <a:schemeClr val="tx1"/>
                </a:solidFill>
              </a:rPr>
              <a:t>Virus scan</a:t>
            </a:r>
            <a:endParaRPr lang="en-US" sz="1300" dirty="0"/>
          </a:p>
        </p:txBody>
      </p:sp>
      <p:sp>
        <p:nvSpPr>
          <p:cNvPr id="40" name="card URL Handler"/>
          <p:cNvSpPr/>
          <p:nvPr/>
        </p:nvSpPr>
        <p:spPr>
          <a:xfrm>
            <a:off x="3390138" y="4023360"/>
            <a:ext cx="2567178" cy="2148840"/>
          </a:xfrm>
          <a:prstGeom prst="roundRect">
            <a:avLst>
              <a:gd name="adj" fmla="val 42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1" name="icon URL Handler"/>
          <p:cNvSpPr/>
          <p:nvPr/>
        </p:nvSpPr>
        <p:spPr>
          <a:xfrm>
            <a:off x="3573018" y="4206240"/>
            <a:ext cx="475488" cy="475488"/>
          </a:xfrm>
          <a:prstGeom prst="ellipse">
            <a:avLst/>
          </a:prstGeom>
          <a:solidFill>
            <a:schemeClr val="accent3"/>
          </a:solidFill>
          <a:ln w="12700">
            <a:solidFill>
              <a:schemeClr val="accent3"/>
            </a:solidFill>
            <a:prstDash val="solid"/>
          </a:ln>
        </p:spPr>
      </p:sp>
      <p:pic>
        <p:nvPicPr>
          <p:cNvPr id="42" name="Image 1" descr="icon">    </p:cNvPr>
          <p:cNvPicPr>
            <a:picLocks noChangeAspect="1"/>
          </p:cNvPicPr>
          <p:nvPr/>
        </p:nvPicPr>
        <p:blipFill>
          <a:blip r:embed="rId2"/>
          <a:stretch>
            <a:fillRect/>
          </a:stretch>
        </p:blipFill>
        <p:spPr>
          <a:xfrm>
            <a:off x="3691890" y="4325112"/>
            <a:ext cx="237744" cy="237744"/>
          </a:xfrm>
          <a:prstGeom prst="rect">
            <a:avLst/>
          </a:prstGeom>
        </p:spPr>
      </p:pic>
      <p:sp>
        <p:nvSpPr>
          <p:cNvPr id="43" name="Text 38"/>
          <p:cNvSpPr txBox="1"/>
          <p:nvPr/>
        </p:nvSpPr>
        <p:spPr>
          <a:xfrm>
            <a:off x="4194810" y="417880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URL Handler</a:t>
            </a:r>
            <a:endParaRPr lang="en-US" sz="1500" dirty="0"/>
          </a:p>
        </p:txBody>
      </p:sp>
      <p:sp>
        <p:nvSpPr>
          <p:cNvPr id="44" name="Text 39"/>
          <p:cNvSpPr txBox="1"/>
          <p:nvPr/>
        </p:nvSpPr>
        <p:spPr>
          <a:xfrm>
            <a:off x="3618738" y="4846320"/>
            <a:ext cx="2155698" cy="12344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HTTP / HTTPS only</a:t>
            </a:r>
            <a:endParaRPr lang="en-US" sz="1300" dirty="0"/>
          </a:p>
          <a:p>
            <a:pPr marL="177800" indent="-177800">
              <a:spcAft>
                <a:spcPts val="400"/>
              </a:spcAft>
              <a:buSzPct val="100000"/>
              <a:buChar char="•"/>
            </a:pPr>
            <a:r>
              <a:rPr lang="en-US" sz="1300" dirty="0">
                <a:solidFill>
                  <a:schemeClr val="tx1"/>
                </a:solidFill>
              </a:rPr>
              <a:t>SSRF protection</a:t>
            </a:r>
            <a:endParaRPr lang="en-US" sz="1300" dirty="0"/>
          </a:p>
          <a:p>
            <a:pPr marL="177800" indent="-177800">
              <a:spcAft>
                <a:spcPts val="400"/>
              </a:spcAft>
              <a:buSzPct val="100000"/>
              <a:buChar char="•"/>
            </a:pPr>
            <a:r>
              <a:rPr lang="en-US" sz="1300" dirty="0">
                <a:solidFill>
                  <a:schemeClr val="tx1"/>
                </a:solidFill>
              </a:rPr>
              <a:t>Redirect validation</a:t>
            </a:r>
            <a:endParaRPr lang="en-US" sz="1300" dirty="0"/>
          </a:p>
        </p:txBody>
      </p:sp>
      <p:sp>
        <p:nvSpPr>
          <p:cNvPr id="45" name="card DOI Handler"/>
          <p:cNvSpPr/>
          <p:nvPr/>
        </p:nvSpPr>
        <p:spPr>
          <a:xfrm>
            <a:off x="6231636" y="4023360"/>
            <a:ext cx="2567178" cy="2148840"/>
          </a:xfrm>
          <a:prstGeom prst="roundRect">
            <a:avLst>
              <a:gd name="adj" fmla="val 42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6" name="icon DOI Handler"/>
          <p:cNvSpPr/>
          <p:nvPr/>
        </p:nvSpPr>
        <p:spPr>
          <a:xfrm>
            <a:off x="6414516" y="4206240"/>
            <a:ext cx="475488" cy="475488"/>
          </a:xfrm>
          <a:prstGeom prst="ellipse">
            <a:avLst/>
          </a:prstGeom>
          <a:solidFill>
            <a:schemeClr val="accent2"/>
          </a:solidFill>
          <a:ln w="12700">
            <a:solidFill>
              <a:schemeClr val="accent2"/>
            </a:solidFill>
            <a:prstDash val="solid"/>
          </a:ln>
        </p:spPr>
      </p:sp>
      <p:pic>
        <p:nvPicPr>
          <p:cNvPr id="47" name="Image 2" descr="icon">    </p:cNvPr>
          <p:cNvPicPr>
            <a:picLocks noChangeAspect="1"/>
          </p:cNvPicPr>
          <p:nvPr/>
        </p:nvPicPr>
        <p:blipFill>
          <a:blip r:embed="rId3"/>
          <a:stretch>
            <a:fillRect/>
          </a:stretch>
        </p:blipFill>
        <p:spPr>
          <a:xfrm>
            <a:off x="6533388" y="4325112"/>
            <a:ext cx="237744" cy="237744"/>
          </a:xfrm>
          <a:prstGeom prst="rect">
            <a:avLst/>
          </a:prstGeom>
        </p:spPr>
      </p:pic>
      <p:sp>
        <p:nvSpPr>
          <p:cNvPr id="48" name="Text 42"/>
          <p:cNvSpPr txBox="1"/>
          <p:nvPr/>
        </p:nvSpPr>
        <p:spPr>
          <a:xfrm>
            <a:off x="7036308" y="417880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DOI Handler</a:t>
            </a:r>
            <a:endParaRPr lang="en-US" sz="1500" dirty="0"/>
          </a:p>
        </p:txBody>
      </p:sp>
      <p:sp>
        <p:nvSpPr>
          <p:cNvPr id="49" name="Text 43"/>
          <p:cNvSpPr txBox="1"/>
          <p:nvPr/>
        </p:nvSpPr>
        <p:spPr>
          <a:xfrm>
            <a:off x="6460236" y="4846320"/>
            <a:ext cx="2155698" cy="12344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Normalization</a:t>
            </a:r>
            <a:endParaRPr lang="en-US" sz="1300" dirty="0"/>
          </a:p>
          <a:p>
            <a:pPr marL="177800" indent="-177800">
              <a:spcAft>
                <a:spcPts val="400"/>
              </a:spcAft>
              <a:buSzPct val="100000"/>
              <a:buChar char="•"/>
            </a:pPr>
            <a:r>
              <a:rPr lang="en-US" sz="1300" dirty="0">
                <a:solidFill>
                  <a:schemeClr val="tx1"/>
                </a:solidFill>
              </a:rPr>
              <a:t>Crossref / OpenAlex lookup</a:t>
            </a:r>
            <a:endParaRPr lang="en-US" sz="1300" dirty="0"/>
          </a:p>
        </p:txBody>
      </p:sp>
      <p:sp>
        <p:nvSpPr>
          <p:cNvPr id="50" name="card Manual Entry"/>
          <p:cNvSpPr/>
          <p:nvPr/>
        </p:nvSpPr>
        <p:spPr>
          <a:xfrm>
            <a:off x="9073134" y="4023360"/>
            <a:ext cx="2567178" cy="2148840"/>
          </a:xfrm>
          <a:prstGeom prst="roundRect">
            <a:avLst>
              <a:gd name="adj" fmla="val 42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1" name="icon Manual Entry"/>
          <p:cNvSpPr/>
          <p:nvPr/>
        </p:nvSpPr>
        <p:spPr>
          <a:xfrm>
            <a:off x="9256014" y="4206240"/>
            <a:ext cx="475488" cy="475488"/>
          </a:xfrm>
          <a:prstGeom prst="ellipse">
            <a:avLst/>
          </a:prstGeom>
          <a:solidFill>
            <a:schemeClr val="accent5"/>
          </a:solidFill>
          <a:ln w="12700">
            <a:solidFill>
              <a:schemeClr val="accent5"/>
            </a:solidFill>
            <a:prstDash val="solid"/>
          </a:ln>
        </p:spPr>
      </p:sp>
      <p:pic>
        <p:nvPicPr>
          <p:cNvPr id="52" name="Image 3" descr="icon">    </p:cNvPr>
          <p:cNvPicPr>
            <a:picLocks noChangeAspect="1"/>
          </p:cNvPicPr>
          <p:nvPr/>
        </p:nvPicPr>
        <p:blipFill>
          <a:blip r:embed="rId4"/>
          <a:stretch>
            <a:fillRect/>
          </a:stretch>
        </p:blipFill>
        <p:spPr>
          <a:xfrm>
            <a:off x="9374886" y="4325112"/>
            <a:ext cx="237744" cy="237744"/>
          </a:xfrm>
          <a:prstGeom prst="rect">
            <a:avLst/>
          </a:prstGeom>
        </p:spPr>
      </p:pic>
      <p:sp>
        <p:nvSpPr>
          <p:cNvPr id="53" name="Text 46"/>
          <p:cNvSpPr txBox="1"/>
          <p:nvPr/>
        </p:nvSpPr>
        <p:spPr>
          <a:xfrm>
            <a:off x="9877806" y="417880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Manual Entry</a:t>
            </a:r>
            <a:endParaRPr lang="en-US" sz="1500" dirty="0"/>
          </a:p>
        </p:txBody>
      </p:sp>
      <p:sp>
        <p:nvSpPr>
          <p:cNvPr id="54" name="Text 47"/>
          <p:cNvSpPr txBox="1"/>
          <p:nvPr/>
        </p:nvSpPr>
        <p:spPr>
          <a:xfrm>
            <a:off x="9301734" y="4846320"/>
            <a:ext cx="2155698" cy="12344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Metadata entered by the user</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Trusted Source Taxonomy &amp; Scoring</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Shape 2"/>
          <p:cNvSpPr/>
          <p:nvPr/>
        </p:nvSpPr>
        <p:spPr>
          <a:xfrm>
            <a:off x="548640" y="1463040"/>
            <a:ext cx="6766560" cy="576072"/>
          </a:xfrm>
          <a:prstGeom prst="roundRect">
            <a:avLst>
              <a:gd name="adj" fmla="val 12698"/>
            </a:avLst>
          </a:prstGeom>
          <a:solidFill>
            <a:schemeClr val="bg2"/>
          </a:solidFill>
          <a:ln w="12700">
            <a:solidFill>
              <a:schemeClr val="bg2"/>
            </a:solidFill>
            <a:prstDash val="solid"/>
          </a:ln>
        </p:spPr>
      </p:sp>
      <p:sp>
        <p:nvSpPr>
          <p:cNvPr id="6" name="Shape 3"/>
          <p:cNvSpPr/>
          <p:nvPr/>
        </p:nvSpPr>
        <p:spPr>
          <a:xfrm>
            <a:off x="658368" y="1572768"/>
            <a:ext cx="640080" cy="365760"/>
          </a:xfrm>
          <a:prstGeom prst="roundRect">
            <a:avLst>
              <a:gd name="adj" fmla="val 50000"/>
            </a:avLst>
          </a:prstGeom>
          <a:solidFill>
            <a:schemeClr val="accent1"/>
          </a:solidFill>
          <a:ln w="12700">
            <a:solidFill>
              <a:schemeClr val="accent1"/>
            </a:solidFill>
            <a:prstDash val="solid"/>
          </a:ln>
        </p:spPr>
      </p:sp>
      <p:sp>
        <p:nvSpPr>
          <p:cNvPr id="7" name="Text 4"/>
          <p:cNvSpPr txBox="1"/>
          <p:nvPr/>
        </p:nvSpPr>
        <p:spPr>
          <a:xfrm>
            <a:off x="658368" y="1572768"/>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8" name="Text 5"/>
          <p:cNvSpPr txBox="1"/>
          <p:nvPr/>
        </p:nvSpPr>
        <p:spPr>
          <a:xfrm>
            <a:off x="1463040" y="1463040"/>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Academic publishers</a:t>
            </a:r>
            <a:endParaRPr lang="en-US" sz="1400" dirty="0"/>
          </a:p>
        </p:txBody>
      </p:sp>
      <p:sp>
        <p:nvSpPr>
          <p:cNvPr id="9" name="Text 6"/>
          <p:cNvSpPr txBox="1"/>
          <p:nvPr/>
        </p:nvSpPr>
        <p:spPr>
          <a:xfrm>
            <a:off x="3383280" y="1463040"/>
            <a:ext cx="3840480" cy="576072"/>
          </a:xfrm>
          <a:prstGeom prst="rect">
            <a:avLst/>
          </a:prstGeom>
          <a:noFill/>
          <a:ln/>
        </p:spPr>
        <p:txBody>
          <a:bodyPr wrap="square" lIns="0" tIns="0" rIns="0" bIns="0" rtlCol="0" anchor="ctr"/>
          <a:lstStyle/>
          <a:p>
            <a:pPr indent="0" marL="0">
              <a:buNone/>
            </a:pPr>
            <a:r>
              <a:rPr lang="en-US" sz="1200" dirty="0">
                <a:solidFill>
                  <a:schemeClr val="tx2"/>
                </a:solidFill>
              </a:rPr>
              <a:t>Crossref, PubMed, arXiv, Springer, Elsevier</a:t>
            </a:r>
            <a:endParaRPr lang="en-US" sz="1200" dirty="0"/>
          </a:p>
        </p:txBody>
      </p:sp>
      <p:sp>
        <p:nvSpPr>
          <p:cNvPr id="10" name="Shape 7"/>
          <p:cNvSpPr/>
          <p:nvPr/>
        </p:nvSpPr>
        <p:spPr>
          <a:xfrm>
            <a:off x="548640" y="2130552"/>
            <a:ext cx="6766560" cy="576072"/>
          </a:xfrm>
          <a:prstGeom prst="roundRect">
            <a:avLst>
              <a:gd name="adj" fmla="val 12698"/>
            </a:avLst>
          </a:prstGeom>
          <a:solidFill>
            <a:schemeClr val="bg2"/>
          </a:solidFill>
          <a:ln w="12700">
            <a:solidFill>
              <a:schemeClr val="bg2"/>
            </a:solidFill>
            <a:prstDash val="solid"/>
          </a:ln>
        </p:spPr>
      </p:sp>
      <p:sp>
        <p:nvSpPr>
          <p:cNvPr id="11" name="Shape 8"/>
          <p:cNvSpPr/>
          <p:nvPr/>
        </p:nvSpPr>
        <p:spPr>
          <a:xfrm>
            <a:off x="658368" y="2240280"/>
            <a:ext cx="640080" cy="365760"/>
          </a:xfrm>
          <a:prstGeom prst="roundRect">
            <a:avLst>
              <a:gd name="adj" fmla="val 50000"/>
            </a:avLst>
          </a:prstGeom>
          <a:solidFill>
            <a:schemeClr val="accent2"/>
          </a:solidFill>
          <a:ln w="12700">
            <a:solidFill>
              <a:schemeClr val="accent2"/>
            </a:solidFill>
            <a:prstDash val="solid"/>
          </a:ln>
        </p:spPr>
      </p:sp>
      <p:sp>
        <p:nvSpPr>
          <p:cNvPr id="12" name="Text 9"/>
          <p:cNvSpPr txBox="1"/>
          <p:nvPr/>
        </p:nvSpPr>
        <p:spPr>
          <a:xfrm>
            <a:off x="658368" y="2240280"/>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3" name="Text 10"/>
          <p:cNvSpPr txBox="1"/>
          <p:nvPr/>
        </p:nvSpPr>
        <p:spPr>
          <a:xfrm>
            <a:off x="1463040" y="2130552"/>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Research databases</a:t>
            </a:r>
            <a:endParaRPr lang="en-US" sz="1400" dirty="0"/>
          </a:p>
        </p:txBody>
      </p:sp>
      <p:sp>
        <p:nvSpPr>
          <p:cNvPr id="14" name="Text 11"/>
          <p:cNvSpPr txBox="1"/>
          <p:nvPr/>
        </p:nvSpPr>
        <p:spPr>
          <a:xfrm>
            <a:off x="3383280" y="2130552"/>
            <a:ext cx="3840480" cy="576072"/>
          </a:xfrm>
          <a:prstGeom prst="rect">
            <a:avLst/>
          </a:prstGeom>
          <a:noFill/>
          <a:ln/>
        </p:spPr>
        <p:txBody>
          <a:bodyPr wrap="square" lIns="0" tIns="0" rIns="0" bIns="0" rtlCol="0" anchor="ctr"/>
          <a:lstStyle/>
          <a:p>
            <a:pPr indent="0" marL="0">
              <a:buNone/>
            </a:pPr>
            <a:r>
              <a:rPr lang="en-US" sz="1200" dirty="0">
                <a:solidFill>
                  <a:schemeClr val="tx2"/>
                </a:solidFill>
              </a:rPr>
              <a:t>OpenAlex, Semantic Scholar, IEEE, ACM, JSTOR</a:t>
            </a:r>
            <a:endParaRPr lang="en-US" sz="1200" dirty="0"/>
          </a:p>
        </p:txBody>
      </p:sp>
      <p:sp>
        <p:nvSpPr>
          <p:cNvPr id="15" name="Shape 12"/>
          <p:cNvSpPr/>
          <p:nvPr/>
        </p:nvSpPr>
        <p:spPr>
          <a:xfrm>
            <a:off x="548640" y="2798064"/>
            <a:ext cx="6766560" cy="576072"/>
          </a:xfrm>
          <a:prstGeom prst="roundRect">
            <a:avLst>
              <a:gd name="adj" fmla="val 12698"/>
            </a:avLst>
          </a:prstGeom>
          <a:solidFill>
            <a:schemeClr val="bg2"/>
          </a:solidFill>
          <a:ln w="12700">
            <a:solidFill>
              <a:schemeClr val="bg2"/>
            </a:solidFill>
            <a:prstDash val="solid"/>
          </a:ln>
        </p:spPr>
      </p:sp>
      <p:sp>
        <p:nvSpPr>
          <p:cNvPr id="16" name="Shape 13"/>
          <p:cNvSpPr/>
          <p:nvPr/>
        </p:nvSpPr>
        <p:spPr>
          <a:xfrm>
            <a:off x="658368" y="2907792"/>
            <a:ext cx="640080" cy="365760"/>
          </a:xfrm>
          <a:prstGeom prst="roundRect">
            <a:avLst>
              <a:gd name="adj" fmla="val 50000"/>
            </a:avLst>
          </a:prstGeom>
          <a:solidFill>
            <a:schemeClr val="accent3"/>
          </a:solidFill>
          <a:ln w="12700">
            <a:solidFill>
              <a:schemeClr val="accent3"/>
            </a:solidFill>
            <a:prstDash val="solid"/>
          </a:ln>
        </p:spPr>
      </p:sp>
      <p:sp>
        <p:nvSpPr>
          <p:cNvPr id="17" name="Text 14"/>
          <p:cNvSpPr txBox="1"/>
          <p:nvPr/>
        </p:nvSpPr>
        <p:spPr>
          <a:xfrm>
            <a:off x="658368" y="2907792"/>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463040" y="2798064"/>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Web sources</a:t>
            </a:r>
            <a:endParaRPr lang="en-US" sz="1400" dirty="0"/>
          </a:p>
        </p:txBody>
      </p:sp>
      <p:sp>
        <p:nvSpPr>
          <p:cNvPr id="19" name="Text 16"/>
          <p:cNvSpPr txBox="1"/>
          <p:nvPr/>
        </p:nvSpPr>
        <p:spPr>
          <a:xfrm>
            <a:off x="3383280" y="2798064"/>
            <a:ext cx="3840480" cy="576072"/>
          </a:xfrm>
          <a:prstGeom prst="rect">
            <a:avLst/>
          </a:prstGeom>
          <a:noFill/>
          <a:ln/>
        </p:spPr>
        <p:txBody>
          <a:bodyPr wrap="square" lIns="0" tIns="0" rIns="0" bIns="0" rtlCol="0" anchor="ctr"/>
          <a:lstStyle/>
          <a:p>
            <a:pPr indent="0" marL="0">
              <a:buNone/>
            </a:pPr>
            <a:r>
              <a:rPr lang="en-US" sz="1200" dirty="0">
                <a:solidFill>
                  <a:schemeClr val="tx2"/>
                </a:solidFill>
              </a:rPr>
              <a:t>Google Scholar, trusted news, institutional, .gov</a:t>
            </a:r>
            <a:endParaRPr lang="en-US" sz="1200" dirty="0"/>
          </a:p>
        </p:txBody>
      </p:sp>
      <p:sp>
        <p:nvSpPr>
          <p:cNvPr id="20" name="Shape 17"/>
          <p:cNvSpPr/>
          <p:nvPr/>
        </p:nvSpPr>
        <p:spPr>
          <a:xfrm>
            <a:off x="548640" y="3465576"/>
            <a:ext cx="6766560" cy="576072"/>
          </a:xfrm>
          <a:prstGeom prst="roundRect">
            <a:avLst>
              <a:gd name="adj" fmla="val 12698"/>
            </a:avLst>
          </a:prstGeom>
          <a:solidFill>
            <a:schemeClr val="bg2"/>
          </a:solidFill>
          <a:ln w="12700">
            <a:solidFill>
              <a:schemeClr val="bg2"/>
            </a:solidFill>
            <a:prstDash val="solid"/>
          </a:ln>
        </p:spPr>
      </p:sp>
      <p:sp>
        <p:nvSpPr>
          <p:cNvPr id="21" name="Shape 18"/>
          <p:cNvSpPr/>
          <p:nvPr/>
        </p:nvSpPr>
        <p:spPr>
          <a:xfrm>
            <a:off x="658368" y="3575304"/>
            <a:ext cx="640080" cy="365760"/>
          </a:xfrm>
          <a:prstGeom prst="roundRect">
            <a:avLst>
              <a:gd name="adj" fmla="val 50000"/>
            </a:avLst>
          </a:prstGeom>
          <a:solidFill>
            <a:schemeClr val="accent4"/>
          </a:solidFill>
          <a:ln w="12700">
            <a:solidFill>
              <a:schemeClr val="accent4"/>
            </a:solidFill>
            <a:prstDash val="solid"/>
          </a:ln>
        </p:spPr>
      </p:sp>
      <p:sp>
        <p:nvSpPr>
          <p:cNvPr id="22" name="Text 19"/>
          <p:cNvSpPr txBox="1"/>
          <p:nvPr/>
        </p:nvSpPr>
        <p:spPr>
          <a:xfrm>
            <a:off x="658368" y="3575304"/>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3" name="Text 20"/>
          <p:cNvSpPr txBox="1"/>
          <p:nvPr/>
        </p:nvSpPr>
        <p:spPr>
          <a:xfrm>
            <a:off x="1463040" y="3465576"/>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Institutional</a:t>
            </a:r>
            <a:endParaRPr lang="en-US" sz="1400" dirty="0"/>
          </a:p>
        </p:txBody>
      </p:sp>
      <p:sp>
        <p:nvSpPr>
          <p:cNvPr id="24" name="Text 21"/>
          <p:cNvSpPr txBox="1"/>
          <p:nvPr/>
        </p:nvSpPr>
        <p:spPr>
          <a:xfrm>
            <a:off x="3383280" y="3465576"/>
            <a:ext cx="3840480" cy="576072"/>
          </a:xfrm>
          <a:prstGeom prst="rect">
            <a:avLst/>
          </a:prstGeom>
          <a:noFill/>
          <a:ln/>
        </p:spPr>
        <p:txBody>
          <a:bodyPr wrap="square" lIns="0" tIns="0" rIns="0" bIns="0" rtlCol="0" anchor="ctr"/>
          <a:lstStyle/>
          <a:p>
            <a:pPr indent="0" marL="0">
              <a:buNone/>
            </a:pPr>
            <a:r>
              <a:rPr lang="en-US" sz="1200" dirty="0">
                <a:solidFill>
                  <a:schemeClr val="tx2"/>
                </a:solidFill>
              </a:rPr>
              <a:t>University repositories, library systems</a:t>
            </a:r>
            <a:endParaRPr lang="en-US" sz="1200" dirty="0"/>
          </a:p>
        </p:txBody>
      </p:sp>
      <p:sp>
        <p:nvSpPr>
          <p:cNvPr id="25" name="Shape 22"/>
          <p:cNvSpPr/>
          <p:nvPr/>
        </p:nvSpPr>
        <p:spPr>
          <a:xfrm>
            <a:off x="548640" y="4133088"/>
            <a:ext cx="6766560" cy="576072"/>
          </a:xfrm>
          <a:prstGeom prst="roundRect">
            <a:avLst>
              <a:gd name="adj" fmla="val 12698"/>
            </a:avLst>
          </a:prstGeom>
          <a:solidFill>
            <a:schemeClr val="bg2"/>
          </a:solidFill>
          <a:ln w="12700">
            <a:solidFill>
              <a:schemeClr val="bg2"/>
            </a:solidFill>
            <a:prstDash val="solid"/>
          </a:ln>
        </p:spPr>
      </p:sp>
      <p:sp>
        <p:nvSpPr>
          <p:cNvPr id="26" name="Shape 23"/>
          <p:cNvSpPr/>
          <p:nvPr/>
        </p:nvSpPr>
        <p:spPr>
          <a:xfrm>
            <a:off x="658368" y="4242816"/>
            <a:ext cx="640080" cy="365760"/>
          </a:xfrm>
          <a:prstGeom prst="roundRect">
            <a:avLst>
              <a:gd name="adj" fmla="val 50000"/>
            </a:avLst>
          </a:prstGeom>
          <a:solidFill>
            <a:schemeClr val="accent5"/>
          </a:solidFill>
          <a:ln w="12700">
            <a:solidFill>
              <a:schemeClr val="accent5"/>
            </a:solidFill>
            <a:prstDash val="solid"/>
          </a:ln>
        </p:spPr>
      </p:sp>
      <p:sp>
        <p:nvSpPr>
          <p:cNvPr id="27" name="Text 24"/>
          <p:cNvSpPr txBox="1"/>
          <p:nvPr/>
        </p:nvSpPr>
        <p:spPr>
          <a:xfrm>
            <a:off x="658368" y="4242816"/>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8" name="Text 25"/>
          <p:cNvSpPr txBox="1"/>
          <p:nvPr/>
        </p:nvSpPr>
        <p:spPr>
          <a:xfrm>
            <a:off x="1463040" y="4133088"/>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Enterprise</a:t>
            </a:r>
            <a:endParaRPr lang="en-US" sz="1400" dirty="0"/>
          </a:p>
        </p:txBody>
      </p:sp>
      <p:sp>
        <p:nvSpPr>
          <p:cNvPr id="29" name="Text 26"/>
          <p:cNvSpPr txBox="1"/>
          <p:nvPr/>
        </p:nvSpPr>
        <p:spPr>
          <a:xfrm>
            <a:off x="3383280" y="4133088"/>
            <a:ext cx="3840480" cy="576072"/>
          </a:xfrm>
          <a:prstGeom prst="rect">
            <a:avLst/>
          </a:prstGeom>
          <a:noFill/>
          <a:ln/>
        </p:spPr>
        <p:txBody>
          <a:bodyPr wrap="square" lIns="0" tIns="0" rIns="0" bIns="0" rtlCol="0" anchor="ctr"/>
          <a:lstStyle/>
          <a:p>
            <a:pPr indent="0" marL="0">
              <a:buNone/>
            </a:pPr>
            <a:r>
              <a:rPr lang="en-US" sz="1200" dirty="0">
                <a:solidFill>
                  <a:schemeClr val="tx2"/>
                </a:solidFill>
              </a:rPr>
              <a:t>Google Drive, OneDrive, SharePoint, S3</a:t>
            </a:r>
            <a:endParaRPr lang="en-US" sz="1200" dirty="0"/>
          </a:p>
        </p:txBody>
      </p:sp>
      <p:sp>
        <p:nvSpPr>
          <p:cNvPr id="30" name="Shape 27"/>
          <p:cNvSpPr/>
          <p:nvPr/>
        </p:nvSpPr>
        <p:spPr>
          <a:xfrm>
            <a:off x="548640" y="4800600"/>
            <a:ext cx="6766560" cy="576072"/>
          </a:xfrm>
          <a:prstGeom prst="roundRect">
            <a:avLst>
              <a:gd name="adj" fmla="val 12698"/>
            </a:avLst>
          </a:prstGeom>
          <a:solidFill>
            <a:schemeClr val="bg2"/>
          </a:solidFill>
          <a:ln w="12700">
            <a:solidFill>
              <a:schemeClr val="bg2"/>
            </a:solidFill>
            <a:prstDash val="solid"/>
          </a:ln>
        </p:spPr>
      </p:sp>
      <p:sp>
        <p:nvSpPr>
          <p:cNvPr id="31" name="Shape 28"/>
          <p:cNvSpPr/>
          <p:nvPr/>
        </p:nvSpPr>
        <p:spPr>
          <a:xfrm>
            <a:off x="658368" y="4910328"/>
            <a:ext cx="640080" cy="365760"/>
          </a:xfrm>
          <a:prstGeom prst="roundRect">
            <a:avLst>
              <a:gd name="adj" fmla="val 50000"/>
            </a:avLst>
          </a:prstGeom>
          <a:solidFill>
            <a:schemeClr val="accent6"/>
          </a:solidFill>
          <a:ln w="12700">
            <a:solidFill>
              <a:schemeClr val="accent6"/>
            </a:solidFill>
            <a:prstDash val="solid"/>
          </a:ln>
        </p:spPr>
      </p:sp>
      <p:sp>
        <p:nvSpPr>
          <p:cNvPr id="32" name="Text 29"/>
          <p:cNvSpPr txBox="1"/>
          <p:nvPr/>
        </p:nvSpPr>
        <p:spPr>
          <a:xfrm>
            <a:off x="658368" y="4910328"/>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33" name="Text 30"/>
          <p:cNvSpPr txBox="1"/>
          <p:nvPr/>
        </p:nvSpPr>
        <p:spPr>
          <a:xfrm>
            <a:off x="1463040" y="4800600"/>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File types</a:t>
            </a:r>
            <a:endParaRPr lang="en-US" sz="1400" dirty="0"/>
          </a:p>
        </p:txBody>
      </p:sp>
      <p:sp>
        <p:nvSpPr>
          <p:cNvPr id="34" name="Text 31"/>
          <p:cNvSpPr txBox="1"/>
          <p:nvPr/>
        </p:nvSpPr>
        <p:spPr>
          <a:xfrm>
            <a:off x="3383280" y="4800600"/>
            <a:ext cx="3840480" cy="576072"/>
          </a:xfrm>
          <a:prstGeom prst="rect">
            <a:avLst/>
          </a:prstGeom>
          <a:noFill/>
          <a:ln/>
        </p:spPr>
        <p:txBody>
          <a:bodyPr wrap="square" lIns="0" tIns="0" rIns="0" bIns="0" rtlCol="0" anchor="ctr"/>
          <a:lstStyle/>
          <a:p>
            <a:pPr indent="0" marL="0">
              <a:buNone/>
            </a:pPr>
            <a:r>
              <a:rPr lang="en-US" sz="1200" dirty="0">
                <a:solidFill>
                  <a:schemeClr val="tx2"/>
                </a:solidFill>
              </a:rPr>
              <a:t>PDF, DOCX, PPTX, XLSX, CSV, TXT, MD, HTML, XML</a:t>
            </a:r>
            <a:endParaRPr lang="en-US" sz="1200" dirty="0"/>
          </a:p>
        </p:txBody>
      </p:sp>
      <p:sp>
        <p:nvSpPr>
          <p:cNvPr id="35" name="Shape 32"/>
          <p:cNvSpPr/>
          <p:nvPr/>
        </p:nvSpPr>
        <p:spPr>
          <a:xfrm>
            <a:off x="548640" y="5468112"/>
            <a:ext cx="6766560" cy="576072"/>
          </a:xfrm>
          <a:prstGeom prst="roundRect">
            <a:avLst>
              <a:gd name="adj" fmla="val 12698"/>
            </a:avLst>
          </a:prstGeom>
          <a:solidFill>
            <a:schemeClr val="bg2"/>
          </a:solidFill>
          <a:ln w="12700">
            <a:solidFill>
              <a:schemeClr val="bg2"/>
            </a:solidFill>
            <a:prstDash val="solid"/>
          </a:ln>
        </p:spPr>
      </p:sp>
      <p:sp>
        <p:nvSpPr>
          <p:cNvPr id="36" name="Shape 33"/>
          <p:cNvSpPr/>
          <p:nvPr/>
        </p:nvSpPr>
        <p:spPr>
          <a:xfrm>
            <a:off x="658368" y="5577840"/>
            <a:ext cx="640080" cy="365760"/>
          </a:xfrm>
          <a:prstGeom prst="roundRect">
            <a:avLst>
              <a:gd name="adj" fmla="val 50000"/>
            </a:avLst>
          </a:prstGeom>
          <a:solidFill>
            <a:schemeClr val="accent1"/>
          </a:solidFill>
          <a:ln w="12700">
            <a:solidFill>
              <a:schemeClr val="accent1"/>
            </a:solidFill>
            <a:prstDash val="solid"/>
          </a:ln>
        </p:spPr>
      </p:sp>
      <p:sp>
        <p:nvSpPr>
          <p:cNvPr id="37" name="Text 34"/>
          <p:cNvSpPr txBox="1"/>
          <p:nvPr/>
        </p:nvSpPr>
        <p:spPr>
          <a:xfrm>
            <a:off x="658368" y="5577840"/>
            <a:ext cx="64008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8" name="Text 35"/>
          <p:cNvSpPr txBox="1"/>
          <p:nvPr/>
        </p:nvSpPr>
        <p:spPr>
          <a:xfrm>
            <a:off x="1463040" y="5468112"/>
            <a:ext cx="1920240" cy="576072"/>
          </a:xfrm>
          <a:prstGeom prst="rect">
            <a:avLst/>
          </a:prstGeom>
          <a:noFill/>
          <a:ln/>
        </p:spPr>
        <p:txBody>
          <a:bodyPr wrap="square" lIns="0" tIns="0" rIns="0" bIns="0" rtlCol="0" anchor="ctr"/>
          <a:lstStyle/>
          <a:p>
            <a:pPr indent="0" marL="0">
              <a:buNone/>
            </a:pPr>
            <a:r>
              <a:rPr lang="en-US" sz="1400" b="1" dirty="0">
                <a:solidFill>
                  <a:schemeClr val="tx1"/>
                </a:solidFill>
              </a:rPr>
              <a:t>Future sources</a:t>
            </a:r>
            <a:endParaRPr lang="en-US" sz="1400" dirty="0"/>
          </a:p>
        </p:txBody>
      </p:sp>
      <p:sp>
        <p:nvSpPr>
          <p:cNvPr id="39" name="Text 36"/>
          <p:cNvSpPr txBox="1"/>
          <p:nvPr/>
        </p:nvSpPr>
        <p:spPr>
          <a:xfrm>
            <a:off x="3383280" y="5468112"/>
            <a:ext cx="3840480" cy="576072"/>
          </a:xfrm>
          <a:prstGeom prst="rect">
            <a:avLst/>
          </a:prstGeom>
          <a:noFill/>
          <a:ln/>
        </p:spPr>
        <p:txBody>
          <a:bodyPr wrap="square" lIns="0" tIns="0" rIns="0" bIns="0" rtlCol="0" anchor="ctr"/>
          <a:lstStyle/>
          <a:p>
            <a:pPr indent="0" marL="0">
              <a:buNone/>
            </a:pPr>
            <a:r>
              <a:rPr lang="en-US" sz="1200" dirty="0">
                <a:solidFill>
                  <a:schemeClr val="tx2"/>
                </a:solidFill>
              </a:rPr>
              <a:t>APIs, DOI-only, dataset repos, audio / video</a:t>
            </a:r>
            <a:endParaRPr lang="en-US" sz="1200" dirty="0"/>
          </a:p>
        </p:txBody>
      </p:sp>
      <p:sp>
        <p:nvSpPr>
          <p:cNvPr id="40" name="Shape 37"/>
          <p:cNvSpPr/>
          <p:nvPr/>
        </p:nvSpPr>
        <p:spPr>
          <a:xfrm>
            <a:off x="7589520" y="1463040"/>
            <a:ext cx="4050792" cy="4572000"/>
          </a:xfrm>
          <a:prstGeom prst="roundRect">
            <a:avLst>
              <a:gd name="adj" fmla="val 2257"/>
            </a:avLst>
          </a:prstGeom>
          <a:solidFill>
            <a:schemeClr val="tx1"/>
          </a:solidFill>
          <a:ln w="12700">
            <a:solidFill>
              <a:schemeClr val="tx1"/>
            </a:solidFill>
            <a:prstDash val="solid"/>
          </a:ln>
        </p:spPr>
      </p:sp>
      <p:sp>
        <p:nvSpPr>
          <p:cNvPr id="41" name="Text 38"/>
          <p:cNvSpPr txBox="1"/>
          <p:nvPr/>
        </p:nvSpPr>
        <p:spPr>
          <a:xfrm>
            <a:off x="7863840" y="1645920"/>
            <a:ext cx="3566160" cy="365760"/>
          </a:xfrm>
          <a:prstGeom prst="rect">
            <a:avLst/>
          </a:prstGeom>
          <a:noFill/>
          <a:ln/>
        </p:spPr>
        <p:txBody>
          <a:bodyPr wrap="square" lIns="0" tIns="0" rIns="0" bIns="0" rtlCol="0" anchor="t"/>
          <a:lstStyle/>
          <a:p>
            <a:pPr indent="0" marL="0">
              <a:buNone/>
            </a:pPr>
            <a:r>
              <a:rPr lang="en-US" sz="1800" b="1" dirty="0">
                <a:solidFill>
                  <a:schemeClr val="bg1"/>
                </a:solidFill>
              </a:rPr>
              <a:t>Trust &amp; Quality Score</a:t>
            </a:r>
            <a:endParaRPr lang="en-US" sz="1800" dirty="0"/>
          </a:p>
        </p:txBody>
      </p:sp>
      <p:sp>
        <p:nvSpPr>
          <p:cNvPr id="42" name="Text 39"/>
          <p:cNvSpPr txBox="1"/>
          <p:nvPr/>
        </p:nvSpPr>
        <p:spPr>
          <a:xfrm>
            <a:off x="7863840" y="2057400"/>
            <a:ext cx="356616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0 – 1</a:t>
            </a:r>
            <a:endParaRPr lang="en-US" sz="4800" dirty="0"/>
          </a:p>
        </p:txBody>
      </p:sp>
      <p:sp>
        <p:nvSpPr>
          <p:cNvPr id="43" name="Text 40"/>
          <p:cNvSpPr txBox="1"/>
          <p:nvPr/>
        </p:nvSpPr>
        <p:spPr>
          <a:xfrm>
            <a:off x="7863840" y="3017520"/>
            <a:ext cx="356616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bg1"/>
                </a:solidFill>
              </a:rPr>
              <a:t>Source reputation</a:t>
            </a:r>
            <a:endParaRPr lang="en-US" sz="1400" dirty="0"/>
          </a:p>
          <a:p>
            <a:pPr marL="177800" indent="-177800">
              <a:spcAft>
                <a:spcPts val="400"/>
              </a:spcAft>
              <a:buSzPct val="100000"/>
              <a:buChar char="•"/>
            </a:pPr>
            <a:r>
              <a:rPr lang="en-US" sz="1400" dirty="0">
                <a:solidFill>
                  <a:schemeClr val="bg1"/>
                </a:solidFill>
              </a:rPr>
              <a:t>Domain authority</a:t>
            </a:r>
            <a:endParaRPr lang="en-US" sz="1400" dirty="0"/>
          </a:p>
          <a:p>
            <a:pPr marL="177800" indent="-177800">
              <a:spcAft>
                <a:spcPts val="400"/>
              </a:spcAft>
              <a:buSzPct val="100000"/>
              <a:buChar char="•"/>
            </a:pPr>
            <a:r>
              <a:rPr lang="en-US" sz="1400" dirty="0">
                <a:solidFill>
                  <a:schemeClr val="bg1"/>
                </a:solidFill>
              </a:rPr>
              <a:t>Content credibility</a:t>
            </a:r>
            <a:endParaRPr lang="en-US" sz="1400" dirty="0"/>
          </a:p>
          <a:p>
            <a:pPr marL="177800" indent="-177800">
              <a:spcAft>
                <a:spcPts val="400"/>
              </a:spcAft>
              <a:buSzPct val="100000"/>
              <a:buChar char="•"/>
            </a:pPr>
            <a:r>
              <a:rPr lang="en-US" sz="1400" dirty="0">
                <a:solidFill>
                  <a:schemeClr val="bg1"/>
                </a:solidFill>
              </a:rPr>
              <a:t>Publication type</a:t>
            </a:r>
            <a:endParaRPr lang="en-US" sz="1400" dirty="0"/>
          </a:p>
          <a:p>
            <a:pPr marL="177800" indent="-177800">
              <a:spcAft>
                <a:spcPts val="400"/>
              </a:spcAft>
              <a:buSzPct val="100000"/>
              <a:buChar char="•"/>
            </a:pPr>
            <a:r>
              <a:rPr lang="en-US" sz="1400" dirty="0">
                <a:solidFill>
                  <a:schemeClr val="bg1"/>
                </a:solidFill>
              </a:rPr>
              <a:t>Recency</a:t>
            </a:r>
            <a:endParaRPr lang="en-US" sz="1400" dirty="0"/>
          </a:p>
          <a:p>
            <a:pPr marL="177800" indent="-177800">
              <a:spcAft>
                <a:spcPts val="400"/>
              </a:spcAft>
              <a:buSzPct val="100000"/>
              <a:buChar char="•"/>
            </a:pPr>
            <a:r>
              <a:rPr lang="en-US" sz="1400" dirty="0">
                <a:solidFill>
                  <a:schemeClr val="bg1"/>
                </a:solidFill>
              </a:rPr>
              <a:t>Cross-source verification</a:t>
            </a:r>
            <a:endParaRPr lang="en-US" sz="1400" dirty="0"/>
          </a:p>
          <a:p>
            <a:pPr marL="177800" indent="-177800">
              <a:spcAft>
                <a:spcPts val="400"/>
              </a:spcAft>
              <a:buSzPct val="100000"/>
              <a:buChar char="•"/>
            </a:pPr>
            <a:r>
              <a:rPr lang="en-US" sz="1400" dirty="0">
                <a:solidFill>
                  <a:schemeClr val="bg1"/>
                </a:solidFill>
              </a:rPr>
              <a:t>Content quality analysis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Document Processing &amp; Parsing</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card Docling"/>
          <p:cNvSpPr/>
          <p:nvPr/>
        </p:nvSpPr>
        <p:spPr>
          <a:xfrm>
            <a:off x="548640" y="1463040"/>
            <a:ext cx="3270504" cy="3108960"/>
          </a:xfrm>
          <a:prstGeom prst="roundRect">
            <a:avLst>
              <a:gd name="adj" fmla="val 294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Docling"/>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310384" cy="530352"/>
          </a:xfrm>
          <a:prstGeom prst="rect">
            <a:avLst/>
          </a:prstGeom>
          <a:noFill/>
          <a:ln/>
        </p:spPr>
        <p:txBody>
          <a:bodyPr wrap="square" lIns="0" tIns="0" rIns="0" bIns="0" rtlCol="0" anchor="ctr"/>
          <a:lstStyle/>
          <a:p>
            <a:pPr indent="0" marL="0">
              <a:buNone/>
            </a:pPr>
            <a:r>
              <a:rPr lang="en-US" sz="1500" b="1" dirty="0">
                <a:solidFill>
                  <a:schemeClr val="tx1"/>
                </a:solidFill>
              </a:rPr>
              <a:t>Docling</a:t>
            </a:r>
            <a:endParaRPr lang="en-US" sz="1500" dirty="0"/>
          </a:p>
        </p:txBody>
      </p:sp>
      <p:sp>
        <p:nvSpPr>
          <p:cNvPr id="9" name="Text 5"/>
          <p:cNvSpPr txBox="1"/>
          <p:nvPr/>
        </p:nvSpPr>
        <p:spPr>
          <a:xfrm>
            <a:off x="777240" y="2286000"/>
            <a:ext cx="2859024" cy="2194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Layout analysis</a:t>
            </a:r>
            <a:endParaRPr lang="en-US" sz="1400" dirty="0"/>
          </a:p>
          <a:p>
            <a:pPr marL="177800" indent="-177800">
              <a:spcAft>
                <a:spcPts val="400"/>
              </a:spcAft>
              <a:buSzPct val="100000"/>
              <a:buChar char="•"/>
            </a:pPr>
            <a:r>
              <a:rPr lang="en-US" sz="1400" dirty="0">
                <a:solidFill>
                  <a:schemeClr val="tx1"/>
                </a:solidFill>
              </a:rPr>
              <a:t>Table extraction</a:t>
            </a:r>
            <a:endParaRPr lang="en-US" sz="1400" dirty="0"/>
          </a:p>
          <a:p>
            <a:pPr marL="177800" indent="-177800">
              <a:spcAft>
                <a:spcPts val="400"/>
              </a:spcAft>
              <a:buSzPct val="100000"/>
              <a:buChar char="•"/>
            </a:pPr>
            <a:r>
              <a:rPr lang="en-US" sz="1400" dirty="0">
                <a:solidFill>
                  <a:schemeClr val="tx1"/>
                </a:solidFill>
              </a:rPr>
              <a:t>Figure detection</a:t>
            </a:r>
            <a:endParaRPr lang="en-US" sz="1400" dirty="0"/>
          </a:p>
          <a:p>
            <a:pPr marL="177800" indent="-177800">
              <a:spcAft>
                <a:spcPts val="400"/>
              </a:spcAft>
              <a:buSzPct val="100000"/>
              <a:buChar char="•"/>
            </a:pPr>
            <a:r>
              <a:rPr lang="en-US" sz="1400" dirty="0">
                <a:solidFill>
                  <a:schemeClr val="tx1"/>
                </a:solidFill>
              </a:rPr>
              <a:t>Structure recognition</a:t>
            </a:r>
            <a:endParaRPr lang="en-US" sz="1400" dirty="0"/>
          </a:p>
          <a:p>
            <a:pPr marL="177800" indent="-177800">
              <a:spcAft>
                <a:spcPts val="400"/>
              </a:spcAft>
              <a:buSzPct val="100000"/>
              <a:buChar char="•"/>
            </a:pPr>
            <a:r>
              <a:rPr lang="en-US" sz="1400" dirty="0">
                <a:solidFill>
                  <a:schemeClr val="tx1"/>
                </a:solidFill>
              </a:rPr>
              <a:t>Page segmentation, OCR</a:t>
            </a:r>
            <a:endParaRPr lang="en-US" sz="1400" dirty="0"/>
          </a:p>
        </p:txBody>
      </p:sp>
      <p:sp>
        <p:nvSpPr>
          <p:cNvPr id="10" name="arrow 0"/>
          <p:cNvSpPr/>
          <p:nvPr/>
        </p:nvSpPr>
        <p:spPr>
          <a:xfrm>
            <a:off x="3910584" y="2788920"/>
            <a:ext cx="457200" cy="457200"/>
          </a:xfrm>
          <a:prstGeom prst="ellipse">
            <a:avLst/>
          </a:prstGeom>
          <a:solidFill>
            <a:schemeClr val="tx2"/>
          </a:solidFill>
          <a:ln w="12700">
            <a:solidFill>
              <a:schemeClr val="tx2"/>
            </a:solidFill>
            <a:prstDash val="solid"/>
          </a:ln>
        </p:spPr>
      </p:sp>
      <p:pic>
        <p:nvPicPr>
          <p:cNvPr id="11" name="Image 1" descr="icon">    </p:cNvPr>
          <p:cNvPicPr>
            <a:picLocks noChangeAspect="1"/>
          </p:cNvPicPr>
          <p:nvPr/>
        </p:nvPicPr>
        <p:blipFill>
          <a:blip r:embed="rId2"/>
          <a:stretch>
            <a:fillRect/>
          </a:stretch>
        </p:blipFill>
        <p:spPr>
          <a:xfrm>
            <a:off x="4024884" y="2903220"/>
            <a:ext cx="228600" cy="228600"/>
          </a:xfrm>
          <a:prstGeom prst="rect">
            <a:avLst/>
          </a:prstGeom>
        </p:spPr>
      </p:pic>
      <p:sp>
        <p:nvSpPr>
          <p:cNvPr id="12" name="card LlamaIndex"/>
          <p:cNvSpPr/>
          <p:nvPr/>
        </p:nvSpPr>
        <p:spPr>
          <a:xfrm>
            <a:off x="4459224" y="1463040"/>
            <a:ext cx="3270504" cy="3108960"/>
          </a:xfrm>
          <a:prstGeom prst="roundRect">
            <a:avLst>
              <a:gd name="adj" fmla="val 294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icon LlamaIndex"/>
          <p:cNvSpPr/>
          <p:nvPr/>
        </p:nvSpPr>
        <p:spPr>
          <a:xfrm>
            <a:off x="4642104" y="1645920"/>
            <a:ext cx="475488" cy="475488"/>
          </a:xfrm>
          <a:prstGeom prst="ellipse">
            <a:avLst/>
          </a:prstGeom>
          <a:solidFill>
            <a:schemeClr val="accent3"/>
          </a:solidFill>
          <a:ln w="12700">
            <a:solidFill>
              <a:schemeClr val="accent3"/>
            </a:solidFill>
            <a:prstDash val="solid"/>
          </a:ln>
        </p:spPr>
      </p:sp>
      <p:pic>
        <p:nvPicPr>
          <p:cNvPr id="14" name="Image 2" descr="icon">    </p:cNvPr>
          <p:cNvPicPr>
            <a:picLocks noChangeAspect="1"/>
          </p:cNvPicPr>
          <p:nvPr/>
        </p:nvPicPr>
        <p:blipFill>
          <a:blip r:embed="rId3"/>
          <a:stretch>
            <a:fillRect/>
          </a:stretch>
        </p:blipFill>
        <p:spPr>
          <a:xfrm>
            <a:off x="4760976" y="1764792"/>
            <a:ext cx="237744" cy="237744"/>
          </a:xfrm>
          <a:prstGeom prst="rect">
            <a:avLst/>
          </a:prstGeom>
        </p:spPr>
      </p:pic>
      <p:sp>
        <p:nvSpPr>
          <p:cNvPr id="15" name="Text 9"/>
          <p:cNvSpPr txBox="1"/>
          <p:nvPr/>
        </p:nvSpPr>
        <p:spPr>
          <a:xfrm>
            <a:off x="5263896" y="1618488"/>
            <a:ext cx="2310384" cy="530352"/>
          </a:xfrm>
          <a:prstGeom prst="rect">
            <a:avLst/>
          </a:prstGeom>
          <a:noFill/>
          <a:ln/>
        </p:spPr>
        <p:txBody>
          <a:bodyPr wrap="square" lIns="0" tIns="0" rIns="0" bIns="0" rtlCol="0" anchor="ctr"/>
          <a:lstStyle/>
          <a:p>
            <a:pPr indent="0" marL="0">
              <a:buNone/>
            </a:pPr>
            <a:r>
              <a:rPr lang="en-US" sz="1500" b="1" dirty="0">
                <a:solidFill>
                  <a:schemeClr val="tx1"/>
                </a:solidFill>
              </a:rPr>
              <a:t>LlamaIndex</a:t>
            </a:r>
            <a:endParaRPr lang="en-US" sz="1500" dirty="0"/>
          </a:p>
        </p:txBody>
      </p:sp>
      <p:sp>
        <p:nvSpPr>
          <p:cNvPr id="16" name="Text 10"/>
          <p:cNvSpPr txBox="1"/>
          <p:nvPr/>
        </p:nvSpPr>
        <p:spPr>
          <a:xfrm>
            <a:off x="4687824" y="2286000"/>
            <a:ext cx="2859024" cy="2194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Document abstraction</a:t>
            </a:r>
            <a:endParaRPr lang="en-US" sz="1400" dirty="0"/>
          </a:p>
          <a:p>
            <a:pPr marL="177800" indent="-177800">
              <a:spcAft>
                <a:spcPts val="400"/>
              </a:spcAft>
              <a:buSzPct val="100000"/>
              <a:buChar char="•"/>
            </a:pPr>
            <a:r>
              <a:rPr lang="en-US" sz="1400" dirty="0">
                <a:solidFill>
                  <a:schemeClr val="tx1"/>
                </a:solidFill>
              </a:rPr>
              <a:t>Parse → nodes</a:t>
            </a:r>
            <a:endParaRPr lang="en-US" sz="1400" dirty="0"/>
          </a:p>
          <a:p>
            <a:pPr marL="177800" indent="-177800">
              <a:spcAft>
                <a:spcPts val="400"/>
              </a:spcAft>
              <a:buSzPct val="100000"/>
              <a:buChar char="•"/>
            </a:pPr>
            <a:r>
              <a:rPr lang="en-US" sz="1400" dirty="0">
                <a:solidFill>
                  <a:schemeClr val="tx1"/>
                </a:solidFill>
              </a:rPr>
              <a:t>Hybrid index</a:t>
            </a:r>
            <a:endParaRPr lang="en-US" sz="1400" dirty="0"/>
          </a:p>
          <a:p>
            <a:pPr marL="177800" indent="-177800">
              <a:spcAft>
                <a:spcPts val="400"/>
              </a:spcAft>
              <a:buSzPct val="100000"/>
              <a:buChar char="•"/>
            </a:pPr>
            <a:r>
              <a:rPr lang="en-US" sz="1400" dirty="0">
                <a:solidFill>
                  <a:schemeClr val="tx1"/>
                </a:solidFill>
              </a:rPr>
              <a:t>Metadata enrichment</a:t>
            </a:r>
            <a:endParaRPr lang="en-US" sz="1400" dirty="0"/>
          </a:p>
        </p:txBody>
      </p:sp>
      <p:sp>
        <p:nvSpPr>
          <p:cNvPr id="17" name="arrow 1"/>
          <p:cNvSpPr/>
          <p:nvPr/>
        </p:nvSpPr>
        <p:spPr>
          <a:xfrm>
            <a:off x="7821168" y="2788920"/>
            <a:ext cx="457200" cy="457200"/>
          </a:xfrm>
          <a:prstGeom prst="ellipse">
            <a:avLst/>
          </a:prstGeom>
          <a:solidFill>
            <a:schemeClr val="tx2"/>
          </a:solidFill>
          <a:ln w="12700">
            <a:solidFill>
              <a:schemeClr val="tx2"/>
            </a:solidFill>
            <a:prstDash val="solid"/>
          </a:ln>
        </p:spPr>
      </p:sp>
      <p:pic>
        <p:nvPicPr>
          <p:cNvPr id="18" name="Image 3" descr="icon">    </p:cNvPr>
          <p:cNvPicPr>
            <a:picLocks noChangeAspect="1"/>
          </p:cNvPicPr>
          <p:nvPr/>
        </p:nvPicPr>
        <p:blipFill>
          <a:blip r:embed="rId4"/>
          <a:stretch>
            <a:fillRect/>
          </a:stretch>
        </p:blipFill>
        <p:spPr>
          <a:xfrm>
            <a:off x="7935468" y="2903220"/>
            <a:ext cx="228600" cy="228600"/>
          </a:xfrm>
          <a:prstGeom prst="rect">
            <a:avLst/>
          </a:prstGeom>
        </p:spPr>
      </p:pic>
      <p:sp>
        <p:nvSpPr>
          <p:cNvPr id="19" name="card Canonical Models"/>
          <p:cNvSpPr/>
          <p:nvPr/>
        </p:nvSpPr>
        <p:spPr>
          <a:xfrm>
            <a:off x="8369808" y="1463040"/>
            <a:ext cx="3270504" cy="3108960"/>
          </a:xfrm>
          <a:prstGeom prst="roundRect">
            <a:avLst>
              <a:gd name="adj" fmla="val 294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icon Canonical Models"/>
          <p:cNvSpPr/>
          <p:nvPr/>
        </p:nvSpPr>
        <p:spPr>
          <a:xfrm>
            <a:off x="8552688" y="1645920"/>
            <a:ext cx="475488" cy="475488"/>
          </a:xfrm>
          <a:prstGeom prst="ellipse">
            <a:avLst/>
          </a:prstGeom>
          <a:solidFill>
            <a:schemeClr val="accent2"/>
          </a:solidFill>
          <a:ln w="12700">
            <a:solidFill>
              <a:schemeClr val="accent2"/>
            </a:solidFill>
            <a:prstDash val="solid"/>
          </a:ln>
        </p:spPr>
      </p:sp>
      <p:pic>
        <p:nvPicPr>
          <p:cNvPr id="21" name="Image 4" descr="icon">    </p:cNvPr>
          <p:cNvPicPr>
            <a:picLocks noChangeAspect="1"/>
          </p:cNvPicPr>
          <p:nvPr/>
        </p:nvPicPr>
        <p:blipFill>
          <a:blip r:embed="rId5"/>
          <a:stretch>
            <a:fillRect/>
          </a:stretch>
        </p:blipFill>
        <p:spPr>
          <a:xfrm>
            <a:off x="8671560" y="1764792"/>
            <a:ext cx="237744" cy="237744"/>
          </a:xfrm>
          <a:prstGeom prst="rect">
            <a:avLst/>
          </a:prstGeom>
        </p:spPr>
      </p:pic>
      <p:sp>
        <p:nvSpPr>
          <p:cNvPr id="22" name="Text 14"/>
          <p:cNvSpPr txBox="1"/>
          <p:nvPr/>
        </p:nvSpPr>
        <p:spPr>
          <a:xfrm>
            <a:off x="9174480" y="1618488"/>
            <a:ext cx="2310384" cy="530352"/>
          </a:xfrm>
          <a:prstGeom prst="rect">
            <a:avLst/>
          </a:prstGeom>
          <a:noFill/>
          <a:ln/>
        </p:spPr>
        <p:txBody>
          <a:bodyPr wrap="square" lIns="0" tIns="0" rIns="0" bIns="0" rtlCol="0" anchor="ctr"/>
          <a:lstStyle/>
          <a:p>
            <a:pPr indent="0" marL="0">
              <a:buNone/>
            </a:pPr>
            <a:r>
              <a:rPr lang="en-US" sz="1500" b="1" dirty="0">
                <a:solidFill>
                  <a:schemeClr val="tx1"/>
                </a:solidFill>
              </a:rPr>
              <a:t>Canonical Models</a:t>
            </a:r>
            <a:endParaRPr lang="en-US" sz="1500" dirty="0"/>
          </a:p>
        </p:txBody>
      </p:sp>
      <p:sp>
        <p:nvSpPr>
          <p:cNvPr id="23" name="Text 15"/>
          <p:cNvSpPr txBox="1"/>
          <p:nvPr/>
        </p:nvSpPr>
        <p:spPr>
          <a:xfrm>
            <a:off x="8598408" y="2286000"/>
            <a:ext cx="2859024" cy="2194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ParsedDocument</a:t>
            </a:r>
            <a:endParaRPr lang="en-US" sz="1400" dirty="0"/>
          </a:p>
          <a:p>
            <a:pPr marL="177800" indent="-177800">
              <a:spcAft>
                <a:spcPts val="400"/>
              </a:spcAft>
              <a:buSzPct val="100000"/>
              <a:buChar char="•"/>
            </a:pPr>
            <a:r>
              <a:rPr lang="en-US" sz="1400" dirty="0">
                <a:solidFill>
                  <a:schemeClr val="tx1"/>
                </a:solidFill>
              </a:rPr>
              <a:t>ParsedNode</a:t>
            </a:r>
            <a:endParaRPr lang="en-US" sz="1400" dirty="0"/>
          </a:p>
          <a:p>
            <a:pPr marL="177800" indent="-177800">
              <a:spcAft>
                <a:spcPts val="400"/>
              </a:spcAft>
              <a:buSzPct val="100000"/>
              <a:buChar char="•"/>
            </a:pPr>
            <a:r>
              <a:rPr lang="en-US" sz="1400" dirty="0">
                <a:solidFill>
                  <a:schemeClr val="tx1"/>
                </a:solidFill>
              </a:rPr>
              <a:t>Field-level provenance</a:t>
            </a:r>
            <a:endParaRPr lang="en-US" sz="1400" dirty="0"/>
          </a:p>
          <a:p>
            <a:pPr marL="177800" indent="-177800">
              <a:spcAft>
                <a:spcPts val="400"/>
              </a:spcAft>
              <a:buSzPct val="100000"/>
              <a:buChar char="•"/>
            </a:pPr>
            <a:r>
              <a:rPr lang="en-US" sz="1400" dirty="0">
                <a:solidFill>
                  <a:schemeClr val="tx1"/>
                </a:solidFill>
              </a:rPr>
              <a:t>Content level tracked</a:t>
            </a:r>
            <a:endParaRPr lang="en-US" sz="1400" dirty="0"/>
          </a:p>
        </p:txBody>
      </p:sp>
      <p:sp>
        <p:nvSpPr>
          <p:cNvPr id="24" name="Text 16"/>
          <p:cNvSpPr txBox="1"/>
          <p:nvPr/>
        </p:nvSpPr>
        <p:spPr>
          <a:xfrm>
            <a:off x="548640" y="4754880"/>
            <a:ext cx="4572000" cy="274320"/>
          </a:xfrm>
          <a:prstGeom prst="rect">
            <a:avLst/>
          </a:prstGeom>
          <a:noFill/>
          <a:ln/>
        </p:spPr>
        <p:txBody>
          <a:bodyPr wrap="square" lIns="0" tIns="0" rIns="0" bIns="0" rtlCol="0" anchor="t"/>
          <a:lstStyle/>
          <a:p>
            <a:pPr indent="0" marL="0">
              <a:buNone/>
            </a:pPr>
            <a:r>
              <a:rPr lang="en-US" sz="1400" b="1" dirty="0">
                <a:solidFill>
                  <a:schemeClr val="tx2"/>
                </a:solidFill>
              </a:rPr>
              <a:t>Parser per file type</a:t>
            </a:r>
            <a:endParaRPr lang="en-US" sz="1400" dirty="0"/>
          </a:p>
        </p:txBody>
      </p:sp>
      <p:sp>
        <p:nvSpPr>
          <p:cNvPr id="25" name="Shape 17"/>
          <p:cNvSpPr/>
          <p:nvPr/>
        </p:nvSpPr>
        <p:spPr>
          <a:xfrm>
            <a:off x="548640" y="5120640"/>
            <a:ext cx="2651760" cy="914400"/>
          </a:xfrm>
          <a:prstGeom prst="roundRect">
            <a:avLst>
              <a:gd name="adj" fmla="val 8000"/>
            </a:avLst>
          </a:prstGeom>
          <a:solidFill>
            <a:schemeClr val="bg2"/>
          </a:solidFill>
          <a:ln w="12700">
            <a:solidFill>
              <a:schemeClr val="bg2"/>
            </a:solidFill>
            <a:prstDash val="solid"/>
          </a:ln>
        </p:spPr>
      </p:sp>
      <p:sp>
        <p:nvSpPr>
          <p:cNvPr id="26" name="Text 18"/>
          <p:cNvSpPr txBox="1"/>
          <p:nvPr/>
        </p:nvSpPr>
        <p:spPr>
          <a:xfrm>
            <a:off x="685800" y="5193792"/>
            <a:ext cx="2377440" cy="320040"/>
          </a:xfrm>
          <a:prstGeom prst="rect">
            <a:avLst/>
          </a:prstGeom>
          <a:noFill/>
          <a:ln/>
        </p:spPr>
        <p:txBody>
          <a:bodyPr wrap="square" lIns="0" tIns="0" rIns="0" bIns="0" rtlCol="0" anchor="t"/>
          <a:lstStyle/>
          <a:p>
            <a:pPr indent="0" marL="0">
              <a:buNone/>
            </a:pPr>
            <a:r>
              <a:rPr lang="en-US" sz="1400" b="1" dirty="0">
                <a:solidFill>
                  <a:schemeClr val="accent1"/>
                </a:solidFill>
              </a:rPr>
              <a:t>PDF</a:t>
            </a:r>
            <a:endParaRPr lang="en-US" sz="1400" dirty="0"/>
          </a:p>
        </p:txBody>
      </p:sp>
      <p:sp>
        <p:nvSpPr>
          <p:cNvPr id="27" name="Text 19"/>
          <p:cNvSpPr txBox="1"/>
          <p:nvPr/>
        </p:nvSpPr>
        <p:spPr>
          <a:xfrm>
            <a:off x="685800" y="5532120"/>
            <a:ext cx="2377440" cy="457200"/>
          </a:xfrm>
          <a:prstGeom prst="rect">
            <a:avLst/>
          </a:prstGeom>
          <a:noFill/>
          <a:ln/>
        </p:spPr>
        <p:txBody>
          <a:bodyPr wrap="square" lIns="0" tIns="0" rIns="0" bIns="0" rtlCol="0" anchor="t"/>
          <a:lstStyle/>
          <a:p>
            <a:pPr indent="0" marL="0">
              <a:buNone/>
            </a:pPr>
            <a:r>
              <a:rPr lang="en-US" sz="1200" dirty="0">
                <a:solidFill>
                  <a:schemeClr val="tx2"/>
                </a:solidFill>
              </a:rPr>
              <a:t>Docling (pypdf fallback)</a:t>
            </a:r>
            <a:endParaRPr lang="en-US" sz="1200" dirty="0"/>
          </a:p>
        </p:txBody>
      </p:sp>
      <p:sp>
        <p:nvSpPr>
          <p:cNvPr id="28" name="Shape 20"/>
          <p:cNvSpPr/>
          <p:nvPr/>
        </p:nvSpPr>
        <p:spPr>
          <a:xfrm>
            <a:off x="3355848" y="5120640"/>
            <a:ext cx="2651760" cy="914400"/>
          </a:xfrm>
          <a:prstGeom prst="roundRect">
            <a:avLst>
              <a:gd name="adj" fmla="val 8000"/>
            </a:avLst>
          </a:prstGeom>
          <a:solidFill>
            <a:schemeClr val="bg2"/>
          </a:solidFill>
          <a:ln w="12700">
            <a:solidFill>
              <a:schemeClr val="bg2"/>
            </a:solidFill>
            <a:prstDash val="solid"/>
          </a:ln>
        </p:spPr>
      </p:sp>
      <p:sp>
        <p:nvSpPr>
          <p:cNvPr id="29" name="Text 21"/>
          <p:cNvSpPr txBox="1"/>
          <p:nvPr/>
        </p:nvSpPr>
        <p:spPr>
          <a:xfrm>
            <a:off x="3493008" y="5193792"/>
            <a:ext cx="2377440" cy="320040"/>
          </a:xfrm>
          <a:prstGeom prst="rect">
            <a:avLst/>
          </a:prstGeom>
          <a:noFill/>
          <a:ln/>
        </p:spPr>
        <p:txBody>
          <a:bodyPr wrap="square" lIns="0" tIns="0" rIns="0" bIns="0" rtlCol="0" anchor="t"/>
          <a:lstStyle/>
          <a:p>
            <a:pPr indent="0" marL="0">
              <a:buNone/>
            </a:pPr>
            <a:r>
              <a:rPr lang="en-US" sz="1400" b="1" dirty="0">
                <a:solidFill>
                  <a:schemeClr val="accent2"/>
                </a:solidFill>
              </a:rPr>
              <a:t>DOCX</a:t>
            </a:r>
            <a:endParaRPr lang="en-US" sz="1400" dirty="0"/>
          </a:p>
        </p:txBody>
      </p:sp>
      <p:sp>
        <p:nvSpPr>
          <p:cNvPr id="30" name="Text 22"/>
          <p:cNvSpPr txBox="1"/>
          <p:nvPr/>
        </p:nvSpPr>
        <p:spPr>
          <a:xfrm>
            <a:off x="3493008" y="5532120"/>
            <a:ext cx="2377440" cy="457200"/>
          </a:xfrm>
          <a:prstGeom prst="rect">
            <a:avLst/>
          </a:prstGeom>
          <a:noFill/>
          <a:ln/>
        </p:spPr>
        <p:txBody>
          <a:bodyPr wrap="square" lIns="0" tIns="0" rIns="0" bIns="0" rtlCol="0" anchor="t"/>
          <a:lstStyle/>
          <a:p>
            <a:pPr indent="0" marL="0">
              <a:buNone/>
            </a:pPr>
            <a:r>
              <a:rPr lang="en-US" sz="1200" dirty="0">
                <a:solidFill>
                  <a:schemeClr val="tx2"/>
                </a:solidFill>
              </a:rPr>
              <a:t>Docling + secure archive check</a:t>
            </a:r>
            <a:endParaRPr lang="en-US" sz="1200" dirty="0"/>
          </a:p>
        </p:txBody>
      </p:sp>
      <p:sp>
        <p:nvSpPr>
          <p:cNvPr id="31" name="Shape 23"/>
          <p:cNvSpPr/>
          <p:nvPr/>
        </p:nvSpPr>
        <p:spPr>
          <a:xfrm>
            <a:off x="6163056" y="5120640"/>
            <a:ext cx="2651760" cy="914400"/>
          </a:xfrm>
          <a:prstGeom prst="roundRect">
            <a:avLst>
              <a:gd name="adj" fmla="val 8000"/>
            </a:avLst>
          </a:prstGeom>
          <a:solidFill>
            <a:schemeClr val="bg2"/>
          </a:solidFill>
          <a:ln w="12700">
            <a:solidFill>
              <a:schemeClr val="bg2"/>
            </a:solidFill>
            <a:prstDash val="solid"/>
          </a:ln>
        </p:spPr>
      </p:sp>
      <p:sp>
        <p:nvSpPr>
          <p:cNvPr id="32" name="Text 24"/>
          <p:cNvSpPr txBox="1"/>
          <p:nvPr/>
        </p:nvSpPr>
        <p:spPr>
          <a:xfrm>
            <a:off x="6300216" y="5193792"/>
            <a:ext cx="2377440" cy="320040"/>
          </a:xfrm>
          <a:prstGeom prst="rect">
            <a:avLst/>
          </a:prstGeom>
          <a:noFill/>
          <a:ln/>
        </p:spPr>
        <p:txBody>
          <a:bodyPr wrap="square" lIns="0" tIns="0" rIns="0" bIns="0" rtlCol="0" anchor="t"/>
          <a:lstStyle/>
          <a:p>
            <a:pPr indent="0" marL="0">
              <a:buNone/>
            </a:pPr>
            <a:r>
              <a:rPr lang="en-US" sz="1400" b="1" dirty="0">
                <a:solidFill>
                  <a:schemeClr val="accent3"/>
                </a:solidFill>
              </a:rPr>
              <a:t>MD / TXT</a:t>
            </a:r>
            <a:endParaRPr lang="en-US" sz="1400" dirty="0"/>
          </a:p>
        </p:txBody>
      </p:sp>
      <p:sp>
        <p:nvSpPr>
          <p:cNvPr id="33" name="Text 25"/>
          <p:cNvSpPr txBox="1"/>
          <p:nvPr/>
        </p:nvSpPr>
        <p:spPr>
          <a:xfrm>
            <a:off x="6300216" y="5532120"/>
            <a:ext cx="2377440" cy="457200"/>
          </a:xfrm>
          <a:prstGeom prst="rect">
            <a:avLst/>
          </a:prstGeom>
          <a:noFill/>
          <a:ln/>
        </p:spPr>
        <p:txBody>
          <a:bodyPr wrap="square" lIns="0" tIns="0" rIns="0" bIns="0" rtlCol="0" anchor="t"/>
          <a:lstStyle/>
          <a:p>
            <a:pPr indent="0" marL="0">
              <a:buNone/>
            </a:pPr>
            <a:r>
              <a:rPr lang="en-US" sz="1200" dirty="0">
                <a:solidFill>
                  <a:schemeClr val="tx2"/>
                </a:solidFill>
              </a:rPr>
              <a:t>Direct parser</a:t>
            </a:r>
            <a:endParaRPr lang="en-US" sz="1200" dirty="0"/>
          </a:p>
        </p:txBody>
      </p:sp>
      <p:sp>
        <p:nvSpPr>
          <p:cNvPr id="34" name="Shape 26"/>
          <p:cNvSpPr/>
          <p:nvPr/>
        </p:nvSpPr>
        <p:spPr>
          <a:xfrm>
            <a:off x="8970264" y="5120640"/>
            <a:ext cx="2651760" cy="914400"/>
          </a:xfrm>
          <a:prstGeom prst="roundRect">
            <a:avLst>
              <a:gd name="adj" fmla="val 8000"/>
            </a:avLst>
          </a:prstGeom>
          <a:solidFill>
            <a:schemeClr val="bg2"/>
          </a:solidFill>
          <a:ln w="12700">
            <a:solidFill>
              <a:schemeClr val="bg2"/>
            </a:solidFill>
            <a:prstDash val="solid"/>
          </a:ln>
        </p:spPr>
      </p:sp>
      <p:sp>
        <p:nvSpPr>
          <p:cNvPr id="35" name="Text 27"/>
          <p:cNvSpPr txBox="1"/>
          <p:nvPr/>
        </p:nvSpPr>
        <p:spPr>
          <a:xfrm>
            <a:off x="9107424" y="5193792"/>
            <a:ext cx="2377440" cy="320040"/>
          </a:xfrm>
          <a:prstGeom prst="rect">
            <a:avLst/>
          </a:prstGeom>
          <a:noFill/>
          <a:ln/>
        </p:spPr>
        <p:txBody>
          <a:bodyPr wrap="square" lIns="0" tIns="0" rIns="0" bIns="0" rtlCol="0" anchor="t"/>
          <a:lstStyle/>
          <a:p>
            <a:pPr indent="0" marL="0">
              <a:buNone/>
            </a:pPr>
            <a:r>
              <a:rPr lang="en-US" sz="1400" b="1" dirty="0">
                <a:solidFill>
                  <a:schemeClr val="accent4"/>
                </a:solidFill>
              </a:rPr>
              <a:t>PPTX, HTML, XLSX, images</a:t>
            </a:r>
            <a:endParaRPr lang="en-US" sz="1400" dirty="0"/>
          </a:p>
        </p:txBody>
      </p:sp>
      <p:sp>
        <p:nvSpPr>
          <p:cNvPr id="36" name="Text 28"/>
          <p:cNvSpPr txBox="1"/>
          <p:nvPr/>
        </p:nvSpPr>
        <p:spPr>
          <a:xfrm>
            <a:off x="9107424" y="5532120"/>
            <a:ext cx="2377440" cy="457200"/>
          </a:xfrm>
          <a:prstGeom prst="rect">
            <a:avLst/>
          </a:prstGeom>
          <a:noFill/>
          <a:ln/>
        </p:spPr>
        <p:txBody>
          <a:bodyPr wrap="square" lIns="0" tIns="0" rIns="0" bIns="0" rtlCol="0" anchor="t"/>
          <a:lstStyle/>
          <a:p>
            <a:pPr indent="0" marL="0">
              <a:buNone/>
            </a:pPr>
            <a:r>
              <a:rPr lang="en-US" sz="1200" dirty="0">
                <a:solidFill>
                  <a:schemeClr val="tx2"/>
                </a:solidFill>
              </a:rPr>
              <a:t>Docling (future)</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Chunking, Node IDs &amp; Canonical Models</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card Hybrid Chunking"/>
          <p:cNvSpPr/>
          <p:nvPr/>
        </p:nvSpPr>
        <p:spPr>
          <a:xfrm>
            <a:off x="548640" y="1463040"/>
            <a:ext cx="5408676"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Hybrid Chunking"/>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4448556" cy="530352"/>
          </a:xfrm>
          <a:prstGeom prst="rect">
            <a:avLst/>
          </a:prstGeom>
          <a:noFill/>
          <a:ln/>
        </p:spPr>
        <p:txBody>
          <a:bodyPr wrap="square" lIns="0" tIns="0" rIns="0" bIns="0" rtlCol="0" anchor="ctr"/>
          <a:lstStyle/>
          <a:p>
            <a:pPr indent="0" marL="0">
              <a:buNone/>
            </a:pPr>
            <a:r>
              <a:rPr lang="en-US" sz="1500" b="1" dirty="0">
                <a:solidFill>
                  <a:schemeClr val="tx1"/>
                </a:solidFill>
              </a:rPr>
              <a:t>Hybrid Chunking</a:t>
            </a:r>
            <a:endParaRPr lang="en-US" sz="1500" dirty="0"/>
          </a:p>
        </p:txBody>
      </p:sp>
      <p:sp>
        <p:nvSpPr>
          <p:cNvPr id="9" name="Text 5"/>
          <p:cNvSpPr txBox="1"/>
          <p:nvPr/>
        </p:nvSpPr>
        <p:spPr>
          <a:xfrm>
            <a:off x="777240" y="2286000"/>
            <a:ext cx="4997196" cy="9144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HybridChunker: semantic + structural</a:t>
            </a:r>
            <a:endParaRPr lang="en-US" sz="1400" dirty="0"/>
          </a:p>
          <a:p>
            <a:pPr marL="177800" indent="-177800">
              <a:spcAft>
                <a:spcPts val="400"/>
              </a:spcAft>
              <a:buSzPct val="100000"/>
              <a:buChar char="•"/>
            </a:pPr>
            <a:r>
              <a:rPr lang="en-US" sz="1400" dirty="0">
                <a:solidFill>
                  <a:schemeClr val="tx1"/>
                </a:solidFill>
              </a:rPr>
              <a:t>Tokenizer-aware (Qwen)</a:t>
            </a:r>
            <a:endParaRPr lang="en-US" sz="1400" dirty="0"/>
          </a:p>
          <a:p>
            <a:pPr marL="177800" indent="-177800">
              <a:spcAft>
                <a:spcPts val="400"/>
              </a:spcAft>
              <a:buSzPct val="100000"/>
              <a:buChar char="•"/>
            </a:pPr>
            <a:r>
              <a:rPr lang="en-US" sz="1400" dirty="0">
                <a:solidFill>
                  <a:schemeClr val="tx1"/>
                </a:solidFill>
              </a:rPr>
              <a:t>Optimal chunk size, overlap</a:t>
            </a:r>
            <a:endParaRPr lang="en-US" sz="1400" dirty="0"/>
          </a:p>
        </p:txBody>
      </p:sp>
      <p:sp>
        <p:nvSpPr>
          <p:cNvPr id="10" name="card Stable Node IDs"/>
          <p:cNvSpPr/>
          <p:nvPr/>
        </p:nvSpPr>
        <p:spPr>
          <a:xfrm>
            <a:off x="6231636" y="1463040"/>
            <a:ext cx="5408676"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Stable Node IDs"/>
          <p:cNvSpPr/>
          <p:nvPr/>
        </p:nvSpPr>
        <p:spPr>
          <a:xfrm>
            <a:off x="6414516"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6533388" y="1764792"/>
            <a:ext cx="237744" cy="237744"/>
          </a:xfrm>
          <a:prstGeom prst="rect">
            <a:avLst/>
          </a:prstGeom>
        </p:spPr>
      </p:pic>
      <p:sp>
        <p:nvSpPr>
          <p:cNvPr id="13" name="Text 8"/>
          <p:cNvSpPr txBox="1"/>
          <p:nvPr/>
        </p:nvSpPr>
        <p:spPr>
          <a:xfrm>
            <a:off x="7036308" y="1618488"/>
            <a:ext cx="4448556" cy="530352"/>
          </a:xfrm>
          <a:prstGeom prst="rect">
            <a:avLst/>
          </a:prstGeom>
          <a:noFill/>
          <a:ln/>
        </p:spPr>
        <p:txBody>
          <a:bodyPr wrap="square" lIns="0" tIns="0" rIns="0" bIns="0" rtlCol="0" anchor="ctr"/>
          <a:lstStyle/>
          <a:p>
            <a:pPr indent="0" marL="0">
              <a:buNone/>
            </a:pPr>
            <a:r>
              <a:rPr lang="en-US" sz="1500" b="1" dirty="0">
                <a:solidFill>
                  <a:schemeClr val="tx1"/>
                </a:solidFill>
              </a:rPr>
              <a:t>Stable Node IDs</a:t>
            </a:r>
            <a:endParaRPr lang="en-US" sz="1500" dirty="0"/>
          </a:p>
        </p:txBody>
      </p:sp>
      <p:sp>
        <p:nvSpPr>
          <p:cNvPr id="14" name="Text 9"/>
          <p:cNvSpPr txBox="1"/>
          <p:nvPr/>
        </p:nvSpPr>
        <p:spPr>
          <a:xfrm>
            <a:off x="6460236" y="2286000"/>
            <a:ext cx="4997196" cy="9144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doc_id + position + fingerprint</a:t>
            </a:r>
            <a:endParaRPr lang="en-US" sz="1400" dirty="0"/>
          </a:p>
          <a:p>
            <a:pPr marL="177800" indent="-177800">
              <a:spcAft>
                <a:spcPts val="400"/>
              </a:spcAft>
              <a:buSzPct val="100000"/>
              <a:buChar char="•"/>
            </a:pPr>
            <a:r>
              <a:rPr lang="en-US" sz="1400" dirty="0">
                <a:solidFill>
                  <a:schemeClr val="tx1"/>
                </a:solidFill>
              </a:rPr>
              <a:t>page / page_range, section_path</a:t>
            </a:r>
            <a:endParaRPr lang="en-US" sz="1400" dirty="0"/>
          </a:p>
          <a:p>
            <a:pPr marL="177800" indent="-177800">
              <a:spcAft>
                <a:spcPts val="400"/>
              </a:spcAft>
              <a:buSzPct val="100000"/>
              <a:buChar char="•"/>
            </a:pPr>
            <a:r>
              <a:rPr lang="en-US" sz="1400" dirty="0">
                <a:solidFill>
                  <a:schemeClr val="tx1"/>
                </a:solidFill>
              </a:rPr>
              <a:t>content_hash</a:t>
            </a:r>
            <a:endParaRPr lang="en-US" sz="1400" dirty="0"/>
          </a:p>
        </p:txBody>
      </p:sp>
      <p:sp>
        <p:nvSpPr>
          <p:cNvPr id="15" name="card ParsedDocument"/>
          <p:cNvSpPr/>
          <p:nvPr/>
        </p:nvSpPr>
        <p:spPr>
          <a:xfrm>
            <a:off x="548640" y="3566160"/>
            <a:ext cx="5408676"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ParsedDocument"/>
          <p:cNvSpPr/>
          <p:nvPr/>
        </p:nvSpPr>
        <p:spPr>
          <a:xfrm>
            <a:off x="731520" y="3749040"/>
            <a:ext cx="475488" cy="475488"/>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850392" y="3867912"/>
            <a:ext cx="237744" cy="237744"/>
          </a:xfrm>
          <a:prstGeom prst="rect">
            <a:avLst/>
          </a:prstGeom>
        </p:spPr>
      </p:pic>
      <p:sp>
        <p:nvSpPr>
          <p:cNvPr id="18" name="Text 12"/>
          <p:cNvSpPr txBox="1"/>
          <p:nvPr/>
        </p:nvSpPr>
        <p:spPr>
          <a:xfrm>
            <a:off x="1353312" y="3721608"/>
            <a:ext cx="4448556" cy="530352"/>
          </a:xfrm>
          <a:prstGeom prst="rect">
            <a:avLst/>
          </a:prstGeom>
          <a:noFill/>
          <a:ln/>
        </p:spPr>
        <p:txBody>
          <a:bodyPr wrap="square" lIns="0" tIns="0" rIns="0" bIns="0" rtlCol="0" anchor="ctr"/>
          <a:lstStyle/>
          <a:p>
            <a:pPr indent="0" marL="0">
              <a:buNone/>
            </a:pPr>
            <a:r>
              <a:rPr lang="en-US" sz="1500" b="1" dirty="0">
                <a:solidFill>
                  <a:schemeClr val="tx1"/>
                </a:solidFill>
              </a:rPr>
              <a:t>ParsedDocument</a:t>
            </a:r>
            <a:endParaRPr lang="en-US" sz="1500" dirty="0"/>
          </a:p>
        </p:txBody>
      </p:sp>
      <p:sp>
        <p:nvSpPr>
          <p:cNvPr id="19" name="Text 13"/>
          <p:cNvSpPr txBox="1"/>
          <p:nvPr/>
        </p:nvSpPr>
        <p:spPr>
          <a:xfrm>
            <a:off x="777240" y="4389120"/>
            <a:ext cx="4997196"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id, title, authors, abstract</a:t>
            </a:r>
            <a:endParaRPr lang="en-US" sz="1300" dirty="0"/>
          </a:p>
          <a:p>
            <a:pPr marL="177800" indent="-177800">
              <a:spcAft>
                <a:spcPts val="400"/>
              </a:spcAft>
              <a:buSzPct val="100000"/>
              <a:buChar char="•"/>
            </a:pPr>
            <a:r>
              <a:rPr lang="en-US" sz="1300" dirty="0">
                <a:solidFill>
                  <a:schemeClr val="tx1"/>
                </a:solidFill>
              </a:rPr>
              <a:t>doi, identifiers, publication_date</a:t>
            </a:r>
            <a:endParaRPr lang="en-US" sz="1300" dirty="0"/>
          </a:p>
          <a:p>
            <a:pPr marL="177800" indent="-177800">
              <a:spcAft>
                <a:spcPts val="400"/>
              </a:spcAft>
              <a:buSzPct val="100000"/>
              <a:buChar char="•"/>
            </a:pPr>
            <a:r>
              <a:rPr lang="en-US" sz="1300" dirty="0">
                <a:solidFill>
                  <a:schemeClr val="tx1"/>
                </a:solidFill>
              </a:rPr>
              <a:t>content_level, canonical metadata</a:t>
            </a:r>
            <a:endParaRPr lang="en-US" sz="1300" dirty="0"/>
          </a:p>
          <a:p>
            <a:pPr marL="177800" indent="-177800">
              <a:spcAft>
                <a:spcPts val="400"/>
              </a:spcAft>
              <a:buSzPct val="100000"/>
              <a:buChar char="•"/>
            </a:pPr>
            <a:r>
              <a:rPr lang="en-US" sz="1300" dirty="0">
                <a:solidFill>
                  <a:schemeClr val="tx1"/>
                </a:solidFill>
              </a:rPr>
              <a:t>provenance (field-level)</a:t>
            </a:r>
            <a:endParaRPr lang="en-US" sz="1300" dirty="0"/>
          </a:p>
        </p:txBody>
      </p:sp>
      <p:sp>
        <p:nvSpPr>
          <p:cNvPr id="20" name="card ParsedNode"/>
          <p:cNvSpPr/>
          <p:nvPr/>
        </p:nvSpPr>
        <p:spPr>
          <a:xfrm>
            <a:off x="6231636" y="3566160"/>
            <a:ext cx="5408676" cy="182880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ParsedNode"/>
          <p:cNvSpPr/>
          <p:nvPr/>
        </p:nvSpPr>
        <p:spPr>
          <a:xfrm>
            <a:off x="6414516" y="3749040"/>
            <a:ext cx="475488" cy="475488"/>
          </a:xfrm>
          <a:prstGeom prst="ellipse">
            <a:avLst/>
          </a:prstGeom>
          <a:solidFill>
            <a:schemeClr val="accent5"/>
          </a:solidFill>
          <a:ln w="12700">
            <a:solidFill>
              <a:schemeClr val="accent5"/>
            </a:solidFill>
            <a:prstDash val="solid"/>
          </a:ln>
        </p:spPr>
      </p:sp>
      <p:pic>
        <p:nvPicPr>
          <p:cNvPr id="22" name="Image 3" descr="icon">    </p:cNvPr>
          <p:cNvPicPr>
            <a:picLocks noChangeAspect="1"/>
          </p:cNvPicPr>
          <p:nvPr/>
        </p:nvPicPr>
        <p:blipFill>
          <a:blip r:embed="rId4"/>
          <a:stretch>
            <a:fillRect/>
          </a:stretch>
        </p:blipFill>
        <p:spPr>
          <a:xfrm>
            <a:off x="6533388" y="3867912"/>
            <a:ext cx="237744" cy="237744"/>
          </a:xfrm>
          <a:prstGeom prst="rect">
            <a:avLst/>
          </a:prstGeom>
        </p:spPr>
      </p:pic>
      <p:sp>
        <p:nvSpPr>
          <p:cNvPr id="23" name="Text 16"/>
          <p:cNvSpPr txBox="1"/>
          <p:nvPr/>
        </p:nvSpPr>
        <p:spPr>
          <a:xfrm>
            <a:off x="7036308" y="3721608"/>
            <a:ext cx="4448556" cy="530352"/>
          </a:xfrm>
          <a:prstGeom prst="rect">
            <a:avLst/>
          </a:prstGeom>
          <a:noFill/>
          <a:ln/>
        </p:spPr>
        <p:txBody>
          <a:bodyPr wrap="square" lIns="0" tIns="0" rIns="0" bIns="0" rtlCol="0" anchor="ctr"/>
          <a:lstStyle/>
          <a:p>
            <a:pPr indent="0" marL="0">
              <a:buNone/>
            </a:pPr>
            <a:r>
              <a:rPr lang="en-US" sz="1500" b="1" dirty="0">
                <a:solidFill>
                  <a:schemeClr val="tx1"/>
                </a:solidFill>
              </a:rPr>
              <a:t>ParsedNode</a:t>
            </a:r>
            <a:endParaRPr lang="en-US" sz="1500" dirty="0"/>
          </a:p>
        </p:txBody>
      </p:sp>
      <p:sp>
        <p:nvSpPr>
          <p:cNvPr id="24" name="Text 17"/>
          <p:cNvSpPr txBox="1"/>
          <p:nvPr/>
        </p:nvSpPr>
        <p:spPr>
          <a:xfrm>
            <a:off x="6460236" y="4389120"/>
            <a:ext cx="4997196"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id, doc_id, section, section_path</a:t>
            </a:r>
            <a:endParaRPr lang="en-US" sz="1300" dirty="0"/>
          </a:p>
          <a:p>
            <a:pPr marL="177800" indent="-177800">
              <a:spcAft>
                <a:spcPts val="400"/>
              </a:spcAft>
              <a:buSzPct val="100000"/>
              <a:buChar char="•"/>
            </a:pPr>
            <a:r>
              <a:rPr lang="en-US" sz="1300" dirty="0">
                <a:solidFill>
                  <a:schemeClr val="tx1"/>
                </a:solidFill>
              </a:rPr>
              <a:t>page / page_range, content</a:t>
            </a:r>
            <a:endParaRPr lang="en-US" sz="1300" dirty="0"/>
          </a:p>
          <a:p>
            <a:pPr marL="177800" indent="-177800">
              <a:spcAft>
                <a:spcPts val="400"/>
              </a:spcAft>
              <a:buSzPct val="100000"/>
              <a:buChar char="•"/>
            </a:pPr>
            <a:r>
              <a:rPr lang="en-US" sz="1300" dirty="0">
                <a:solidFill>
                  <a:schemeClr val="tx1"/>
                </a:solidFill>
              </a:rPr>
              <a:t>token_count, table_label, captions</a:t>
            </a:r>
            <a:endParaRPr lang="en-US" sz="1300" dirty="0"/>
          </a:p>
          <a:p>
            <a:pPr marL="177800" indent="-177800">
              <a:spcAft>
                <a:spcPts val="400"/>
              </a:spcAft>
              <a:buSzPct val="100000"/>
              <a:buChar char="•"/>
            </a:pPr>
            <a:r>
              <a:rPr lang="en-US" sz="1300" dirty="0">
                <a:solidFill>
                  <a:schemeClr val="tx1"/>
                </a:solidFill>
              </a:rPr>
              <a:t>docling_refs, metadata + provenance</a:t>
            </a:r>
            <a:endParaRPr lang="en-US" sz="1300" dirty="0"/>
          </a:p>
        </p:txBody>
      </p:sp>
      <p:sp>
        <p:nvSpPr>
          <p:cNvPr id="25" name="Shape 18"/>
          <p:cNvSpPr/>
          <p:nvPr/>
        </p:nvSpPr>
        <p:spPr>
          <a:xfrm>
            <a:off x="548640" y="5760720"/>
            <a:ext cx="11091672" cy="457200"/>
          </a:xfrm>
          <a:prstGeom prst="roundRect">
            <a:avLst>
              <a:gd name="adj" fmla="val 20000"/>
            </a:avLst>
          </a:prstGeom>
          <a:solidFill>
            <a:schemeClr val="tx1"/>
          </a:solidFill>
          <a:ln w="12700">
            <a:solidFill>
              <a:schemeClr val="tx1"/>
            </a:solidFill>
            <a:prstDash val="solid"/>
          </a:ln>
        </p:spPr>
      </p:sp>
      <p:sp>
        <p:nvSpPr>
          <p:cNvPr id="26" name="Text 19"/>
          <p:cNvSpPr txBox="1"/>
          <p:nvPr/>
        </p:nvSpPr>
        <p:spPr>
          <a:xfrm>
            <a:off x="822960" y="5760720"/>
            <a:ext cx="10543032" cy="457200"/>
          </a:xfrm>
          <a:prstGeom prst="rect">
            <a:avLst/>
          </a:prstGeom>
          <a:noFill/>
          <a:ln/>
        </p:spPr>
        <p:txBody>
          <a:bodyPr wrap="square" lIns="0" tIns="0" rIns="0" bIns="0" rtlCol="0" anchor="ctr"/>
          <a:lstStyle/>
          <a:p>
            <a:pPr indent="0" marL="0">
              <a:buNone/>
            </a:pPr>
            <a:r>
              <a:rPr lang="en-US" sz="1400" dirty="0">
                <a:solidFill>
                  <a:schemeClr val="bg1"/>
                </a:solidFill>
              </a:rPr>
              <a:t>Deduplication at node level: checksum match + similarity check before anything is embedded</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Part 1 Recap &amp; Handover</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1"/>
                </a:solidFill>
              </a:rPr>
              <a:t>PART 1 · INTERFACES, INGESTION &amp; PARSING</a:t>
            </a:r>
            <a:endParaRPr lang="en-US" sz="1100" dirty="0"/>
          </a:p>
        </p:txBody>
      </p:sp>
      <p:sp>
        <p:nvSpPr>
          <p:cNvPr id="5" name="Shape 2"/>
          <p:cNvSpPr/>
          <p:nvPr/>
        </p:nvSpPr>
        <p:spPr>
          <a:xfrm>
            <a:off x="548640" y="1463040"/>
            <a:ext cx="4754880" cy="4572000"/>
          </a:xfrm>
          <a:prstGeom prst="roundRect">
            <a:avLst>
              <a:gd name="adj" fmla="val 2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recap Covered in Part 1"/>
          <p:cNvSpPr/>
          <p:nvPr/>
        </p:nvSpPr>
        <p:spPr>
          <a:xfrm>
            <a:off x="822960" y="1691640"/>
            <a:ext cx="548640" cy="54864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960120" y="1828800"/>
            <a:ext cx="274320" cy="274320"/>
          </a:xfrm>
          <a:prstGeom prst="rect">
            <a:avLst/>
          </a:prstGeom>
        </p:spPr>
      </p:pic>
      <p:sp>
        <p:nvSpPr>
          <p:cNvPr id="8" name="Text 4"/>
          <p:cNvSpPr txBox="1"/>
          <p:nvPr/>
        </p:nvSpPr>
        <p:spPr>
          <a:xfrm>
            <a:off x="1554480" y="1691640"/>
            <a:ext cx="3566160" cy="548640"/>
          </a:xfrm>
          <a:prstGeom prst="rect">
            <a:avLst/>
          </a:prstGeom>
          <a:noFill/>
          <a:ln/>
        </p:spPr>
        <p:txBody>
          <a:bodyPr wrap="square" lIns="0" tIns="0" rIns="0" bIns="0" rtlCol="0" anchor="ctr"/>
          <a:lstStyle/>
          <a:p>
            <a:pPr indent="0" marL="0">
              <a:buNone/>
            </a:pPr>
            <a:r>
              <a:rPr lang="en-US" sz="2000" b="1" dirty="0">
                <a:solidFill>
                  <a:schemeClr val="accent1"/>
                </a:solidFill>
              </a:rPr>
              <a:t>Covered in Part 1</a:t>
            </a:r>
            <a:endParaRPr lang="en-US" sz="2000" dirty="0"/>
          </a:p>
        </p:txBody>
      </p:sp>
      <p:sp>
        <p:nvSpPr>
          <p:cNvPr id="9" name="Text 5"/>
          <p:cNvSpPr txBox="1"/>
          <p:nvPr/>
        </p:nvSpPr>
        <p:spPr>
          <a:xfrm>
            <a:off x="868680" y="2560320"/>
            <a:ext cx="4206240" cy="329184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Frontend &amp; backend API layers</a:t>
            </a:r>
            <a:endParaRPr lang="en-US" sz="1500" dirty="0"/>
          </a:p>
          <a:p>
            <a:pPr marL="177800" indent="-177800">
              <a:spcAft>
                <a:spcPts val="400"/>
              </a:spcAft>
              <a:buSzPct val="100000"/>
              <a:buChar char="•"/>
            </a:pPr>
            <a:r>
              <a:rPr lang="en-US" sz="1500" dirty="0">
                <a:solidFill>
                  <a:schemeClr val="tx1"/>
                </a:solidFill>
              </a:rPr>
              <a:t>External integrations &amp; security</a:t>
            </a:r>
            <a:endParaRPr lang="en-US" sz="1500" dirty="0"/>
          </a:p>
          <a:p>
            <a:pPr marL="177800" indent="-177800">
              <a:spcAft>
                <a:spcPts val="400"/>
              </a:spcAft>
              <a:buSzPct val="100000"/>
              <a:buChar char="•"/>
            </a:pPr>
            <a:r>
              <a:rPr lang="en-US" sz="1500" dirty="0">
                <a:solidFill>
                  <a:schemeClr val="tx1"/>
                </a:solidFill>
              </a:rPr>
              <a:t>15+ trusted source types, 7-step pipeline</a:t>
            </a:r>
            <a:endParaRPr lang="en-US" sz="1500" dirty="0"/>
          </a:p>
          <a:p>
            <a:pPr marL="177800" indent="-177800">
              <a:spcAft>
                <a:spcPts val="400"/>
              </a:spcAft>
              <a:buSzPct val="100000"/>
              <a:buChar char="•"/>
            </a:pPr>
            <a:r>
              <a:rPr lang="en-US" sz="1500" dirty="0">
                <a:solidFill>
                  <a:schemeClr val="tx1"/>
                </a:solidFill>
              </a:rPr>
              <a:t>Trust scoring (0–1) per source</a:t>
            </a:r>
            <a:endParaRPr lang="en-US" sz="1500" dirty="0"/>
          </a:p>
          <a:p>
            <a:pPr marL="177800" indent="-177800">
              <a:spcAft>
                <a:spcPts val="400"/>
              </a:spcAft>
              <a:buSzPct val="100000"/>
              <a:buChar char="•"/>
            </a:pPr>
            <a:r>
              <a:rPr lang="en-US" sz="1500" dirty="0">
                <a:solidFill>
                  <a:schemeClr val="tx1"/>
                </a:solidFill>
              </a:rPr>
              <a:t>Docling + LlamaIndex parsing, stable nodes</a:t>
            </a:r>
            <a:endParaRPr lang="en-US" sz="1500" dirty="0"/>
          </a:p>
        </p:txBody>
      </p:sp>
      <p:sp>
        <p:nvSpPr>
          <p:cNvPr id="10" name="Shape 6"/>
          <p:cNvSpPr/>
          <p:nvPr/>
        </p:nvSpPr>
        <p:spPr>
          <a:xfrm>
            <a:off x="6885432" y="1463040"/>
            <a:ext cx="4754880" cy="4572000"/>
          </a:xfrm>
          <a:prstGeom prst="roundRect">
            <a:avLst>
              <a:gd name="adj" fmla="val 2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recap Coming up in Part 2"/>
          <p:cNvSpPr/>
          <p:nvPr/>
        </p:nvSpPr>
        <p:spPr>
          <a:xfrm>
            <a:off x="7159752" y="1691640"/>
            <a:ext cx="548640" cy="548640"/>
          </a:xfrm>
          <a:prstGeom prst="ellipse">
            <a:avLst/>
          </a:prstGeom>
          <a:solidFill>
            <a:schemeClr val="accent2"/>
          </a:solidFill>
          <a:ln w="12700">
            <a:solidFill>
              <a:schemeClr val="accent2"/>
            </a:solidFill>
            <a:prstDash val="solid"/>
          </a:ln>
        </p:spPr>
      </p:sp>
      <p:pic>
        <p:nvPicPr>
          <p:cNvPr id="12" name="Image 1" descr="icon">    </p:cNvPr>
          <p:cNvPicPr>
            <a:picLocks noChangeAspect="1"/>
          </p:cNvPicPr>
          <p:nvPr/>
        </p:nvPicPr>
        <p:blipFill>
          <a:blip r:embed="rId2"/>
          <a:stretch>
            <a:fillRect/>
          </a:stretch>
        </p:blipFill>
        <p:spPr>
          <a:xfrm>
            <a:off x="7296912" y="1828800"/>
            <a:ext cx="274320" cy="274320"/>
          </a:xfrm>
          <a:prstGeom prst="rect">
            <a:avLst/>
          </a:prstGeom>
        </p:spPr>
      </p:pic>
      <p:sp>
        <p:nvSpPr>
          <p:cNvPr id="13" name="Text 8"/>
          <p:cNvSpPr txBox="1"/>
          <p:nvPr/>
        </p:nvSpPr>
        <p:spPr>
          <a:xfrm>
            <a:off x="7891272" y="1691640"/>
            <a:ext cx="3566160" cy="548640"/>
          </a:xfrm>
          <a:prstGeom prst="rect">
            <a:avLst/>
          </a:prstGeom>
          <a:noFill/>
          <a:ln/>
        </p:spPr>
        <p:txBody>
          <a:bodyPr wrap="square" lIns="0" tIns="0" rIns="0" bIns="0" rtlCol="0" anchor="ctr"/>
          <a:lstStyle/>
          <a:p>
            <a:pPr indent="0" marL="0">
              <a:buNone/>
            </a:pPr>
            <a:r>
              <a:rPr lang="en-US" sz="2000" b="1" dirty="0">
                <a:solidFill>
                  <a:schemeClr val="accent2"/>
                </a:solidFill>
              </a:rPr>
              <a:t>Coming up in Part 2</a:t>
            </a:r>
            <a:endParaRPr lang="en-US" sz="2000" dirty="0"/>
          </a:p>
        </p:txBody>
      </p:sp>
      <p:sp>
        <p:nvSpPr>
          <p:cNvPr id="14" name="Text 9"/>
          <p:cNvSpPr txBox="1"/>
          <p:nvPr/>
        </p:nvSpPr>
        <p:spPr>
          <a:xfrm>
            <a:off x="7205472" y="2560320"/>
            <a:ext cx="4206240" cy="329184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Embeddings &amp; PostgreSQL + pgvector</a:t>
            </a:r>
            <a:endParaRPr lang="en-US" sz="1500" dirty="0"/>
          </a:p>
          <a:p>
            <a:pPr marL="177800" indent="-177800">
              <a:spcAft>
                <a:spcPts val="400"/>
              </a:spcAft>
              <a:buSzPct val="100000"/>
              <a:buChar char="•"/>
            </a:pPr>
            <a:r>
              <a:rPr lang="en-US" sz="1500" dirty="0">
                <a:solidFill>
                  <a:schemeClr val="tx1"/>
                </a:solidFill>
              </a:rPr>
              <a:t>Hybrid retrieval, rerank, typed evidence</a:t>
            </a:r>
            <a:endParaRPr lang="en-US" sz="1500" dirty="0"/>
          </a:p>
          <a:p>
            <a:pPr marL="177800" indent="-177800">
              <a:spcAft>
                <a:spcPts val="400"/>
              </a:spcAft>
              <a:buSzPct val="100000"/>
              <a:buChar char="•"/>
            </a:pPr>
            <a:r>
              <a:rPr lang="en-US" sz="1500" dirty="0">
                <a:solidFill>
                  <a:schemeClr val="tx1"/>
                </a:solidFill>
              </a:rPr>
              <a:t>LangGraph research workflow</a:t>
            </a:r>
            <a:endParaRPr lang="en-US" sz="1500" dirty="0"/>
          </a:p>
          <a:p>
            <a:pPr marL="177800" indent="-177800">
              <a:spcAft>
                <a:spcPts val="400"/>
              </a:spcAft>
              <a:buSzPct val="100000"/>
              <a:buChar char="•"/>
            </a:pPr>
            <a:r>
              <a:rPr lang="en-US" sz="1500" dirty="0">
                <a:solidFill>
                  <a:schemeClr val="tx1"/>
                </a:solidFill>
              </a:rPr>
              <a:t>Evaluation &amp; observability</a:t>
            </a:r>
            <a:endParaRPr lang="en-US" sz="1500" dirty="0"/>
          </a:p>
          <a:p>
            <a:pPr marL="177800" indent="-177800">
              <a:spcAft>
                <a:spcPts val="400"/>
              </a:spcAft>
              <a:buSzPct val="100000"/>
              <a:buChar char="•"/>
            </a:pPr>
            <a:r>
              <a:rPr lang="en-US" sz="1500" dirty="0">
                <a:solidFill>
                  <a:schemeClr val="tx1"/>
                </a:solidFill>
              </a:rPr>
              <a:t>Deployment, roadmap, alternatives</a:t>
            </a:r>
            <a:endParaRPr lang="en-US" sz="1500" dirty="0"/>
          </a:p>
        </p:txBody>
      </p:sp>
      <p:sp>
        <p:nvSpPr>
          <p:cNvPr id="15" name="handover arrow"/>
          <p:cNvSpPr/>
          <p:nvPr/>
        </p:nvSpPr>
        <p:spPr>
          <a:xfrm>
            <a:off x="5532120" y="3383280"/>
            <a:ext cx="822960" cy="822960"/>
          </a:xfrm>
          <a:prstGeom prst="ellipse">
            <a:avLst/>
          </a:prstGeom>
          <a:solidFill>
            <a:schemeClr val="tx2"/>
          </a:solidFill>
          <a:ln w="12700">
            <a:solidFill>
              <a:schemeClr val="tx2"/>
            </a:solidFill>
            <a:prstDash val="solid"/>
          </a:ln>
        </p:spPr>
      </p:sp>
      <p:pic>
        <p:nvPicPr>
          <p:cNvPr id="16" name="Image 2" descr="icon">    </p:cNvPr>
          <p:cNvPicPr>
            <a:picLocks noChangeAspect="1"/>
          </p:cNvPicPr>
          <p:nvPr/>
        </p:nvPicPr>
        <p:blipFill>
          <a:blip r:embed="rId3"/>
          <a:stretch>
            <a:fillRect/>
          </a:stretch>
        </p:blipFill>
        <p:spPr>
          <a:xfrm>
            <a:off x="5737860" y="3589020"/>
            <a:ext cx="411480" cy="41148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731520" y="1280160"/>
            <a:ext cx="5486400" cy="457200"/>
          </a:xfrm>
          <a:prstGeom prst="rect">
            <a:avLst/>
          </a:prstGeom>
          <a:noFill/>
          <a:ln/>
        </p:spPr>
        <p:txBody>
          <a:bodyPr wrap="square" lIns="0" tIns="0" rIns="0" bIns="0" rtlCol="0" anchor="t"/>
          <a:lstStyle/>
          <a:p>
            <a:pPr indent="0" marL="0">
              <a:buNone/>
            </a:pPr>
            <a:r>
              <a:rPr lang="en-US" sz="2000" b="1" dirty="0">
                <a:solidFill>
                  <a:schemeClr val="accent2"/>
                </a:solidFill>
              </a:rPr>
              <a:t>PART 2</a:t>
            </a:r>
            <a:endParaRPr lang="en-US" sz="2000" dirty="0"/>
          </a:p>
        </p:txBody>
      </p:sp>
      <p:sp>
        <p:nvSpPr>
          <p:cNvPr id="4" name="Text 1"/>
          <p:cNvSpPr txBox="1"/>
          <p:nvPr/>
        </p:nvSpPr>
        <p:spPr>
          <a:xfrm>
            <a:off x="731520" y="1828800"/>
            <a:ext cx="6035040" cy="201168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Retrieval, Intelligence &amp; Operations</a:t>
            </a:r>
            <a:endParaRPr lang="en-US" sz="4400" dirty="0"/>
          </a:p>
        </p:txBody>
      </p:sp>
      <p:sp>
        <p:nvSpPr>
          <p:cNvPr id="5" name="Text 2"/>
          <p:cNvSpPr txBox="1"/>
          <p:nvPr/>
        </p:nvSpPr>
        <p:spPr>
          <a:xfrm>
            <a:off x="731520" y="4114800"/>
            <a:ext cx="5486400" cy="822960"/>
          </a:xfrm>
          <a:prstGeom prst="rect">
            <a:avLst/>
          </a:prstGeom>
          <a:noFill/>
          <a:ln/>
        </p:spPr>
        <p:txBody>
          <a:bodyPr wrap="square" lIns="0" tIns="0" rIns="0" bIns="0" rtlCol="0" anchor="t"/>
          <a:lstStyle/>
          <a:p>
            <a:pPr indent="0" marL="0">
              <a:buNone/>
            </a:pPr>
            <a:r>
              <a:rPr lang="en-US" sz="1800" dirty="0">
                <a:solidFill>
                  <a:schemeClr val="bg2"/>
                </a:solidFill>
              </a:rPr>
              <a:t>From stored knowledge to cited answers, measured and deployed</a:t>
            </a:r>
            <a:endParaRPr lang="en-US" sz="1800" dirty="0"/>
          </a:p>
        </p:txBody>
      </p:sp>
      <p:sp>
        <p:nvSpPr>
          <p:cNvPr id="6" name="Shape 3"/>
          <p:cNvSpPr/>
          <p:nvPr/>
        </p:nvSpPr>
        <p:spPr>
          <a:xfrm>
            <a:off x="7498080" y="1280160"/>
            <a:ext cx="4114800" cy="594360"/>
          </a:xfrm>
          <a:prstGeom prst="roundRect">
            <a:avLst>
              <a:gd name="adj" fmla="val 15385"/>
            </a:avLst>
          </a:prstGeom>
          <a:solidFill>
            <a:schemeClr val="tx2"/>
          </a:solidFill>
          <a:ln w="12700">
            <a:solidFill>
              <a:schemeClr val="tx2"/>
            </a:solidFill>
            <a:prstDash val="solid"/>
          </a:ln>
        </p:spPr>
      </p:sp>
      <p:sp>
        <p:nvSpPr>
          <p:cNvPr id="7" name="badge"/>
          <p:cNvSpPr/>
          <p:nvPr/>
        </p:nvSpPr>
        <p:spPr>
          <a:xfrm>
            <a:off x="7635240" y="1371600"/>
            <a:ext cx="411480" cy="411480"/>
          </a:xfrm>
          <a:prstGeom prst="ellipse">
            <a:avLst/>
          </a:prstGeom>
          <a:solidFill>
            <a:schemeClr val="accent2"/>
          </a:solidFill>
          <a:ln w="12700">
            <a:solidFill>
              <a:schemeClr val="accent2"/>
            </a:solidFill>
            <a:prstDash val="solid"/>
          </a:ln>
        </p:spPr>
      </p:sp>
      <p:sp>
        <p:nvSpPr>
          <p:cNvPr id="8" name="Text 5"/>
          <p:cNvSpPr txBox="1"/>
          <p:nvPr/>
        </p:nvSpPr>
        <p:spPr>
          <a:xfrm>
            <a:off x="763524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9" name="Text 6"/>
          <p:cNvSpPr txBox="1"/>
          <p:nvPr/>
        </p:nvSpPr>
        <p:spPr>
          <a:xfrm>
            <a:off x="8229600" y="1280160"/>
            <a:ext cx="3291840" cy="594360"/>
          </a:xfrm>
          <a:prstGeom prst="rect">
            <a:avLst/>
          </a:prstGeom>
          <a:noFill/>
          <a:ln/>
        </p:spPr>
        <p:txBody>
          <a:bodyPr wrap="square" lIns="0" tIns="0" rIns="0" bIns="0" rtlCol="0" anchor="ctr"/>
          <a:lstStyle/>
          <a:p>
            <a:pPr indent="0" marL="0">
              <a:buNone/>
            </a:pPr>
            <a:r>
              <a:rPr lang="en-US" sz="1600" dirty="0">
                <a:solidFill>
                  <a:schemeClr val="bg1"/>
                </a:solidFill>
              </a:rPr>
              <a:t>Embeddings &amp; persistence</a:t>
            </a:r>
            <a:endParaRPr lang="en-US" sz="1600" dirty="0"/>
          </a:p>
        </p:txBody>
      </p:sp>
      <p:sp>
        <p:nvSpPr>
          <p:cNvPr id="10" name="Shape 7"/>
          <p:cNvSpPr/>
          <p:nvPr/>
        </p:nvSpPr>
        <p:spPr>
          <a:xfrm>
            <a:off x="7498080" y="2057400"/>
            <a:ext cx="4114800" cy="594360"/>
          </a:xfrm>
          <a:prstGeom prst="roundRect">
            <a:avLst>
              <a:gd name="adj" fmla="val 15385"/>
            </a:avLst>
          </a:prstGeom>
          <a:solidFill>
            <a:schemeClr val="tx2"/>
          </a:solidFill>
          <a:ln w="12700">
            <a:solidFill>
              <a:schemeClr val="tx2"/>
            </a:solidFill>
            <a:prstDash val="solid"/>
          </a:ln>
        </p:spPr>
      </p:sp>
      <p:sp>
        <p:nvSpPr>
          <p:cNvPr id="11" name="badge"/>
          <p:cNvSpPr/>
          <p:nvPr/>
        </p:nvSpPr>
        <p:spPr>
          <a:xfrm>
            <a:off x="7635240" y="2148840"/>
            <a:ext cx="411480" cy="411480"/>
          </a:xfrm>
          <a:prstGeom prst="ellipse">
            <a:avLst/>
          </a:prstGeom>
          <a:solidFill>
            <a:schemeClr val="accent2"/>
          </a:solidFill>
          <a:ln w="12700">
            <a:solidFill>
              <a:schemeClr val="accent2"/>
            </a:solidFill>
            <a:prstDash val="solid"/>
          </a:ln>
        </p:spPr>
      </p:sp>
      <p:sp>
        <p:nvSpPr>
          <p:cNvPr id="12" name="Text 9"/>
          <p:cNvSpPr txBox="1"/>
          <p:nvPr/>
        </p:nvSpPr>
        <p:spPr>
          <a:xfrm>
            <a:off x="7635240" y="2148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3" name="Text 10"/>
          <p:cNvSpPr txBox="1"/>
          <p:nvPr/>
        </p:nvSpPr>
        <p:spPr>
          <a:xfrm>
            <a:off x="8229600" y="2057400"/>
            <a:ext cx="3291840" cy="594360"/>
          </a:xfrm>
          <a:prstGeom prst="rect">
            <a:avLst/>
          </a:prstGeom>
          <a:noFill/>
          <a:ln/>
        </p:spPr>
        <p:txBody>
          <a:bodyPr wrap="square" lIns="0" tIns="0" rIns="0" bIns="0" rtlCol="0" anchor="ctr"/>
          <a:lstStyle/>
          <a:p>
            <a:pPr indent="0" marL="0">
              <a:buNone/>
            </a:pPr>
            <a:r>
              <a:rPr lang="en-US" sz="1600" dirty="0">
                <a:solidFill>
                  <a:schemeClr val="bg1"/>
                </a:solidFill>
              </a:rPr>
              <a:t>Retrieval &amp; ranking</a:t>
            </a:r>
            <a:endParaRPr lang="en-US" sz="1600" dirty="0"/>
          </a:p>
        </p:txBody>
      </p:sp>
      <p:sp>
        <p:nvSpPr>
          <p:cNvPr id="14" name="Shape 11"/>
          <p:cNvSpPr/>
          <p:nvPr/>
        </p:nvSpPr>
        <p:spPr>
          <a:xfrm>
            <a:off x="7498080" y="2834640"/>
            <a:ext cx="4114800" cy="594360"/>
          </a:xfrm>
          <a:prstGeom prst="roundRect">
            <a:avLst>
              <a:gd name="adj" fmla="val 15385"/>
            </a:avLst>
          </a:prstGeom>
          <a:solidFill>
            <a:schemeClr val="tx2"/>
          </a:solidFill>
          <a:ln w="12700">
            <a:solidFill>
              <a:schemeClr val="tx2"/>
            </a:solidFill>
            <a:prstDash val="solid"/>
          </a:ln>
        </p:spPr>
      </p:sp>
      <p:sp>
        <p:nvSpPr>
          <p:cNvPr id="15" name="badge"/>
          <p:cNvSpPr/>
          <p:nvPr/>
        </p:nvSpPr>
        <p:spPr>
          <a:xfrm>
            <a:off x="7635240" y="2926080"/>
            <a:ext cx="411480" cy="411480"/>
          </a:xfrm>
          <a:prstGeom prst="ellipse">
            <a:avLst/>
          </a:prstGeom>
          <a:solidFill>
            <a:schemeClr val="accent2"/>
          </a:solidFill>
          <a:ln w="12700">
            <a:solidFill>
              <a:schemeClr val="accent2"/>
            </a:solidFill>
            <a:prstDash val="solid"/>
          </a:ln>
        </p:spPr>
      </p:sp>
      <p:sp>
        <p:nvSpPr>
          <p:cNvPr id="16" name="Text 13"/>
          <p:cNvSpPr txBox="1"/>
          <p:nvPr/>
        </p:nvSpPr>
        <p:spPr>
          <a:xfrm>
            <a:off x="7635240" y="2926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17" name="Text 14"/>
          <p:cNvSpPr txBox="1"/>
          <p:nvPr/>
        </p:nvSpPr>
        <p:spPr>
          <a:xfrm>
            <a:off x="8229600" y="2834640"/>
            <a:ext cx="3291840" cy="594360"/>
          </a:xfrm>
          <a:prstGeom prst="rect">
            <a:avLst/>
          </a:prstGeom>
          <a:noFill/>
          <a:ln/>
        </p:spPr>
        <p:txBody>
          <a:bodyPr wrap="square" lIns="0" tIns="0" rIns="0" bIns="0" rtlCol="0" anchor="ctr"/>
          <a:lstStyle/>
          <a:p>
            <a:pPr indent="0" marL="0">
              <a:buNone/>
            </a:pPr>
            <a:r>
              <a:rPr lang="en-US" sz="1600" dirty="0">
                <a:solidFill>
                  <a:schemeClr val="bg1"/>
                </a:solidFill>
              </a:rPr>
              <a:t>LangGraph workflow</a:t>
            </a:r>
            <a:endParaRPr lang="en-US" sz="1600" dirty="0"/>
          </a:p>
        </p:txBody>
      </p:sp>
      <p:sp>
        <p:nvSpPr>
          <p:cNvPr id="18" name="Shape 15"/>
          <p:cNvSpPr/>
          <p:nvPr/>
        </p:nvSpPr>
        <p:spPr>
          <a:xfrm>
            <a:off x="7498080" y="3611880"/>
            <a:ext cx="4114800" cy="594360"/>
          </a:xfrm>
          <a:prstGeom prst="roundRect">
            <a:avLst>
              <a:gd name="adj" fmla="val 15385"/>
            </a:avLst>
          </a:prstGeom>
          <a:solidFill>
            <a:schemeClr val="tx2"/>
          </a:solidFill>
          <a:ln w="12700">
            <a:solidFill>
              <a:schemeClr val="tx2"/>
            </a:solidFill>
            <a:prstDash val="solid"/>
          </a:ln>
        </p:spPr>
      </p:sp>
      <p:sp>
        <p:nvSpPr>
          <p:cNvPr id="19" name="badge"/>
          <p:cNvSpPr/>
          <p:nvPr/>
        </p:nvSpPr>
        <p:spPr>
          <a:xfrm>
            <a:off x="7635240" y="3703320"/>
            <a:ext cx="411480" cy="411480"/>
          </a:xfrm>
          <a:prstGeom prst="ellipse">
            <a:avLst/>
          </a:prstGeom>
          <a:solidFill>
            <a:schemeClr val="accent2"/>
          </a:solidFill>
          <a:ln w="12700">
            <a:solidFill>
              <a:schemeClr val="accent2"/>
            </a:solidFill>
            <a:prstDash val="solid"/>
          </a:ln>
        </p:spPr>
      </p:sp>
      <p:sp>
        <p:nvSpPr>
          <p:cNvPr id="20" name="Text 17"/>
          <p:cNvSpPr txBox="1"/>
          <p:nvPr/>
        </p:nvSpPr>
        <p:spPr>
          <a:xfrm>
            <a:off x="7635240" y="3703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21" name="Text 18"/>
          <p:cNvSpPr txBox="1"/>
          <p:nvPr/>
        </p:nvSpPr>
        <p:spPr>
          <a:xfrm>
            <a:off x="8229600" y="3611880"/>
            <a:ext cx="3291840" cy="594360"/>
          </a:xfrm>
          <a:prstGeom prst="rect">
            <a:avLst/>
          </a:prstGeom>
          <a:noFill/>
          <a:ln/>
        </p:spPr>
        <p:txBody>
          <a:bodyPr wrap="square" lIns="0" tIns="0" rIns="0" bIns="0" rtlCol="0" anchor="ctr"/>
          <a:lstStyle/>
          <a:p>
            <a:pPr indent="0" marL="0">
              <a:buNone/>
            </a:pPr>
            <a:r>
              <a:rPr lang="en-US" sz="1600" dirty="0">
                <a:solidFill>
                  <a:schemeClr val="bg1"/>
                </a:solidFill>
              </a:rPr>
              <a:t>Evaluation &amp; observability</a:t>
            </a:r>
            <a:endParaRPr lang="en-US" sz="1600" dirty="0"/>
          </a:p>
        </p:txBody>
      </p:sp>
      <p:sp>
        <p:nvSpPr>
          <p:cNvPr id="22" name="Shape 19"/>
          <p:cNvSpPr/>
          <p:nvPr/>
        </p:nvSpPr>
        <p:spPr>
          <a:xfrm>
            <a:off x="7498080" y="4389120"/>
            <a:ext cx="4114800" cy="594360"/>
          </a:xfrm>
          <a:prstGeom prst="roundRect">
            <a:avLst>
              <a:gd name="adj" fmla="val 15385"/>
            </a:avLst>
          </a:prstGeom>
          <a:solidFill>
            <a:schemeClr val="tx2"/>
          </a:solidFill>
          <a:ln w="12700">
            <a:solidFill>
              <a:schemeClr val="tx2"/>
            </a:solidFill>
            <a:prstDash val="solid"/>
          </a:ln>
        </p:spPr>
      </p:sp>
      <p:sp>
        <p:nvSpPr>
          <p:cNvPr id="23" name="badge"/>
          <p:cNvSpPr/>
          <p:nvPr/>
        </p:nvSpPr>
        <p:spPr>
          <a:xfrm>
            <a:off x="7635240" y="4480560"/>
            <a:ext cx="411480" cy="411480"/>
          </a:xfrm>
          <a:prstGeom prst="ellipse">
            <a:avLst/>
          </a:prstGeom>
          <a:solidFill>
            <a:schemeClr val="accent2"/>
          </a:solidFill>
          <a:ln w="12700">
            <a:solidFill>
              <a:schemeClr val="accent2"/>
            </a:solidFill>
            <a:prstDash val="solid"/>
          </a:ln>
        </p:spPr>
      </p:sp>
      <p:sp>
        <p:nvSpPr>
          <p:cNvPr id="24" name="Text 21"/>
          <p:cNvSpPr txBox="1"/>
          <p:nvPr/>
        </p:nvSpPr>
        <p:spPr>
          <a:xfrm>
            <a:off x="7635240" y="4480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25" name="Text 22"/>
          <p:cNvSpPr txBox="1"/>
          <p:nvPr/>
        </p:nvSpPr>
        <p:spPr>
          <a:xfrm>
            <a:off x="8229600" y="4389120"/>
            <a:ext cx="3291840" cy="594360"/>
          </a:xfrm>
          <a:prstGeom prst="rect">
            <a:avLst/>
          </a:prstGeom>
          <a:noFill/>
          <a:ln/>
        </p:spPr>
        <p:txBody>
          <a:bodyPr wrap="square" lIns="0" tIns="0" rIns="0" bIns="0" rtlCol="0" anchor="ctr"/>
          <a:lstStyle/>
          <a:p>
            <a:pPr indent="0" marL="0">
              <a:buNone/>
            </a:pPr>
            <a:r>
              <a:rPr lang="en-US" sz="1600" dirty="0">
                <a:solidFill>
                  <a:schemeClr val="bg1"/>
                </a:solidFill>
              </a:rPr>
              <a:t>Deployment &amp; data flow</a:t>
            </a:r>
            <a:endParaRPr lang="en-US" sz="1600" dirty="0"/>
          </a:p>
        </p:txBody>
      </p:sp>
      <p:sp>
        <p:nvSpPr>
          <p:cNvPr id="26" name="Shape 23"/>
          <p:cNvSpPr/>
          <p:nvPr/>
        </p:nvSpPr>
        <p:spPr>
          <a:xfrm>
            <a:off x="7498080" y="5166360"/>
            <a:ext cx="4114800" cy="594360"/>
          </a:xfrm>
          <a:prstGeom prst="roundRect">
            <a:avLst>
              <a:gd name="adj" fmla="val 15385"/>
            </a:avLst>
          </a:prstGeom>
          <a:solidFill>
            <a:schemeClr val="tx2"/>
          </a:solidFill>
          <a:ln w="12700">
            <a:solidFill>
              <a:schemeClr val="tx2"/>
            </a:solidFill>
            <a:prstDash val="solid"/>
          </a:ln>
        </p:spPr>
      </p:sp>
      <p:sp>
        <p:nvSpPr>
          <p:cNvPr id="27" name="badge"/>
          <p:cNvSpPr/>
          <p:nvPr/>
        </p:nvSpPr>
        <p:spPr>
          <a:xfrm>
            <a:off x="7635240" y="5257800"/>
            <a:ext cx="411480" cy="411480"/>
          </a:xfrm>
          <a:prstGeom prst="ellipse">
            <a:avLst/>
          </a:prstGeom>
          <a:solidFill>
            <a:schemeClr val="accent2"/>
          </a:solidFill>
          <a:ln w="12700">
            <a:solidFill>
              <a:schemeClr val="accent2"/>
            </a:solidFill>
            <a:prstDash val="solid"/>
          </a:ln>
        </p:spPr>
      </p:sp>
      <p:sp>
        <p:nvSpPr>
          <p:cNvPr id="28" name="Text 25"/>
          <p:cNvSpPr txBox="1"/>
          <p:nvPr/>
        </p:nvSpPr>
        <p:spPr>
          <a:xfrm>
            <a:off x="7635240" y="5257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29" name="Text 26"/>
          <p:cNvSpPr txBox="1"/>
          <p:nvPr/>
        </p:nvSpPr>
        <p:spPr>
          <a:xfrm>
            <a:off x="8229600" y="5166360"/>
            <a:ext cx="3291840" cy="594360"/>
          </a:xfrm>
          <a:prstGeom prst="rect">
            <a:avLst/>
          </a:prstGeom>
          <a:noFill/>
          <a:ln/>
        </p:spPr>
        <p:txBody>
          <a:bodyPr wrap="square" lIns="0" tIns="0" rIns="0" bIns="0" rtlCol="0" anchor="ctr"/>
          <a:lstStyle/>
          <a:p>
            <a:pPr indent="0" marL="0">
              <a:buNone/>
            </a:pPr>
            <a:r>
              <a:rPr lang="en-US" sz="1600" dirty="0">
                <a:solidFill>
                  <a:schemeClr val="bg1"/>
                </a:solidFill>
              </a:rPr>
              <a:t>Alternatives &amp; roadmap</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Embeddings</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Shape 2"/>
          <p:cNvSpPr/>
          <p:nvPr/>
        </p:nvSpPr>
        <p:spPr>
          <a:xfrm>
            <a:off x="548640" y="1463040"/>
            <a:ext cx="6035040" cy="4572000"/>
          </a:xfrm>
          <a:prstGeom prst="roundRect">
            <a:avLst>
              <a:gd name="adj" fmla="val 2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embedding icon"/>
          <p:cNvSpPr/>
          <p:nvPr/>
        </p:nvSpPr>
        <p:spPr>
          <a:xfrm>
            <a:off x="777240" y="1645920"/>
            <a:ext cx="475488" cy="475488"/>
          </a:xfrm>
          <a:prstGeom prst="ellipse">
            <a:avLst/>
          </a:prstGeom>
          <a:solidFill>
            <a:schemeClr val="accent2"/>
          </a:solidFill>
          <a:ln w="12700">
            <a:solidFill>
              <a:schemeClr val="accent2"/>
            </a:solidFill>
            <a:prstDash val="solid"/>
          </a:ln>
        </p:spPr>
      </p:sp>
      <p:pic>
        <p:nvPicPr>
          <p:cNvPr id="7" name="Image 0" descr="icon">    </p:cNvPr>
          <p:cNvPicPr>
            <a:picLocks noChangeAspect="1"/>
          </p:cNvPicPr>
          <p:nvPr/>
        </p:nvPicPr>
        <p:blipFill>
          <a:blip r:embed="rId1"/>
          <a:stretch>
            <a:fillRect/>
          </a:stretch>
        </p:blipFill>
        <p:spPr>
          <a:xfrm>
            <a:off x="896112" y="1764792"/>
            <a:ext cx="237744" cy="237744"/>
          </a:xfrm>
          <a:prstGeom prst="rect">
            <a:avLst/>
          </a:prstGeom>
        </p:spPr>
      </p:pic>
      <p:sp>
        <p:nvSpPr>
          <p:cNvPr id="8" name="Text 4"/>
          <p:cNvSpPr txBox="1"/>
          <p:nvPr/>
        </p:nvSpPr>
        <p:spPr>
          <a:xfrm>
            <a:off x="1417320" y="1645920"/>
            <a:ext cx="4572000" cy="475488"/>
          </a:xfrm>
          <a:prstGeom prst="rect">
            <a:avLst/>
          </a:prstGeom>
          <a:noFill/>
          <a:ln/>
        </p:spPr>
        <p:txBody>
          <a:bodyPr wrap="square" lIns="0" tIns="0" rIns="0" bIns="0" rtlCol="0" anchor="ctr"/>
          <a:lstStyle/>
          <a:p>
            <a:pPr indent="0" marL="0">
              <a:buNone/>
            </a:pPr>
            <a:r>
              <a:rPr lang="en-US" sz="1800" b="1" dirty="0">
                <a:solidFill>
                  <a:schemeClr val="tx1"/>
                </a:solidFill>
              </a:rPr>
              <a:t>Embedding Service</a:t>
            </a:r>
            <a:endParaRPr lang="en-US" sz="1800" dirty="0"/>
          </a:p>
        </p:txBody>
      </p:sp>
      <p:sp>
        <p:nvSpPr>
          <p:cNvPr id="9" name="Shape 5"/>
          <p:cNvSpPr/>
          <p:nvPr/>
        </p:nvSpPr>
        <p:spPr>
          <a:xfrm>
            <a:off x="777240" y="2377440"/>
            <a:ext cx="5577840" cy="731520"/>
          </a:xfrm>
          <a:prstGeom prst="roundRect">
            <a:avLst>
              <a:gd name="adj" fmla="val 10000"/>
            </a:avLst>
          </a:prstGeom>
          <a:solidFill>
            <a:schemeClr val="bg1"/>
          </a:solidFill>
          <a:ln w="12700">
            <a:solidFill>
              <a:schemeClr val="bg1"/>
            </a:solidFill>
            <a:prstDash val="solid"/>
          </a:ln>
        </p:spPr>
      </p:sp>
      <p:sp>
        <p:nvSpPr>
          <p:cNvPr id="10" name="Text 6"/>
          <p:cNvSpPr txBox="1"/>
          <p:nvPr/>
        </p:nvSpPr>
        <p:spPr>
          <a:xfrm>
            <a:off x="960120" y="2377440"/>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Qwen3-Embedding-0.6B</a:t>
            </a:r>
            <a:endParaRPr lang="en-US" sz="1500" dirty="0"/>
          </a:p>
        </p:txBody>
      </p:sp>
      <p:sp>
        <p:nvSpPr>
          <p:cNvPr id="11" name="Shape 7"/>
          <p:cNvSpPr/>
          <p:nvPr/>
        </p:nvSpPr>
        <p:spPr>
          <a:xfrm>
            <a:off x="4480560" y="2560320"/>
            <a:ext cx="1691640" cy="365760"/>
          </a:xfrm>
          <a:prstGeom prst="roundRect">
            <a:avLst>
              <a:gd name="adj" fmla="val 50000"/>
            </a:avLst>
          </a:prstGeom>
          <a:solidFill>
            <a:schemeClr val="accent1"/>
          </a:solidFill>
          <a:ln w="12700">
            <a:solidFill>
              <a:schemeClr val="accent1"/>
            </a:solidFill>
            <a:prstDash val="solid"/>
          </a:ln>
        </p:spPr>
      </p:sp>
      <p:sp>
        <p:nvSpPr>
          <p:cNvPr id="12" name="Text 8"/>
          <p:cNvSpPr txBox="1"/>
          <p:nvPr/>
        </p:nvSpPr>
        <p:spPr>
          <a:xfrm>
            <a:off x="4480560" y="2560320"/>
            <a:ext cx="1691640" cy="365760"/>
          </a:xfrm>
          <a:prstGeom prst="rect">
            <a:avLst/>
          </a:prstGeom>
          <a:noFill/>
          <a:ln/>
        </p:spPr>
        <p:txBody>
          <a:bodyPr wrap="square" lIns="0" tIns="0" rIns="0" bIns="0" rtlCol="0" anchor="ctr"/>
          <a:lstStyle/>
          <a:p>
            <a:pPr algn="ctr" indent="0" marL="0">
              <a:buNone/>
            </a:pPr>
            <a:r>
              <a:rPr lang="en-US" sz="1200" b="1" dirty="0">
                <a:solidFill>
                  <a:schemeClr val="bg1"/>
                </a:solidFill>
              </a:rPr>
              <a:t>default</a:t>
            </a:r>
            <a:endParaRPr lang="en-US" sz="1200" dirty="0"/>
          </a:p>
        </p:txBody>
      </p:sp>
      <p:sp>
        <p:nvSpPr>
          <p:cNvPr id="13" name="Shape 9"/>
          <p:cNvSpPr/>
          <p:nvPr/>
        </p:nvSpPr>
        <p:spPr>
          <a:xfrm>
            <a:off x="777240" y="3273552"/>
            <a:ext cx="5577840" cy="731520"/>
          </a:xfrm>
          <a:prstGeom prst="roundRect">
            <a:avLst>
              <a:gd name="adj" fmla="val 10000"/>
            </a:avLst>
          </a:prstGeom>
          <a:solidFill>
            <a:schemeClr val="bg1"/>
          </a:solidFill>
          <a:ln w="12700">
            <a:solidFill>
              <a:schemeClr val="bg1"/>
            </a:solidFill>
            <a:prstDash val="solid"/>
          </a:ln>
        </p:spPr>
      </p:sp>
      <p:sp>
        <p:nvSpPr>
          <p:cNvPr id="14" name="Text 10"/>
          <p:cNvSpPr txBox="1"/>
          <p:nvPr/>
        </p:nvSpPr>
        <p:spPr>
          <a:xfrm>
            <a:off x="960120" y="3273552"/>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Qwen3-Embedding-8B</a:t>
            </a:r>
            <a:endParaRPr lang="en-US" sz="1500" dirty="0"/>
          </a:p>
        </p:txBody>
      </p:sp>
      <p:sp>
        <p:nvSpPr>
          <p:cNvPr id="15" name="Shape 11"/>
          <p:cNvSpPr/>
          <p:nvPr/>
        </p:nvSpPr>
        <p:spPr>
          <a:xfrm>
            <a:off x="4480560" y="3456432"/>
            <a:ext cx="1691640" cy="365760"/>
          </a:xfrm>
          <a:prstGeom prst="roundRect">
            <a:avLst>
              <a:gd name="adj" fmla="val 50000"/>
            </a:avLst>
          </a:prstGeom>
          <a:solidFill>
            <a:schemeClr val="accent3"/>
          </a:solidFill>
          <a:ln w="12700">
            <a:solidFill>
              <a:schemeClr val="accent3"/>
            </a:solidFill>
            <a:prstDash val="solid"/>
          </a:ln>
        </p:spPr>
      </p:sp>
      <p:sp>
        <p:nvSpPr>
          <p:cNvPr id="16" name="Text 12"/>
          <p:cNvSpPr txBox="1"/>
          <p:nvPr/>
        </p:nvSpPr>
        <p:spPr>
          <a:xfrm>
            <a:off x="4480560" y="3456432"/>
            <a:ext cx="1691640" cy="365760"/>
          </a:xfrm>
          <a:prstGeom prst="rect">
            <a:avLst/>
          </a:prstGeom>
          <a:noFill/>
          <a:ln/>
        </p:spPr>
        <p:txBody>
          <a:bodyPr wrap="square" lIns="0" tIns="0" rIns="0" bIns="0" rtlCol="0" anchor="ctr"/>
          <a:lstStyle/>
          <a:p>
            <a:pPr algn="ctr" indent="0" marL="0">
              <a:buNone/>
            </a:pPr>
            <a:r>
              <a:rPr lang="en-US" sz="1200" b="1" dirty="0">
                <a:solidFill>
                  <a:schemeClr val="bg1"/>
                </a:solidFill>
              </a:rPr>
              <a:t>high quality</a:t>
            </a:r>
            <a:endParaRPr lang="en-US" sz="1200" dirty="0"/>
          </a:p>
        </p:txBody>
      </p:sp>
      <p:sp>
        <p:nvSpPr>
          <p:cNvPr id="17" name="Shape 13"/>
          <p:cNvSpPr/>
          <p:nvPr/>
        </p:nvSpPr>
        <p:spPr>
          <a:xfrm>
            <a:off x="777240" y="4169664"/>
            <a:ext cx="5577840" cy="731520"/>
          </a:xfrm>
          <a:prstGeom prst="roundRect">
            <a:avLst>
              <a:gd name="adj" fmla="val 10000"/>
            </a:avLst>
          </a:prstGeom>
          <a:solidFill>
            <a:schemeClr val="bg1"/>
          </a:solidFill>
          <a:ln w="12700">
            <a:solidFill>
              <a:schemeClr val="bg1"/>
            </a:solidFill>
            <a:prstDash val="solid"/>
          </a:ln>
        </p:spPr>
      </p:sp>
      <p:sp>
        <p:nvSpPr>
          <p:cNvPr id="18" name="Text 14"/>
          <p:cNvSpPr txBox="1"/>
          <p:nvPr/>
        </p:nvSpPr>
        <p:spPr>
          <a:xfrm>
            <a:off x="960120" y="4169664"/>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BGE-M3</a:t>
            </a:r>
            <a:endParaRPr lang="en-US" sz="1500" dirty="0"/>
          </a:p>
        </p:txBody>
      </p:sp>
      <p:sp>
        <p:nvSpPr>
          <p:cNvPr id="19" name="Shape 15"/>
          <p:cNvSpPr/>
          <p:nvPr/>
        </p:nvSpPr>
        <p:spPr>
          <a:xfrm>
            <a:off x="4480560" y="4352544"/>
            <a:ext cx="1691640" cy="365760"/>
          </a:xfrm>
          <a:prstGeom prst="roundRect">
            <a:avLst>
              <a:gd name="adj" fmla="val 50000"/>
            </a:avLst>
          </a:prstGeom>
          <a:solidFill>
            <a:schemeClr val="accent5"/>
          </a:solidFill>
          <a:ln w="12700">
            <a:solidFill>
              <a:schemeClr val="accent5"/>
            </a:solidFill>
            <a:prstDash val="solid"/>
          </a:ln>
        </p:spPr>
      </p:sp>
      <p:sp>
        <p:nvSpPr>
          <p:cNvPr id="20" name="Text 16"/>
          <p:cNvSpPr txBox="1"/>
          <p:nvPr/>
        </p:nvSpPr>
        <p:spPr>
          <a:xfrm>
            <a:off x="4480560" y="4352544"/>
            <a:ext cx="1691640" cy="365760"/>
          </a:xfrm>
          <a:prstGeom prst="rect">
            <a:avLst/>
          </a:prstGeom>
          <a:noFill/>
          <a:ln/>
        </p:spPr>
        <p:txBody>
          <a:bodyPr wrap="square" lIns="0" tIns="0" rIns="0" bIns="0" rtlCol="0" anchor="ctr"/>
          <a:lstStyle/>
          <a:p>
            <a:pPr algn="ctr" indent="0" marL="0">
              <a:buNone/>
            </a:pPr>
            <a:r>
              <a:rPr lang="en-US" sz="1200" b="1" dirty="0">
                <a:solidFill>
                  <a:schemeClr val="bg1"/>
                </a:solidFill>
              </a:rPr>
              <a:t>multilingual</a:t>
            </a:r>
            <a:endParaRPr lang="en-US" sz="1200" dirty="0"/>
          </a:p>
        </p:txBody>
      </p:sp>
      <p:sp>
        <p:nvSpPr>
          <p:cNvPr id="21" name="Shape 17"/>
          <p:cNvSpPr/>
          <p:nvPr/>
        </p:nvSpPr>
        <p:spPr>
          <a:xfrm>
            <a:off x="777240" y="5065776"/>
            <a:ext cx="5577840" cy="731520"/>
          </a:xfrm>
          <a:prstGeom prst="roundRect">
            <a:avLst>
              <a:gd name="adj" fmla="val 10000"/>
            </a:avLst>
          </a:prstGeom>
          <a:solidFill>
            <a:schemeClr val="bg1"/>
          </a:solidFill>
          <a:ln w="12700">
            <a:solidFill>
              <a:schemeClr val="bg1"/>
            </a:solidFill>
            <a:prstDash val="solid"/>
          </a:ln>
        </p:spPr>
      </p:sp>
      <p:sp>
        <p:nvSpPr>
          <p:cNvPr id="22" name="Text 18"/>
          <p:cNvSpPr txBox="1"/>
          <p:nvPr/>
        </p:nvSpPr>
        <p:spPr>
          <a:xfrm>
            <a:off x="960120" y="5065776"/>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text-embedding-3-large</a:t>
            </a:r>
            <a:endParaRPr lang="en-US" sz="1500" dirty="0"/>
          </a:p>
        </p:txBody>
      </p:sp>
      <p:sp>
        <p:nvSpPr>
          <p:cNvPr id="23" name="Shape 19"/>
          <p:cNvSpPr/>
          <p:nvPr/>
        </p:nvSpPr>
        <p:spPr>
          <a:xfrm>
            <a:off x="4480560" y="5248656"/>
            <a:ext cx="1691640" cy="365760"/>
          </a:xfrm>
          <a:prstGeom prst="roundRect">
            <a:avLst>
              <a:gd name="adj" fmla="val 50000"/>
            </a:avLst>
          </a:prstGeom>
          <a:solidFill>
            <a:schemeClr val="accent6"/>
          </a:solidFill>
          <a:ln w="12700">
            <a:solidFill>
              <a:schemeClr val="accent6"/>
            </a:solidFill>
            <a:prstDash val="solid"/>
          </a:ln>
        </p:spPr>
      </p:sp>
      <p:sp>
        <p:nvSpPr>
          <p:cNvPr id="24" name="Text 20"/>
          <p:cNvSpPr txBox="1"/>
          <p:nvPr/>
        </p:nvSpPr>
        <p:spPr>
          <a:xfrm>
            <a:off x="4480560" y="5248656"/>
            <a:ext cx="1691640" cy="365760"/>
          </a:xfrm>
          <a:prstGeom prst="rect">
            <a:avLst/>
          </a:prstGeom>
          <a:noFill/>
          <a:ln/>
        </p:spPr>
        <p:txBody>
          <a:bodyPr wrap="square" lIns="0" tIns="0" rIns="0" bIns="0" rtlCol="0" anchor="ctr"/>
          <a:lstStyle/>
          <a:p>
            <a:pPr algn="ctr" indent="0" marL="0">
              <a:buNone/>
            </a:pPr>
            <a:r>
              <a:rPr lang="en-US" sz="1200" b="1" dirty="0">
                <a:solidFill>
                  <a:schemeClr val="bg1"/>
                </a:solidFill>
              </a:rPr>
              <a:t>alternative</a:t>
            </a:r>
            <a:endParaRPr lang="en-US" sz="1200" dirty="0"/>
          </a:p>
        </p:txBody>
      </p:sp>
      <p:sp>
        <p:nvSpPr>
          <p:cNvPr id="25" name="Shape 21"/>
          <p:cNvSpPr/>
          <p:nvPr/>
        </p:nvSpPr>
        <p:spPr>
          <a:xfrm>
            <a:off x="6858000" y="1463040"/>
            <a:ext cx="2313432" cy="2148840"/>
          </a:xfrm>
          <a:prstGeom prst="roundRect">
            <a:avLst>
              <a:gd name="adj" fmla="val 4255"/>
            </a:avLst>
          </a:prstGeom>
          <a:solidFill>
            <a:schemeClr val="tx1"/>
          </a:solidFill>
          <a:ln w="12700">
            <a:solidFill>
              <a:schemeClr val="tx1"/>
            </a:solidFill>
            <a:prstDash val="solid"/>
          </a:ln>
        </p:spPr>
      </p:sp>
      <p:sp>
        <p:nvSpPr>
          <p:cNvPr id="26" name="Text 22"/>
          <p:cNvSpPr txBox="1"/>
          <p:nvPr/>
        </p:nvSpPr>
        <p:spPr>
          <a:xfrm>
            <a:off x="6949440" y="1874520"/>
            <a:ext cx="2130552" cy="73152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32–128</a:t>
            </a:r>
            <a:endParaRPr lang="en-US" sz="2800" dirty="0"/>
          </a:p>
        </p:txBody>
      </p:sp>
      <p:sp>
        <p:nvSpPr>
          <p:cNvPr id="27" name="Text 23"/>
          <p:cNvSpPr txBox="1"/>
          <p:nvPr/>
        </p:nvSpPr>
        <p:spPr>
          <a:xfrm>
            <a:off x="6949440" y="2651760"/>
            <a:ext cx="2130552" cy="548640"/>
          </a:xfrm>
          <a:prstGeom prst="rect">
            <a:avLst/>
          </a:prstGeom>
          <a:noFill/>
          <a:ln/>
        </p:spPr>
        <p:txBody>
          <a:bodyPr wrap="square" lIns="0" tIns="0" rIns="0" bIns="0" rtlCol="0" anchor="t"/>
          <a:lstStyle/>
          <a:p>
            <a:pPr algn="ctr" indent="0" marL="0">
              <a:buNone/>
            </a:pPr>
            <a:r>
              <a:rPr lang="en-US" sz="1400" dirty="0">
                <a:solidFill>
                  <a:schemeClr val="bg1"/>
                </a:solidFill>
              </a:rPr>
              <a:t>batch size</a:t>
            </a:r>
            <a:endParaRPr lang="en-US" sz="1400" dirty="0"/>
          </a:p>
        </p:txBody>
      </p:sp>
      <p:sp>
        <p:nvSpPr>
          <p:cNvPr id="28" name="Shape 24"/>
          <p:cNvSpPr/>
          <p:nvPr/>
        </p:nvSpPr>
        <p:spPr>
          <a:xfrm>
            <a:off x="9299448" y="1463040"/>
            <a:ext cx="2313432" cy="2148840"/>
          </a:xfrm>
          <a:prstGeom prst="roundRect">
            <a:avLst>
              <a:gd name="adj" fmla="val 4255"/>
            </a:avLst>
          </a:prstGeom>
          <a:solidFill>
            <a:schemeClr val="tx1"/>
          </a:solidFill>
          <a:ln w="12700">
            <a:solidFill>
              <a:schemeClr val="tx1"/>
            </a:solidFill>
            <a:prstDash val="solid"/>
          </a:ln>
        </p:spPr>
      </p:sp>
      <p:sp>
        <p:nvSpPr>
          <p:cNvPr id="29" name="Text 25"/>
          <p:cNvSpPr txBox="1"/>
          <p:nvPr/>
        </p:nvSpPr>
        <p:spPr>
          <a:xfrm>
            <a:off x="9390888" y="1874520"/>
            <a:ext cx="2130552" cy="73152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8192</a:t>
            </a:r>
            <a:endParaRPr lang="en-US" sz="2800" dirty="0"/>
          </a:p>
        </p:txBody>
      </p:sp>
      <p:sp>
        <p:nvSpPr>
          <p:cNvPr id="30" name="Text 26"/>
          <p:cNvSpPr txBox="1"/>
          <p:nvPr/>
        </p:nvSpPr>
        <p:spPr>
          <a:xfrm>
            <a:off x="9390888" y="2651760"/>
            <a:ext cx="2130552" cy="548640"/>
          </a:xfrm>
          <a:prstGeom prst="rect">
            <a:avLst/>
          </a:prstGeom>
          <a:noFill/>
          <a:ln/>
        </p:spPr>
        <p:txBody>
          <a:bodyPr wrap="square" lIns="0" tIns="0" rIns="0" bIns="0" rtlCol="0" anchor="t"/>
          <a:lstStyle/>
          <a:p>
            <a:pPr algn="ctr" indent="0" marL="0">
              <a:buNone/>
            </a:pPr>
            <a:r>
              <a:rPr lang="en-US" sz="1400" dirty="0">
                <a:solidFill>
                  <a:schemeClr val="bg1"/>
                </a:solidFill>
              </a:rPr>
              <a:t>max length</a:t>
            </a:r>
            <a:endParaRPr lang="en-US" sz="1400" dirty="0"/>
          </a:p>
        </p:txBody>
      </p:sp>
      <p:sp>
        <p:nvSpPr>
          <p:cNvPr id="31" name="Shape 27"/>
          <p:cNvSpPr/>
          <p:nvPr/>
        </p:nvSpPr>
        <p:spPr>
          <a:xfrm>
            <a:off x="6858000" y="3794760"/>
            <a:ext cx="2313432" cy="2148840"/>
          </a:xfrm>
          <a:prstGeom prst="roundRect">
            <a:avLst>
              <a:gd name="adj" fmla="val 4255"/>
            </a:avLst>
          </a:prstGeom>
          <a:solidFill>
            <a:schemeClr val="tx1"/>
          </a:solidFill>
          <a:ln w="12700">
            <a:solidFill>
              <a:schemeClr val="tx1"/>
            </a:solidFill>
            <a:prstDash val="solid"/>
          </a:ln>
        </p:spPr>
      </p:sp>
      <p:sp>
        <p:nvSpPr>
          <p:cNvPr id="32" name="Text 28"/>
          <p:cNvSpPr txBox="1"/>
          <p:nvPr/>
        </p:nvSpPr>
        <p:spPr>
          <a:xfrm>
            <a:off x="6949440" y="4206240"/>
            <a:ext cx="2130552" cy="73152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1024 / 1536</a:t>
            </a:r>
            <a:endParaRPr lang="en-US" sz="2800" dirty="0"/>
          </a:p>
        </p:txBody>
      </p:sp>
      <p:sp>
        <p:nvSpPr>
          <p:cNvPr id="33" name="Text 29"/>
          <p:cNvSpPr txBox="1"/>
          <p:nvPr/>
        </p:nvSpPr>
        <p:spPr>
          <a:xfrm>
            <a:off x="6949440" y="4983480"/>
            <a:ext cx="2130552" cy="548640"/>
          </a:xfrm>
          <a:prstGeom prst="rect">
            <a:avLst/>
          </a:prstGeom>
          <a:noFill/>
          <a:ln/>
        </p:spPr>
        <p:txBody>
          <a:bodyPr wrap="square" lIns="0" tIns="0" rIns="0" bIns="0" rtlCol="0" anchor="t"/>
          <a:lstStyle/>
          <a:p>
            <a:pPr algn="ctr" indent="0" marL="0">
              <a:buNone/>
            </a:pPr>
            <a:r>
              <a:rPr lang="en-US" sz="1400" dirty="0">
                <a:solidFill>
                  <a:schemeClr val="bg1"/>
                </a:solidFill>
              </a:rPr>
              <a:t>dimensions</a:t>
            </a:r>
            <a:endParaRPr lang="en-US" sz="1400" dirty="0"/>
          </a:p>
        </p:txBody>
      </p:sp>
      <p:sp>
        <p:nvSpPr>
          <p:cNvPr id="34" name="Shape 30"/>
          <p:cNvSpPr/>
          <p:nvPr/>
        </p:nvSpPr>
        <p:spPr>
          <a:xfrm>
            <a:off x="9299448" y="3794760"/>
            <a:ext cx="2313432" cy="2148840"/>
          </a:xfrm>
          <a:prstGeom prst="roundRect">
            <a:avLst>
              <a:gd name="adj" fmla="val 4255"/>
            </a:avLst>
          </a:prstGeom>
          <a:solidFill>
            <a:schemeClr val="tx1"/>
          </a:solidFill>
          <a:ln w="12700">
            <a:solidFill>
              <a:schemeClr val="tx1"/>
            </a:solidFill>
            <a:prstDash val="solid"/>
          </a:ln>
        </p:spPr>
      </p:sp>
      <p:sp>
        <p:nvSpPr>
          <p:cNvPr id="35" name="Text 31"/>
          <p:cNvSpPr txBox="1"/>
          <p:nvPr/>
        </p:nvSpPr>
        <p:spPr>
          <a:xfrm>
            <a:off x="9390888" y="4206240"/>
            <a:ext cx="2130552" cy="73152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Cosine</a:t>
            </a:r>
            <a:endParaRPr lang="en-US" sz="2800" dirty="0"/>
          </a:p>
        </p:txBody>
      </p:sp>
      <p:sp>
        <p:nvSpPr>
          <p:cNvPr id="36" name="Text 32"/>
          <p:cNvSpPr txBox="1"/>
          <p:nvPr/>
        </p:nvSpPr>
        <p:spPr>
          <a:xfrm>
            <a:off x="9390888" y="4983480"/>
            <a:ext cx="2130552" cy="548640"/>
          </a:xfrm>
          <a:prstGeom prst="rect">
            <a:avLst/>
          </a:prstGeom>
          <a:noFill/>
          <a:ln/>
        </p:spPr>
        <p:txBody>
          <a:bodyPr wrap="square" lIns="0" tIns="0" rIns="0" bIns="0" rtlCol="0" anchor="t"/>
          <a:lstStyle/>
          <a:p>
            <a:pPr algn="ctr" indent="0" marL="0">
              <a:buNone/>
            </a:pPr>
            <a:r>
              <a:rPr lang="en-US" sz="1400" dirty="0">
                <a:solidFill>
                  <a:schemeClr val="bg1"/>
                </a:solidFill>
              </a:rPr>
              <a:t>similarity, normalized</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Persistence: PostgreSQL + pgvector</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card Table: document_chunks"/>
          <p:cNvSpPr/>
          <p:nvPr/>
        </p:nvSpPr>
        <p:spPr>
          <a:xfrm>
            <a:off x="548640" y="1463040"/>
            <a:ext cx="3514344" cy="3291840"/>
          </a:xfrm>
          <a:prstGeom prst="roundRect">
            <a:avLst>
              <a:gd name="adj" fmla="val 27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Table: document_chunks"/>
          <p:cNvSpPr/>
          <p:nvPr/>
        </p:nvSpPr>
        <p:spPr>
          <a:xfrm>
            <a:off x="731520" y="1645920"/>
            <a:ext cx="475488" cy="475488"/>
          </a:xfrm>
          <a:prstGeom prst="ellipse">
            <a:avLst/>
          </a:prstGeom>
          <a:solidFill>
            <a:schemeClr val="accent2"/>
          </a:solidFill>
          <a:ln w="12700">
            <a:solidFill>
              <a:schemeClr val="accent2"/>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Table: document_chunks</a:t>
            </a:r>
            <a:endParaRPr lang="en-US" sz="1500" dirty="0"/>
          </a:p>
        </p:txBody>
      </p:sp>
      <p:sp>
        <p:nvSpPr>
          <p:cNvPr id="9" name="Text 5"/>
          <p:cNvSpPr txBox="1"/>
          <p:nvPr/>
        </p:nvSpPr>
        <p:spPr>
          <a:xfrm>
            <a:off x="777240" y="2286000"/>
            <a:ext cx="3102864" cy="23774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latin typeface="Courier New" pitchFamily="34" charset="0"/>
                <a:ea typeface="Courier New" pitchFamily="34" charset="-122"/>
                <a:cs typeface="Courier New" pitchFamily="34" charset="-120"/>
              </a:rPr>
              <a:t>id (PK), doc_id (FK), node_id</a:t>
            </a:r>
            <a:endParaRPr lang="en-US" sz="1300" dirty="0"/>
          </a:p>
          <a:p>
            <a:pPr marL="177800" indent="-177800">
              <a:spcAft>
                <a:spcPts val="400"/>
              </a:spcAft>
              <a:buSzPct val="100000"/>
              <a:buChar char="•"/>
            </a:pPr>
            <a:r>
              <a:rPr lang="en-US" sz="1300" dirty="0">
                <a:solidFill>
                  <a:schemeClr val="tx1"/>
                </a:solidFill>
                <a:latin typeface="Courier New" pitchFamily="34" charset="0"/>
                <a:ea typeface="Courier New" pitchFamily="34" charset="-122"/>
                <a:cs typeface="Courier New" pitchFamily="34" charset="-120"/>
              </a:rPr>
              <a:t>section, page / page_range</a:t>
            </a:r>
            <a:endParaRPr lang="en-US" sz="1300" dirty="0"/>
          </a:p>
          <a:p>
            <a:pPr marL="177800" indent="-177800">
              <a:spcAft>
                <a:spcPts val="400"/>
              </a:spcAft>
              <a:buSzPct val="100000"/>
              <a:buChar char="•"/>
            </a:pPr>
            <a:r>
              <a:rPr lang="en-US" sz="1300" dirty="0">
                <a:solidFill>
                  <a:schemeClr val="tx1"/>
                </a:solidFill>
                <a:latin typeface="Courier New" pitchFamily="34" charset="0"/>
                <a:ea typeface="Courier New" pitchFamily="34" charset="-122"/>
                <a:cs typeface="Courier New" pitchFamily="34" charset="-120"/>
              </a:rPr>
              <a:t>content, token_count</a:t>
            </a:r>
            <a:endParaRPr lang="en-US" sz="1300" dirty="0"/>
          </a:p>
          <a:p>
            <a:pPr marL="177800" indent="-177800">
              <a:spcAft>
                <a:spcPts val="400"/>
              </a:spcAft>
              <a:buSzPct val="100000"/>
              <a:buChar char="•"/>
            </a:pPr>
            <a:r>
              <a:rPr lang="en-US" sz="1300" dirty="0">
                <a:solidFill>
                  <a:schemeClr val="tx1"/>
                </a:solidFill>
                <a:latin typeface="Courier New" pitchFamily="34" charset="0"/>
                <a:ea typeface="Courier New" pitchFamily="34" charset="-122"/>
                <a:cs typeface="Courier New" pitchFamily="34" charset="-120"/>
              </a:rPr>
              <a:t>embedding (vector)</a:t>
            </a:r>
            <a:endParaRPr lang="en-US" sz="1300" dirty="0"/>
          </a:p>
          <a:p>
            <a:pPr marL="177800" indent="-177800">
              <a:spcAft>
                <a:spcPts val="400"/>
              </a:spcAft>
              <a:buSzPct val="100000"/>
              <a:buChar char="•"/>
            </a:pPr>
            <a:r>
              <a:rPr lang="en-US" sz="1300" dirty="0">
                <a:solidFill>
                  <a:schemeClr val="tx1"/>
                </a:solidFill>
                <a:latin typeface="Courier New" pitchFamily="34" charset="0"/>
                <a:ea typeface="Courier New" pitchFamily="34" charset="-122"/>
                <a:cs typeface="Courier New" pitchFamily="34" charset="-120"/>
              </a:rPr>
              <a:t>metadata, provenance</a:t>
            </a:r>
            <a:endParaRPr lang="en-US" sz="1300" dirty="0"/>
          </a:p>
        </p:txBody>
      </p:sp>
      <p:sp>
        <p:nvSpPr>
          <p:cNvPr id="10" name="card Indexes"/>
          <p:cNvSpPr/>
          <p:nvPr/>
        </p:nvSpPr>
        <p:spPr>
          <a:xfrm>
            <a:off x="4337304" y="1463040"/>
            <a:ext cx="3514344" cy="3291840"/>
          </a:xfrm>
          <a:prstGeom prst="roundRect">
            <a:avLst>
              <a:gd name="adj" fmla="val 27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Indexes"/>
          <p:cNvSpPr/>
          <p:nvPr/>
        </p:nvSpPr>
        <p:spPr>
          <a:xfrm>
            <a:off x="4520184"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Indexes</a:t>
            </a:r>
            <a:endParaRPr lang="en-US" sz="1500" dirty="0"/>
          </a:p>
        </p:txBody>
      </p:sp>
      <p:sp>
        <p:nvSpPr>
          <p:cNvPr id="14" name="Text 9"/>
          <p:cNvSpPr txBox="1"/>
          <p:nvPr/>
        </p:nvSpPr>
        <p:spPr>
          <a:xfrm>
            <a:off x="4565904" y="2286000"/>
            <a:ext cx="3102864" cy="23774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HNSW (vector, default)</a:t>
            </a:r>
            <a:endParaRPr lang="en-US" sz="1400" dirty="0"/>
          </a:p>
          <a:p>
            <a:pPr marL="177800" indent="-177800">
              <a:spcAft>
                <a:spcPts val="400"/>
              </a:spcAft>
              <a:buSzPct val="100000"/>
              <a:buChar char="•"/>
            </a:pPr>
            <a:r>
              <a:rPr lang="en-US" sz="1400" dirty="0">
                <a:solidFill>
                  <a:schemeClr val="tx1"/>
                </a:solidFill>
              </a:rPr>
              <a:t>FTS (title, content)</a:t>
            </a:r>
            <a:endParaRPr lang="en-US" sz="1400" dirty="0"/>
          </a:p>
          <a:p>
            <a:pPr marL="177800" indent="-177800">
              <a:spcAft>
                <a:spcPts val="400"/>
              </a:spcAft>
              <a:buSzPct val="100000"/>
              <a:buChar char="•"/>
            </a:pPr>
            <a:r>
              <a:rPr lang="en-US" sz="1400" dirty="0">
                <a:solidFill>
                  <a:schemeClr val="tx1"/>
                </a:solidFill>
              </a:rPr>
              <a:t>GIN (metadata, tags)</a:t>
            </a:r>
            <a:endParaRPr lang="en-US" sz="1400" dirty="0"/>
          </a:p>
          <a:p>
            <a:pPr marL="177800" indent="-177800">
              <a:spcAft>
                <a:spcPts val="400"/>
              </a:spcAft>
              <a:buSzPct val="100000"/>
              <a:buChar char="•"/>
            </a:pPr>
            <a:r>
              <a:rPr lang="en-US" sz="1400" dirty="0">
                <a:solidFill>
                  <a:schemeClr val="tx1"/>
                </a:solidFill>
              </a:rPr>
              <a:t>B-tree (user_id, project_id, source_type)</a:t>
            </a:r>
            <a:endParaRPr lang="en-US" sz="1400" dirty="0"/>
          </a:p>
        </p:txBody>
      </p:sp>
      <p:sp>
        <p:nvSpPr>
          <p:cNvPr id="15" name="card Store &amp; Migrations"/>
          <p:cNvSpPr/>
          <p:nvPr/>
        </p:nvSpPr>
        <p:spPr>
          <a:xfrm>
            <a:off x="8125968" y="1463040"/>
            <a:ext cx="3514344" cy="3291840"/>
          </a:xfrm>
          <a:prstGeom prst="roundRect">
            <a:avLst>
              <a:gd name="adj" fmla="val 27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Store &amp; Migrations"/>
          <p:cNvSpPr/>
          <p:nvPr/>
        </p:nvSpPr>
        <p:spPr>
          <a:xfrm>
            <a:off x="8308848" y="1645920"/>
            <a:ext cx="475488" cy="475488"/>
          </a:xfrm>
          <a:prstGeom prst="ellipse">
            <a:avLst/>
          </a:prstGeom>
          <a:solidFill>
            <a:schemeClr val="accent1"/>
          </a:solidFill>
          <a:ln w="12700">
            <a:solidFill>
              <a:schemeClr val="accent1"/>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Store &amp; Migrations</a:t>
            </a:r>
            <a:endParaRPr lang="en-US" sz="1500" dirty="0"/>
          </a:p>
        </p:txBody>
      </p:sp>
      <p:sp>
        <p:nvSpPr>
          <p:cNvPr id="19" name="Text 13"/>
          <p:cNvSpPr txBox="1"/>
          <p:nvPr/>
        </p:nvSpPr>
        <p:spPr>
          <a:xfrm>
            <a:off x="8354568" y="2286000"/>
            <a:ext cx="3102864" cy="23774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Chunks, metadata, citations</a:t>
            </a:r>
            <a:endParaRPr lang="en-US" sz="1400" dirty="0"/>
          </a:p>
          <a:p>
            <a:pPr marL="177800" indent="-177800">
              <a:spcAft>
                <a:spcPts val="400"/>
              </a:spcAft>
              <a:buSzPct val="100000"/>
              <a:buChar char="•"/>
            </a:pPr>
            <a:r>
              <a:rPr lang="en-US" sz="1400" dirty="0">
                <a:solidFill>
                  <a:schemeClr val="tx1"/>
                </a:solidFill>
              </a:rPr>
              <a:t>Source config</a:t>
            </a:r>
            <a:endParaRPr lang="en-US" sz="1400" dirty="0"/>
          </a:p>
          <a:p>
            <a:pPr marL="177800" indent="-177800">
              <a:spcAft>
                <a:spcPts val="400"/>
              </a:spcAft>
              <a:buSzPct val="100000"/>
              <a:buChar char="•"/>
            </a:pPr>
            <a:r>
              <a:rPr lang="en-US" sz="1400" dirty="0">
                <a:solidFill>
                  <a:schemeClr val="tx1"/>
                </a:solidFill>
              </a:rPr>
              <a:t>Alembic: schema migrations</a:t>
            </a:r>
            <a:endParaRPr lang="en-US" sz="1400" dirty="0"/>
          </a:p>
          <a:p>
            <a:pPr marL="177800" indent="-177800">
              <a:spcAft>
                <a:spcPts val="400"/>
              </a:spcAft>
              <a:buSzPct val="100000"/>
              <a:buChar char="•"/>
            </a:pPr>
            <a:r>
              <a:rPr lang="en-US" sz="1400" dirty="0">
                <a:solidFill>
                  <a:schemeClr val="tx1"/>
                </a:solidFill>
              </a:rPr>
              <a:t>Index creation, seed roles</a:t>
            </a:r>
            <a:endParaRPr lang="en-US" sz="1400" dirty="0"/>
          </a:p>
          <a:p>
            <a:pPr marL="177800" indent="-177800">
              <a:spcAft>
                <a:spcPts val="400"/>
              </a:spcAft>
              <a:buSzPct val="100000"/>
              <a:buChar char="•"/>
            </a:pPr>
            <a:r>
              <a:rPr lang="en-US" sz="1400" dirty="0">
                <a:solidFill>
                  <a:schemeClr val="tx1"/>
                </a:solidFill>
              </a:rPr>
              <a:t>Partitioning (optional)</a:t>
            </a:r>
            <a:endParaRPr lang="en-US" sz="1400" dirty="0"/>
          </a:p>
        </p:txBody>
      </p:sp>
      <p:sp>
        <p:nvSpPr>
          <p:cNvPr id="20" name="Shape 14"/>
          <p:cNvSpPr/>
          <p:nvPr/>
        </p:nvSpPr>
        <p:spPr>
          <a:xfrm>
            <a:off x="548640" y="5029200"/>
            <a:ext cx="11091672" cy="1005840"/>
          </a:xfrm>
          <a:prstGeom prst="roundRect">
            <a:avLst>
              <a:gd name="adj" fmla="val 9091"/>
            </a:avLst>
          </a:prstGeom>
          <a:solidFill>
            <a:schemeClr val="tx1"/>
          </a:solidFill>
          <a:ln w="12700">
            <a:solidFill>
              <a:schemeClr val="tx1"/>
            </a:solidFill>
            <a:prstDash val="solid"/>
          </a:ln>
        </p:spPr>
      </p:sp>
      <p:sp>
        <p:nvSpPr>
          <p:cNvPr id="21" name="Text 15"/>
          <p:cNvSpPr txBox="1"/>
          <p:nvPr/>
        </p:nvSpPr>
        <p:spPr>
          <a:xfrm>
            <a:off x="822960" y="5029200"/>
            <a:ext cx="10543032" cy="1005840"/>
          </a:xfrm>
          <a:prstGeom prst="rect">
            <a:avLst/>
          </a:prstGeom>
          <a:noFill/>
          <a:ln/>
        </p:spPr>
        <p:txBody>
          <a:bodyPr wrap="square" lIns="0" tIns="0" rIns="0" bIns="0" rtlCol="0" anchor="ctr"/>
          <a:lstStyle/>
          <a:p>
            <a:pPr indent="0" marL="0">
              <a:buNone/>
            </a:pPr>
            <a:r>
              <a:rPr lang="en-US" sz="1600" dirty="0">
                <a:solidFill>
                  <a:schemeClr val="bg1"/>
                </a:solidFill>
              </a:rPr>
              <a:t>One PostgreSQL 16 instance holds relational data, vectors (HNSW) and keyword search (FTS), so project isolation and migrations live in a single place.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Retrieval &amp; Ranking Pipeline</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card 1. Apply Filters (SQL)"/>
          <p:cNvSpPr/>
          <p:nvPr/>
        </p:nvSpPr>
        <p:spPr>
          <a:xfrm>
            <a:off x="548640" y="1463040"/>
            <a:ext cx="2464308" cy="2926080"/>
          </a:xfrm>
          <a:prstGeom prst="roundRect">
            <a:avLst>
              <a:gd name="adj" fmla="val 37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1. Apply Filters (SQL)"/>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1504188" cy="530352"/>
          </a:xfrm>
          <a:prstGeom prst="rect">
            <a:avLst/>
          </a:prstGeom>
          <a:noFill/>
          <a:ln/>
        </p:spPr>
        <p:txBody>
          <a:bodyPr wrap="square" lIns="0" tIns="0" rIns="0" bIns="0" rtlCol="0" anchor="ctr"/>
          <a:lstStyle/>
          <a:p>
            <a:pPr indent="0" marL="0">
              <a:buNone/>
            </a:pPr>
            <a:r>
              <a:rPr lang="en-US" sz="1500" b="1" dirty="0">
                <a:solidFill>
                  <a:schemeClr val="tx1"/>
                </a:solidFill>
              </a:rPr>
              <a:t>1. Apply Filters (SQL)</a:t>
            </a:r>
            <a:endParaRPr lang="en-US" sz="1500" dirty="0"/>
          </a:p>
        </p:txBody>
      </p:sp>
      <p:sp>
        <p:nvSpPr>
          <p:cNvPr id="9" name="Text 5"/>
          <p:cNvSpPr txBox="1"/>
          <p:nvPr/>
        </p:nvSpPr>
        <p:spPr>
          <a:xfrm>
            <a:off x="777240" y="2286000"/>
            <a:ext cx="2052828" cy="2011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SourceType, ContentLevel</a:t>
            </a:r>
            <a:endParaRPr lang="en-US" sz="1300" dirty="0"/>
          </a:p>
          <a:p>
            <a:pPr marL="177800" indent="-177800">
              <a:spcAft>
                <a:spcPts val="400"/>
              </a:spcAft>
              <a:buSzPct val="100000"/>
              <a:buChar char="•"/>
            </a:pPr>
            <a:r>
              <a:rPr lang="en-US" sz="1300" dirty="0">
                <a:solidFill>
                  <a:schemeClr val="tx1"/>
                </a:solidFill>
              </a:rPr>
              <a:t>Year range, document IDs</a:t>
            </a:r>
            <a:endParaRPr lang="en-US" sz="1300" dirty="0"/>
          </a:p>
          <a:p>
            <a:pPr marL="177800" indent="-177800">
              <a:spcAft>
                <a:spcPts val="400"/>
              </a:spcAft>
              <a:buSzPct val="100000"/>
              <a:buChar char="•"/>
            </a:pPr>
            <a:r>
              <a:rPr lang="en-US" sz="1300" dirty="0">
                <a:solidFill>
                  <a:schemeClr val="tx1"/>
                </a:solidFill>
              </a:rPr>
              <a:t>DOI (exact / partial)</a:t>
            </a:r>
            <a:endParaRPr lang="en-US" sz="1300" dirty="0"/>
          </a:p>
        </p:txBody>
      </p:sp>
      <p:sp>
        <p:nvSpPr>
          <p:cNvPr id="10" name="arrow 0"/>
          <p:cNvSpPr/>
          <p:nvPr/>
        </p:nvSpPr>
        <p:spPr>
          <a:xfrm>
            <a:off x="3040380" y="2743200"/>
            <a:ext cx="365760" cy="365760"/>
          </a:xfrm>
          <a:prstGeom prst="ellipse">
            <a:avLst/>
          </a:prstGeom>
          <a:solidFill>
            <a:schemeClr val="tx2"/>
          </a:solidFill>
          <a:ln w="12700">
            <a:solidFill>
              <a:schemeClr val="tx2"/>
            </a:solidFill>
            <a:prstDash val="solid"/>
          </a:ln>
        </p:spPr>
      </p:sp>
      <p:pic>
        <p:nvPicPr>
          <p:cNvPr id="11" name="Image 1" descr="icon">    </p:cNvPr>
          <p:cNvPicPr>
            <a:picLocks noChangeAspect="1"/>
          </p:cNvPicPr>
          <p:nvPr/>
        </p:nvPicPr>
        <p:blipFill>
          <a:blip r:embed="rId2"/>
          <a:stretch>
            <a:fillRect/>
          </a:stretch>
        </p:blipFill>
        <p:spPr>
          <a:xfrm>
            <a:off x="3131820" y="2834640"/>
            <a:ext cx="182880" cy="182880"/>
          </a:xfrm>
          <a:prstGeom prst="rect">
            <a:avLst/>
          </a:prstGeom>
        </p:spPr>
      </p:pic>
      <p:sp>
        <p:nvSpPr>
          <p:cNvPr id="12" name="card 2. Hybrid Search"/>
          <p:cNvSpPr/>
          <p:nvPr/>
        </p:nvSpPr>
        <p:spPr>
          <a:xfrm>
            <a:off x="3424428" y="1463040"/>
            <a:ext cx="2464308" cy="2926080"/>
          </a:xfrm>
          <a:prstGeom prst="roundRect">
            <a:avLst>
              <a:gd name="adj" fmla="val 37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icon 2. Hybrid Search"/>
          <p:cNvSpPr/>
          <p:nvPr/>
        </p:nvSpPr>
        <p:spPr>
          <a:xfrm>
            <a:off x="3607308" y="1645920"/>
            <a:ext cx="475488" cy="475488"/>
          </a:xfrm>
          <a:prstGeom prst="ellipse">
            <a:avLst/>
          </a:prstGeom>
          <a:solidFill>
            <a:schemeClr val="accent3"/>
          </a:solidFill>
          <a:ln w="12700">
            <a:solidFill>
              <a:schemeClr val="accent3"/>
            </a:solidFill>
            <a:prstDash val="solid"/>
          </a:ln>
        </p:spPr>
      </p:sp>
      <p:pic>
        <p:nvPicPr>
          <p:cNvPr id="14" name="Image 2" descr="icon">    </p:cNvPr>
          <p:cNvPicPr>
            <a:picLocks noChangeAspect="1"/>
          </p:cNvPicPr>
          <p:nvPr/>
        </p:nvPicPr>
        <p:blipFill>
          <a:blip r:embed="rId3"/>
          <a:stretch>
            <a:fillRect/>
          </a:stretch>
        </p:blipFill>
        <p:spPr>
          <a:xfrm>
            <a:off x="3726180" y="1764792"/>
            <a:ext cx="237744" cy="237744"/>
          </a:xfrm>
          <a:prstGeom prst="rect">
            <a:avLst/>
          </a:prstGeom>
        </p:spPr>
      </p:pic>
      <p:sp>
        <p:nvSpPr>
          <p:cNvPr id="15" name="Text 9"/>
          <p:cNvSpPr txBox="1"/>
          <p:nvPr/>
        </p:nvSpPr>
        <p:spPr>
          <a:xfrm>
            <a:off x="4229100" y="1618488"/>
            <a:ext cx="1504188" cy="530352"/>
          </a:xfrm>
          <a:prstGeom prst="rect">
            <a:avLst/>
          </a:prstGeom>
          <a:noFill/>
          <a:ln/>
        </p:spPr>
        <p:txBody>
          <a:bodyPr wrap="square" lIns="0" tIns="0" rIns="0" bIns="0" rtlCol="0" anchor="ctr"/>
          <a:lstStyle/>
          <a:p>
            <a:pPr indent="0" marL="0">
              <a:buNone/>
            </a:pPr>
            <a:r>
              <a:rPr lang="en-US" sz="1500" b="1" dirty="0">
                <a:solidFill>
                  <a:schemeClr val="tx1"/>
                </a:solidFill>
              </a:rPr>
              <a:t>2. Hybrid Search</a:t>
            </a:r>
            <a:endParaRPr lang="en-US" sz="1500" dirty="0"/>
          </a:p>
        </p:txBody>
      </p:sp>
      <p:sp>
        <p:nvSpPr>
          <p:cNvPr id="16" name="Text 10"/>
          <p:cNvSpPr txBox="1"/>
          <p:nvPr/>
        </p:nvSpPr>
        <p:spPr>
          <a:xfrm>
            <a:off x="3653028" y="2286000"/>
            <a:ext cx="2052828" cy="2011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Vector similarity</a:t>
            </a:r>
            <a:endParaRPr lang="en-US" sz="1300" dirty="0"/>
          </a:p>
          <a:p>
            <a:pPr marL="177800" indent="-177800">
              <a:spcAft>
                <a:spcPts val="400"/>
              </a:spcAft>
              <a:buSzPct val="100000"/>
              <a:buChar char="•"/>
            </a:pPr>
            <a:r>
              <a:rPr lang="en-US" sz="1300" dirty="0">
                <a:solidFill>
                  <a:schemeClr val="tx1"/>
                </a:solidFill>
              </a:rPr>
              <a:t>Keyword (FTS)</a:t>
            </a:r>
            <a:endParaRPr lang="en-US" sz="1300" dirty="0"/>
          </a:p>
          <a:p>
            <a:pPr marL="177800" indent="-177800">
              <a:spcAft>
                <a:spcPts val="400"/>
              </a:spcAft>
              <a:buSzPct val="100000"/>
              <a:buChar char="•"/>
            </a:pPr>
            <a:r>
              <a:rPr lang="en-US" sz="1300" dirty="0">
                <a:solidFill>
                  <a:schemeClr val="tx1"/>
                </a:solidFill>
              </a:rPr>
              <a:t>RRF fusion</a:t>
            </a:r>
            <a:endParaRPr lang="en-US" sz="1300" dirty="0"/>
          </a:p>
        </p:txBody>
      </p:sp>
      <p:sp>
        <p:nvSpPr>
          <p:cNvPr id="17" name="arrow 1"/>
          <p:cNvSpPr/>
          <p:nvPr/>
        </p:nvSpPr>
        <p:spPr>
          <a:xfrm>
            <a:off x="5916168" y="2743200"/>
            <a:ext cx="365760" cy="365760"/>
          </a:xfrm>
          <a:prstGeom prst="ellipse">
            <a:avLst/>
          </a:prstGeom>
          <a:solidFill>
            <a:schemeClr val="tx2"/>
          </a:solidFill>
          <a:ln w="12700">
            <a:solidFill>
              <a:schemeClr val="tx2"/>
            </a:solidFill>
            <a:prstDash val="solid"/>
          </a:ln>
        </p:spPr>
      </p:sp>
      <p:pic>
        <p:nvPicPr>
          <p:cNvPr id="18" name="Image 3" descr="icon">    </p:cNvPr>
          <p:cNvPicPr>
            <a:picLocks noChangeAspect="1"/>
          </p:cNvPicPr>
          <p:nvPr/>
        </p:nvPicPr>
        <p:blipFill>
          <a:blip r:embed="rId4"/>
          <a:stretch>
            <a:fillRect/>
          </a:stretch>
        </p:blipFill>
        <p:spPr>
          <a:xfrm>
            <a:off x="6007608" y="2834640"/>
            <a:ext cx="182880" cy="182880"/>
          </a:xfrm>
          <a:prstGeom prst="rect">
            <a:avLst/>
          </a:prstGeom>
        </p:spPr>
      </p:pic>
      <p:sp>
        <p:nvSpPr>
          <p:cNvPr id="19" name="card 3. Reranking"/>
          <p:cNvSpPr/>
          <p:nvPr/>
        </p:nvSpPr>
        <p:spPr>
          <a:xfrm>
            <a:off x="6300216" y="1463040"/>
            <a:ext cx="2464308" cy="2926080"/>
          </a:xfrm>
          <a:prstGeom prst="roundRect">
            <a:avLst>
              <a:gd name="adj" fmla="val 37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icon 3. Reranking"/>
          <p:cNvSpPr/>
          <p:nvPr/>
        </p:nvSpPr>
        <p:spPr>
          <a:xfrm>
            <a:off x="6483096" y="1645920"/>
            <a:ext cx="475488" cy="475488"/>
          </a:xfrm>
          <a:prstGeom prst="ellipse">
            <a:avLst/>
          </a:prstGeom>
          <a:solidFill>
            <a:schemeClr val="accent2"/>
          </a:solidFill>
          <a:ln w="12700">
            <a:solidFill>
              <a:schemeClr val="accent2"/>
            </a:solidFill>
            <a:prstDash val="solid"/>
          </a:ln>
        </p:spPr>
      </p:sp>
      <p:pic>
        <p:nvPicPr>
          <p:cNvPr id="21" name="Image 4" descr="icon">    </p:cNvPr>
          <p:cNvPicPr>
            <a:picLocks noChangeAspect="1"/>
          </p:cNvPicPr>
          <p:nvPr/>
        </p:nvPicPr>
        <p:blipFill>
          <a:blip r:embed="rId5"/>
          <a:stretch>
            <a:fillRect/>
          </a:stretch>
        </p:blipFill>
        <p:spPr>
          <a:xfrm>
            <a:off x="6601968" y="1764792"/>
            <a:ext cx="237744" cy="237744"/>
          </a:xfrm>
          <a:prstGeom prst="rect">
            <a:avLst/>
          </a:prstGeom>
        </p:spPr>
      </p:pic>
      <p:sp>
        <p:nvSpPr>
          <p:cNvPr id="22" name="Text 14"/>
          <p:cNvSpPr txBox="1"/>
          <p:nvPr/>
        </p:nvSpPr>
        <p:spPr>
          <a:xfrm>
            <a:off x="7104888" y="1618488"/>
            <a:ext cx="1504188" cy="530352"/>
          </a:xfrm>
          <a:prstGeom prst="rect">
            <a:avLst/>
          </a:prstGeom>
          <a:noFill/>
          <a:ln/>
        </p:spPr>
        <p:txBody>
          <a:bodyPr wrap="square" lIns="0" tIns="0" rIns="0" bIns="0" rtlCol="0" anchor="ctr"/>
          <a:lstStyle/>
          <a:p>
            <a:pPr indent="0" marL="0">
              <a:buNone/>
            </a:pPr>
            <a:r>
              <a:rPr lang="en-US" sz="1500" b="1" dirty="0">
                <a:solidFill>
                  <a:schemeClr val="tx1"/>
                </a:solidFill>
              </a:rPr>
              <a:t>3. Reranking</a:t>
            </a:r>
            <a:endParaRPr lang="en-US" sz="1500" dirty="0"/>
          </a:p>
        </p:txBody>
      </p:sp>
      <p:sp>
        <p:nvSpPr>
          <p:cNvPr id="23" name="Text 15"/>
          <p:cNvSpPr txBox="1"/>
          <p:nvPr/>
        </p:nvSpPr>
        <p:spPr>
          <a:xfrm>
            <a:off x="6528816" y="2286000"/>
            <a:ext cx="2052828" cy="2011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Qwen3-Reranker-0.6B</a:t>
            </a:r>
            <a:endParaRPr lang="en-US" sz="1300" dirty="0"/>
          </a:p>
          <a:p>
            <a:pPr marL="177800" indent="-177800">
              <a:spcAft>
                <a:spcPts val="400"/>
              </a:spcAft>
              <a:buSzPct val="100000"/>
              <a:buChar char="•"/>
            </a:pPr>
            <a:r>
              <a:rPr lang="en-US" sz="1300" dirty="0">
                <a:solidFill>
                  <a:schemeClr val="tx1"/>
                </a:solidFill>
              </a:rPr>
              <a:t>Cross-encoder</a:t>
            </a:r>
            <a:endParaRPr lang="en-US" sz="1300" dirty="0"/>
          </a:p>
          <a:p>
            <a:pPr marL="177800" indent="-177800">
              <a:spcAft>
                <a:spcPts val="400"/>
              </a:spcAft>
              <a:buSzPct val="100000"/>
              <a:buChar char="•"/>
            </a:pPr>
            <a:r>
              <a:rPr lang="en-US" sz="1300" dirty="0">
                <a:solidFill>
                  <a:schemeClr val="tx1"/>
                </a:solidFill>
              </a:rPr>
              <a:t>Diversity boost</a:t>
            </a:r>
            <a:endParaRPr lang="en-US" sz="1300" dirty="0"/>
          </a:p>
        </p:txBody>
      </p:sp>
      <p:sp>
        <p:nvSpPr>
          <p:cNvPr id="24" name="arrow 2"/>
          <p:cNvSpPr/>
          <p:nvPr/>
        </p:nvSpPr>
        <p:spPr>
          <a:xfrm>
            <a:off x="8791956" y="2743200"/>
            <a:ext cx="365760" cy="365760"/>
          </a:xfrm>
          <a:prstGeom prst="ellipse">
            <a:avLst/>
          </a:prstGeom>
          <a:solidFill>
            <a:schemeClr val="tx2"/>
          </a:solidFill>
          <a:ln w="12700">
            <a:solidFill>
              <a:schemeClr val="tx2"/>
            </a:solidFill>
            <a:prstDash val="solid"/>
          </a:ln>
        </p:spPr>
      </p:sp>
      <p:pic>
        <p:nvPicPr>
          <p:cNvPr id="25" name="Image 5" descr="icon">    </p:cNvPr>
          <p:cNvPicPr>
            <a:picLocks noChangeAspect="1"/>
          </p:cNvPicPr>
          <p:nvPr/>
        </p:nvPicPr>
        <p:blipFill>
          <a:blip r:embed="rId6"/>
          <a:stretch>
            <a:fillRect/>
          </a:stretch>
        </p:blipFill>
        <p:spPr>
          <a:xfrm>
            <a:off x="8883396" y="2834640"/>
            <a:ext cx="182880" cy="182880"/>
          </a:xfrm>
          <a:prstGeom prst="rect">
            <a:avLst/>
          </a:prstGeom>
        </p:spPr>
      </p:pic>
      <p:sp>
        <p:nvSpPr>
          <p:cNvPr id="26" name="card 4. Top-K Evidence"/>
          <p:cNvSpPr/>
          <p:nvPr/>
        </p:nvSpPr>
        <p:spPr>
          <a:xfrm>
            <a:off x="9176004" y="1463040"/>
            <a:ext cx="2464308" cy="2926080"/>
          </a:xfrm>
          <a:prstGeom prst="roundRect">
            <a:avLst>
              <a:gd name="adj" fmla="val 37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icon 4. Top-K Evidence"/>
          <p:cNvSpPr/>
          <p:nvPr/>
        </p:nvSpPr>
        <p:spPr>
          <a:xfrm>
            <a:off x="9358884" y="1645920"/>
            <a:ext cx="475488" cy="475488"/>
          </a:xfrm>
          <a:prstGeom prst="ellipse">
            <a:avLst/>
          </a:prstGeom>
          <a:solidFill>
            <a:schemeClr val="accent5"/>
          </a:solidFill>
          <a:ln w="12700">
            <a:solidFill>
              <a:schemeClr val="accent5"/>
            </a:solidFill>
            <a:prstDash val="solid"/>
          </a:ln>
        </p:spPr>
      </p:sp>
      <p:pic>
        <p:nvPicPr>
          <p:cNvPr id="28" name="Image 6" descr="icon">    </p:cNvPr>
          <p:cNvPicPr>
            <a:picLocks noChangeAspect="1"/>
          </p:cNvPicPr>
          <p:nvPr/>
        </p:nvPicPr>
        <p:blipFill>
          <a:blip r:embed="rId7"/>
          <a:stretch>
            <a:fillRect/>
          </a:stretch>
        </p:blipFill>
        <p:spPr>
          <a:xfrm>
            <a:off x="9477756" y="1764792"/>
            <a:ext cx="237744" cy="237744"/>
          </a:xfrm>
          <a:prstGeom prst="rect">
            <a:avLst/>
          </a:prstGeom>
        </p:spPr>
      </p:pic>
      <p:sp>
        <p:nvSpPr>
          <p:cNvPr id="29" name="Text 19"/>
          <p:cNvSpPr txBox="1"/>
          <p:nvPr/>
        </p:nvSpPr>
        <p:spPr>
          <a:xfrm>
            <a:off x="9980676" y="1618488"/>
            <a:ext cx="1504188" cy="530352"/>
          </a:xfrm>
          <a:prstGeom prst="rect">
            <a:avLst/>
          </a:prstGeom>
          <a:noFill/>
          <a:ln/>
        </p:spPr>
        <p:txBody>
          <a:bodyPr wrap="square" lIns="0" tIns="0" rIns="0" bIns="0" rtlCol="0" anchor="ctr"/>
          <a:lstStyle/>
          <a:p>
            <a:pPr indent="0" marL="0">
              <a:buNone/>
            </a:pPr>
            <a:r>
              <a:rPr lang="en-US" sz="1500" b="1" dirty="0">
                <a:solidFill>
                  <a:schemeClr val="tx1"/>
                </a:solidFill>
              </a:rPr>
              <a:t>4. Top-K Evidence</a:t>
            </a:r>
            <a:endParaRPr lang="en-US" sz="1500" dirty="0"/>
          </a:p>
        </p:txBody>
      </p:sp>
      <p:sp>
        <p:nvSpPr>
          <p:cNvPr id="30" name="Text 20"/>
          <p:cNvSpPr txBox="1"/>
          <p:nvPr/>
        </p:nvSpPr>
        <p:spPr>
          <a:xfrm>
            <a:off x="9404604" y="2286000"/>
            <a:ext cx="2052828" cy="2011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Relevance, source quality</a:t>
            </a:r>
            <a:endParaRPr lang="en-US" sz="1300" dirty="0"/>
          </a:p>
          <a:p>
            <a:pPr marL="177800" indent="-177800">
              <a:spcAft>
                <a:spcPts val="400"/>
              </a:spcAft>
              <a:buSzPct val="100000"/>
              <a:buChar char="•"/>
            </a:pPr>
            <a:r>
              <a:rPr lang="en-US" sz="1300" dirty="0">
                <a:solidFill>
                  <a:schemeClr val="tx1"/>
                </a:solidFill>
              </a:rPr>
              <a:t>Citation coverage</a:t>
            </a:r>
            <a:endParaRPr lang="en-US" sz="1300" dirty="0"/>
          </a:p>
          <a:p>
            <a:pPr marL="177800" indent="-177800">
              <a:spcAft>
                <a:spcPts val="400"/>
              </a:spcAft>
              <a:buSzPct val="100000"/>
              <a:buChar char="•"/>
            </a:pPr>
            <a:r>
              <a:rPr lang="en-US" sz="1300" dirty="0">
                <a:solidFill>
                  <a:schemeClr val="tx1"/>
                </a:solidFill>
              </a:rPr>
              <a:t>Deduplication</a:t>
            </a:r>
            <a:endParaRPr lang="en-US" sz="1300" dirty="0"/>
          </a:p>
        </p:txBody>
      </p:sp>
      <p:sp>
        <p:nvSpPr>
          <p:cNvPr id="31" name="Shape 21"/>
          <p:cNvSpPr/>
          <p:nvPr/>
        </p:nvSpPr>
        <p:spPr>
          <a:xfrm>
            <a:off x="548640" y="4709160"/>
            <a:ext cx="11091672" cy="1325880"/>
          </a:xfrm>
          <a:prstGeom prst="roundRect">
            <a:avLst>
              <a:gd name="adj" fmla="val 6897"/>
            </a:avLst>
          </a:prstGeom>
          <a:solidFill>
            <a:schemeClr val="tx1"/>
          </a:solidFill>
          <a:ln w="12700">
            <a:solidFill>
              <a:schemeClr val="tx1"/>
            </a:solidFill>
            <a:prstDash val="solid"/>
          </a:ln>
        </p:spPr>
      </p:sp>
      <p:sp>
        <p:nvSpPr>
          <p:cNvPr id="32" name="Text 22"/>
          <p:cNvSpPr txBox="1"/>
          <p:nvPr/>
        </p:nvSpPr>
        <p:spPr>
          <a:xfrm>
            <a:off x="822960" y="4846320"/>
            <a:ext cx="3657600" cy="365760"/>
          </a:xfrm>
          <a:prstGeom prst="rect">
            <a:avLst/>
          </a:prstGeom>
          <a:noFill/>
          <a:ln/>
        </p:spPr>
        <p:txBody>
          <a:bodyPr wrap="square" lIns="0" tIns="0" rIns="0" bIns="0" rtlCol="0" anchor="t"/>
          <a:lstStyle/>
          <a:p>
            <a:pPr indent="0" marL="0">
              <a:buNone/>
            </a:pPr>
            <a:r>
              <a:rPr lang="en-US" sz="1600" b="1" dirty="0">
                <a:solidFill>
                  <a:schemeClr val="accent2"/>
                </a:solidFill>
              </a:rPr>
              <a:t>Context assembly</a:t>
            </a:r>
            <a:endParaRPr lang="en-US" sz="1600" dirty="0"/>
          </a:p>
        </p:txBody>
      </p:sp>
      <p:sp>
        <p:nvSpPr>
          <p:cNvPr id="33" name="Text 23"/>
          <p:cNvSpPr txBox="1"/>
          <p:nvPr/>
        </p:nvSpPr>
        <p:spPr>
          <a:xfrm>
            <a:off x="822960" y="5257800"/>
            <a:ext cx="10543032" cy="685800"/>
          </a:xfrm>
          <a:prstGeom prst="rect">
            <a:avLst/>
          </a:prstGeom>
          <a:noFill/>
          <a:ln/>
        </p:spPr>
        <p:txBody>
          <a:bodyPr wrap="square" lIns="0" tIns="0" rIns="0" bIns="0" rtlCol="0" anchor="t"/>
          <a:lstStyle/>
          <a:p>
            <a:pPr indent="0" marL="0">
              <a:buNone/>
            </a:pPr>
            <a:r>
              <a:rPr lang="en-US" sz="1500" dirty="0">
                <a:solidFill>
                  <a:schemeClr val="bg1"/>
                </a:solidFill>
              </a:rPr>
              <a:t>Structured context with citations + references, token-optimized, ranked chunks carrying metadata and provenance into generation.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Typed Evidence Contract</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Shape 2"/>
          <p:cNvSpPr/>
          <p:nvPr/>
        </p:nvSpPr>
        <p:spPr>
          <a:xfrm>
            <a:off x="548640" y="1463040"/>
            <a:ext cx="7498080" cy="4572000"/>
          </a:xfrm>
          <a:prstGeom prst="roundRect">
            <a:avLst>
              <a:gd name="adj" fmla="val 2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22960" y="164592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Evidence (retrieved)</a:t>
            </a:r>
            <a:endParaRPr lang="en-US" sz="1800" dirty="0"/>
          </a:p>
        </p:txBody>
      </p:sp>
      <p:sp>
        <p:nvSpPr>
          <p:cNvPr id="7" name="Shape 4"/>
          <p:cNvSpPr/>
          <p:nvPr/>
        </p:nvSpPr>
        <p:spPr>
          <a:xfrm>
            <a:off x="822960" y="2331720"/>
            <a:ext cx="1371600" cy="384048"/>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822960" y="2331720"/>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Identity</a:t>
            </a:r>
            <a:endParaRPr lang="en-US" sz="1300" dirty="0"/>
          </a:p>
        </p:txBody>
      </p:sp>
      <p:sp>
        <p:nvSpPr>
          <p:cNvPr id="9" name="Text 6"/>
          <p:cNvSpPr txBox="1"/>
          <p:nvPr/>
        </p:nvSpPr>
        <p:spPr>
          <a:xfrm>
            <a:off x="2377440" y="2194560"/>
            <a:ext cx="5486400" cy="6858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evidence_id, source_id, project_id, document_id</a:t>
            </a:r>
            <a:endParaRPr lang="en-US" sz="1400" dirty="0"/>
          </a:p>
        </p:txBody>
      </p:sp>
      <p:sp>
        <p:nvSpPr>
          <p:cNvPr id="10" name="Shape 7"/>
          <p:cNvSpPr/>
          <p:nvPr/>
        </p:nvSpPr>
        <p:spPr>
          <a:xfrm>
            <a:off x="822960" y="3273552"/>
            <a:ext cx="1371600" cy="384048"/>
          </a:xfrm>
          <a:prstGeom prst="roundRect">
            <a:avLst>
              <a:gd name="adj" fmla="val 50000"/>
            </a:avLst>
          </a:prstGeom>
          <a:solidFill>
            <a:schemeClr val="accent3"/>
          </a:solidFill>
          <a:ln w="12700">
            <a:solidFill>
              <a:schemeClr val="accent3"/>
            </a:solidFill>
            <a:prstDash val="solid"/>
          </a:ln>
        </p:spPr>
      </p:sp>
      <p:sp>
        <p:nvSpPr>
          <p:cNvPr id="11" name="Text 8"/>
          <p:cNvSpPr txBox="1"/>
          <p:nvPr/>
        </p:nvSpPr>
        <p:spPr>
          <a:xfrm>
            <a:off x="822960" y="3273552"/>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Content</a:t>
            </a:r>
            <a:endParaRPr lang="en-US" sz="1300" dirty="0"/>
          </a:p>
        </p:txBody>
      </p:sp>
      <p:sp>
        <p:nvSpPr>
          <p:cNvPr id="12" name="Text 9"/>
          <p:cNvSpPr txBox="1"/>
          <p:nvPr/>
        </p:nvSpPr>
        <p:spPr>
          <a:xfrm>
            <a:off x="2377440" y="3136392"/>
            <a:ext cx="5486400" cy="6858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text, source_type, content_level</a:t>
            </a:r>
            <a:endParaRPr lang="en-US" sz="1400" dirty="0"/>
          </a:p>
        </p:txBody>
      </p:sp>
      <p:sp>
        <p:nvSpPr>
          <p:cNvPr id="13" name="Shape 10"/>
          <p:cNvSpPr/>
          <p:nvPr/>
        </p:nvSpPr>
        <p:spPr>
          <a:xfrm>
            <a:off x="822960" y="4215384"/>
            <a:ext cx="1371600" cy="384048"/>
          </a:xfrm>
          <a:prstGeom prst="roundRect">
            <a:avLst>
              <a:gd name="adj" fmla="val 50000"/>
            </a:avLst>
          </a:prstGeom>
          <a:solidFill>
            <a:schemeClr val="accent2"/>
          </a:solidFill>
          <a:ln w="12700">
            <a:solidFill>
              <a:schemeClr val="accent2"/>
            </a:solidFill>
            <a:prstDash val="solid"/>
          </a:ln>
        </p:spPr>
      </p:sp>
      <p:sp>
        <p:nvSpPr>
          <p:cNvPr id="14" name="Text 11"/>
          <p:cNvSpPr txBox="1"/>
          <p:nvPr/>
        </p:nvSpPr>
        <p:spPr>
          <a:xfrm>
            <a:off x="822960" y="4215384"/>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Provenance</a:t>
            </a:r>
            <a:endParaRPr lang="en-US" sz="1300" dirty="0"/>
          </a:p>
        </p:txBody>
      </p:sp>
      <p:sp>
        <p:nvSpPr>
          <p:cNvPr id="15" name="Text 12"/>
          <p:cNvSpPr txBox="1"/>
          <p:nvPr/>
        </p:nvSpPr>
        <p:spPr>
          <a:xfrm>
            <a:off x="2377440" y="4078224"/>
            <a:ext cx="5486400" cy="6858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authors, doi, url, page, section, section_path</a:t>
            </a:r>
            <a:endParaRPr lang="en-US" sz="1400" dirty="0"/>
          </a:p>
        </p:txBody>
      </p:sp>
      <p:sp>
        <p:nvSpPr>
          <p:cNvPr id="16" name="Shape 13"/>
          <p:cNvSpPr/>
          <p:nvPr/>
        </p:nvSpPr>
        <p:spPr>
          <a:xfrm>
            <a:off x="822960" y="5157216"/>
            <a:ext cx="1371600" cy="384048"/>
          </a:xfrm>
          <a:prstGeom prst="roundRect">
            <a:avLst>
              <a:gd name="adj" fmla="val 50000"/>
            </a:avLst>
          </a:prstGeom>
          <a:solidFill>
            <a:schemeClr val="accent5"/>
          </a:solidFill>
          <a:ln w="12700">
            <a:solidFill>
              <a:schemeClr val="accent5"/>
            </a:solidFill>
            <a:prstDash val="solid"/>
          </a:ln>
        </p:spPr>
      </p:sp>
      <p:sp>
        <p:nvSpPr>
          <p:cNvPr id="17" name="Text 14"/>
          <p:cNvSpPr txBox="1"/>
          <p:nvPr/>
        </p:nvSpPr>
        <p:spPr>
          <a:xfrm>
            <a:off x="822960" y="5157216"/>
            <a:ext cx="1371600" cy="384048"/>
          </a:xfrm>
          <a:prstGeom prst="rect">
            <a:avLst/>
          </a:prstGeom>
          <a:noFill/>
          <a:ln/>
        </p:spPr>
        <p:txBody>
          <a:bodyPr wrap="square" lIns="0" tIns="0" rIns="0" bIns="0" rtlCol="0" anchor="ctr"/>
          <a:lstStyle/>
          <a:p>
            <a:pPr algn="ctr" indent="0" marL="0">
              <a:buNone/>
            </a:pPr>
            <a:r>
              <a:rPr lang="en-US" sz="1300" b="1" dirty="0">
                <a:solidFill>
                  <a:schemeClr val="bg1"/>
                </a:solidFill>
              </a:rPr>
              <a:t>Scores</a:t>
            </a:r>
            <a:endParaRPr lang="en-US" sz="1300" dirty="0"/>
          </a:p>
        </p:txBody>
      </p:sp>
      <p:sp>
        <p:nvSpPr>
          <p:cNvPr id="18" name="Text 15"/>
          <p:cNvSpPr txBox="1"/>
          <p:nvPr/>
        </p:nvSpPr>
        <p:spPr>
          <a:xfrm>
            <a:off x="2377440" y="5020056"/>
            <a:ext cx="5486400" cy="6858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semantic_score, keyword_score, fusion_score, reranker_score</a:t>
            </a:r>
            <a:endParaRPr lang="en-US" sz="1400" dirty="0"/>
          </a:p>
        </p:txBody>
      </p:sp>
      <p:sp>
        <p:nvSpPr>
          <p:cNvPr id="19" name="Shape 16"/>
          <p:cNvSpPr/>
          <p:nvPr/>
        </p:nvSpPr>
        <p:spPr>
          <a:xfrm>
            <a:off x="8321040" y="1463040"/>
            <a:ext cx="3319272" cy="4572000"/>
          </a:xfrm>
          <a:prstGeom prst="roundRect">
            <a:avLst>
              <a:gd name="adj" fmla="val 2755"/>
            </a:avLst>
          </a:prstGeom>
          <a:solidFill>
            <a:schemeClr val="tx1"/>
          </a:solidFill>
          <a:ln w="12700">
            <a:solidFill>
              <a:schemeClr val="tx1"/>
            </a:solidFill>
            <a:prstDash val="solid"/>
          </a:ln>
        </p:spPr>
      </p:sp>
      <p:sp>
        <p:nvSpPr>
          <p:cNvPr id="20" name="Text 17"/>
          <p:cNvSpPr txBox="1"/>
          <p:nvPr/>
        </p:nvSpPr>
        <p:spPr>
          <a:xfrm>
            <a:off x="8595360" y="1645920"/>
            <a:ext cx="2834640" cy="365760"/>
          </a:xfrm>
          <a:prstGeom prst="rect">
            <a:avLst/>
          </a:prstGeom>
          <a:noFill/>
          <a:ln/>
        </p:spPr>
        <p:txBody>
          <a:bodyPr wrap="square" lIns="0" tIns="0" rIns="0" bIns="0" rtlCol="0" anchor="t"/>
          <a:lstStyle/>
          <a:p>
            <a:pPr indent="0" marL="0">
              <a:buNone/>
            </a:pPr>
            <a:r>
              <a:rPr lang="en-US" sz="1800" b="1" dirty="0">
                <a:solidFill>
                  <a:schemeClr val="accent2"/>
                </a:solidFill>
              </a:rPr>
              <a:t>Answer (generated)</a:t>
            </a:r>
            <a:endParaRPr lang="en-US" sz="1800" dirty="0"/>
          </a:p>
        </p:txBody>
      </p:sp>
      <p:sp>
        <p:nvSpPr>
          <p:cNvPr id="21" name="Text 18"/>
          <p:cNvSpPr txBox="1"/>
          <p:nvPr/>
        </p:nvSpPr>
        <p:spPr>
          <a:xfrm>
            <a:off x="8595360" y="2286000"/>
            <a:ext cx="2834640" cy="274320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bg1"/>
                </a:solidFill>
                <a:latin typeface="Courier New" pitchFamily="34" charset="0"/>
                <a:ea typeface="Courier New" pitchFamily="34" charset="-122"/>
                <a:cs typeface="Courier New" pitchFamily="34" charset="-120"/>
              </a:rPr>
              <a:t>answer, summary</a:t>
            </a:r>
            <a:endParaRPr lang="en-US" sz="1500" dirty="0"/>
          </a:p>
          <a:p>
            <a:pPr marL="177800" indent="-177800">
              <a:spcAft>
                <a:spcPts val="400"/>
              </a:spcAft>
              <a:buSzPct val="100000"/>
              <a:buChar char="•"/>
            </a:pPr>
            <a:r>
              <a:rPr lang="en-US" sz="1500" dirty="0">
                <a:solidFill>
                  <a:schemeClr val="bg1"/>
                </a:solidFill>
                <a:latin typeface="Courier New" pitchFamily="34" charset="0"/>
                <a:ea typeface="Courier New" pitchFamily="34" charset="-122"/>
                <a:cs typeface="Courier New" pitchFamily="34" charset="-120"/>
              </a:rPr>
              <a:t>citations → evidence_id</a:t>
            </a:r>
            <a:endParaRPr lang="en-US" sz="1500" dirty="0"/>
          </a:p>
          <a:p>
            <a:pPr marL="177800" indent="-177800">
              <a:spcAft>
                <a:spcPts val="400"/>
              </a:spcAft>
              <a:buSzPct val="100000"/>
              <a:buChar char="•"/>
            </a:pPr>
            <a:r>
              <a:rPr lang="en-US" sz="1500" dirty="0">
                <a:solidFill>
                  <a:schemeClr val="bg1"/>
                </a:solidFill>
                <a:latin typeface="Courier New" pitchFamily="34" charset="0"/>
                <a:ea typeface="Courier New" pitchFamily="34" charset="-122"/>
                <a:cs typeface="Courier New" pitchFamily="34" charset="-120"/>
              </a:rPr>
              <a:t>evidence_status</a:t>
            </a:r>
            <a:endParaRPr lang="en-US" sz="1500" dirty="0"/>
          </a:p>
          <a:p>
            <a:pPr marL="177800" indent="-177800">
              <a:spcAft>
                <a:spcPts val="400"/>
              </a:spcAft>
              <a:buSzPct val="100000"/>
              <a:buChar char="•"/>
            </a:pPr>
            <a:r>
              <a:rPr lang="en-US" sz="1500" dirty="0">
                <a:solidFill>
                  <a:schemeClr val="bg1"/>
                </a:solidFill>
                <a:latin typeface="Courier New" pitchFamily="34" charset="0"/>
                <a:ea typeface="Courier New" pitchFamily="34" charset="-122"/>
                <a:cs typeface="Courier New" pitchFamily="34" charset="-120"/>
              </a:rPr>
              <a:t>limitations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LangGraph Research Workflow</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node Validate Request"/>
          <p:cNvSpPr/>
          <p:nvPr/>
        </p:nvSpPr>
        <p:spPr>
          <a:xfrm>
            <a:off x="548640" y="1463040"/>
            <a:ext cx="1554480" cy="777240"/>
          </a:xfrm>
          <a:prstGeom prst="roundRect">
            <a:avLst>
              <a:gd name="adj" fmla="val 9412"/>
            </a:avLst>
          </a:prstGeom>
          <a:solidFill>
            <a:schemeClr val="accent1"/>
          </a:solidFill>
          <a:ln w="12700">
            <a:solidFill>
              <a:schemeClr val="accent1"/>
            </a:solidFill>
            <a:prstDash val="solid"/>
          </a:ln>
        </p:spPr>
      </p:sp>
      <p:sp>
        <p:nvSpPr>
          <p:cNvPr id="6" name="Text 3"/>
          <p:cNvSpPr txBox="1"/>
          <p:nvPr/>
        </p:nvSpPr>
        <p:spPr>
          <a:xfrm>
            <a:off x="594360" y="1463040"/>
            <a:ext cx="1463040" cy="777240"/>
          </a:xfrm>
          <a:prstGeom prst="rect">
            <a:avLst/>
          </a:prstGeom>
          <a:noFill/>
          <a:ln/>
        </p:spPr>
        <p:txBody>
          <a:bodyPr wrap="square" lIns="0" tIns="0" rIns="0" bIns="0" rtlCol="0" anchor="ctr"/>
          <a:lstStyle/>
          <a:p>
            <a:pPr algn="ctr" indent="0" marL="0">
              <a:buNone/>
            </a:pPr>
            <a:r>
              <a:rPr lang="en-US" sz="1400" b="1" dirty="0">
                <a:solidFill>
                  <a:schemeClr val="bg1"/>
                </a:solidFill>
              </a:rPr>
              <a:t>1. Validate Request</a:t>
            </a:r>
            <a:endParaRPr lang="en-US" sz="1400" dirty="0"/>
          </a:p>
        </p:txBody>
      </p:sp>
      <p:sp>
        <p:nvSpPr>
          <p:cNvPr id="7" name="Shape 4"/>
          <p:cNvSpPr/>
          <p:nvPr/>
        </p:nvSpPr>
        <p:spPr>
          <a:xfrm>
            <a:off x="2130552" y="1851660"/>
            <a:ext cx="298094" cy="0"/>
          </a:xfrm>
          <a:prstGeom prst="line">
            <a:avLst/>
          </a:prstGeom>
          <a:noFill/>
          <a:ln w="25400">
            <a:solidFill>
              <a:schemeClr val="tx2"/>
            </a:solidFill>
            <a:prstDash val="solid"/>
            <a:tailEnd type="triangle"/>
          </a:ln>
        </p:spPr>
      </p:sp>
      <p:sp>
        <p:nvSpPr>
          <p:cNvPr id="8" name="node Prepare Query"/>
          <p:cNvSpPr/>
          <p:nvPr/>
        </p:nvSpPr>
        <p:spPr>
          <a:xfrm>
            <a:off x="2456078" y="1463040"/>
            <a:ext cx="1554480" cy="777240"/>
          </a:xfrm>
          <a:prstGeom prst="roundRect">
            <a:avLst>
              <a:gd name="adj" fmla="val 9412"/>
            </a:avLst>
          </a:prstGeom>
          <a:solidFill>
            <a:schemeClr val="accent1"/>
          </a:solidFill>
          <a:ln w="12700">
            <a:solidFill>
              <a:schemeClr val="accent1"/>
            </a:solidFill>
            <a:prstDash val="solid"/>
          </a:ln>
        </p:spPr>
      </p:sp>
      <p:sp>
        <p:nvSpPr>
          <p:cNvPr id="9" name="Text 6"/>
          <p:cNvSpPr txBox="1"/>
          <p:nvPr/>
        </p:nvSpPr>
        <p:spPr>
          <a:xfrm>
            <a:off x="2501798" y="1463040"/>
            <a:ext cx="1463040" cy="777240"/>
          </a:xfrm>
          <a:prstGeom prst="rect">
            <a:avLst/>
          </a:prstGeom>
          <a:noFill/>
          <a:ln/>
        </p:spPr>
        <p:txBody>
          <a:bodyPr wrap="square" lIns="0" tIns="0" rIns="0" bIns="0" rtlCol="0" anchor="ctr"/>
          <a:lstStyle/>
          <a:p>
            <a:pPr algn="ctr" indent="0" marL="0">
              <a:buNone/>
            </a:pPr>
            <a:r>
              <a:rPr lang="en-US" sz="1400" b="1" dirty="0">
                <a:solidFill>
                  <a:schemeClr val="bg1"/>
                </a:solidFill>
              </a:rPr>
              <a:t>2. Prepare Query</a:t>
            </a:r>
            <a:endParaRPr lang="en-US" sz="1400" dirty="0"/>
          </a:p>
        </p:txBody>
      </p:sp>
      <p:sp>
        <p:nvSpPr>
          <p:cNvPr id="10" name="Shape 7"/>
          <p:cNvSpPr/>
          <p:nvPr/>
        </p:nvSpPr>
        <p:spPr>
          <a:xfrm>
            <a:off x="4037990" y="1851660"/>
            <a:ext cx="298094" cy="0"/>
          </a:xfrm>
          <a:prstGeom prst="line">
            <a:avLst/>
          </a:prstGeom>
          <a:noFill/>
          <a:ln w="25400">
            <a:solidFill>
              <a:schemeClr val="tx2"/>
            </a:solidFill>
            <a:prstDash val="solid"/>
            <a:tailEnd type="triangle"/>
          </a:ln>
        </p:spPr>
      </p:sp>
      <p:sp>
        <p:nvSpPr>
          <p:cNvPr id="11" name="node Retrieve"/>
          <p:cNvSpPr/>
          <p:nvPr/>
        </p:nvSpPr>
        <p:spPr>
          <a:xfrm>
            <a:off x="4363517" y="1463040"/>
            <a:ext cx="1554480" cy="777240"/>
          </a:xfrm>
          <a:prstGeom prst="roundRect">
            <a:avLst>
              <a:gd name="adj" fmla="val 9412"/>
            </a:avLst>
          </a:prstGeom>
          <a:solidFill>
            <a:schemeClr val="accent1"/>
          </a:solidFill>
          <a:ln w="12700">
            <a:solidFill>
              <a:schemeClr val="accent1"/>
            </a:solidFill>
            <a:prstDash val="solid"/>
          </a:ln>
        </p:spPr>
      </p:sp>
      <p:sp>
        <p:nvSpPr>
          <p:cNvPr id="12" name="Text 9"/>
          <p:cNvSpPr txBox="1"/>
          <p:nvPr/>
        </p:nvSpPr>
        <p:spPr>
          <a:xfrm>
            <a:off x="4409237" y="1463040"/>
            <a:ext cx="1463040" cy="777240"/>
          </a:xfrm>
          <a:prstGeom prst="rect">
            <a:avLst/>
          </a:prstGeom>
          <a:noFill/>
          <a:ln/>
        </p:spPr>
        <p:txBody>
          <a:bodyPr wrap="square" lIns="0" tIns="0" rIns="0" bIns="0" rtlCol="0" anchor="ctr"/>
          <a:lstStyle/>
          <a:p>
            <a:pPr algn="ctr" indent="0" marL="0">
              <a:buNone/>
            </a:pPr>
            <a:r>
              <a:rPr lang="en-US" sz="1400" b="1" dirty="0">
                <a:solidFill>
                  <a:schemeClr val="bg1"/>
                </a:solidFill>
              </a:rPr>
              <a:t>3. Retrieve</a:t>
            </a:r>
            <a:endParaRPr lang="en-US" sz="1400" dirty="0"/>
          </a:p>
        </p:txBody>
      </p:sp>
      <p:sp>
        <p:nvSpPr>
          <p:cNvPr id="13" name="Shape 10"/>
          <p:cNvSpPr/>
          <p:nvPr/>
        </p:nvSpPr>
        <p:spPr>
          <a:xfrm>
            <a:off x="5945429" y="1851660"/>
            <a:ext cx="298094" cy="0"/>
          </a:xfrm>
          <a:prstGeom prst="line">
            <a:avLst/>
          </a:prstGeom>
          <a:noFill/>
          <a:ln w="25400">
            <a:solidFill>
              <a:schemeClr val="tx2"/>
            </a:solidFill>
            <a:prstDash val="solid"/>
            <a:tailEnd type="triangle"/>
          </a:ln>
        </p:spPr>
      </p:sp>
      <p:sp>
        <p:nvSpPr>
          <p:cNvPr id="14" name="node Rerank"/>
          <p:cNvSpPr/>
          <p:nvPr/>
        </p:nvSpPr>
        <p:spPr>
          <a:xfrm>
            <a:off x="6270955" y="1463040"/>
            <a:ext cx="1554480" cy="777240"/>
          </a:xfrm>
          <a:prstGeom prst="roundRect">
            <a:avLst>
              <a:gd name="adj" fmla="val 9412"/>
            </a:avLst>
          </a:prstGeom>
          <a:solidFill>
            <a:schemeClr val="accent1"/>
          </a:solidFill>
          <a:ln w="12700">
            <a:solidFill>
              <a:schemeClr val="accent1"/>
            </a:solidFill>
            <a:prstDash val="solid"/>
          </a:ln>
        </p:spPr>
      </p:sp>
      <p:sp>
        <p:nvSpPr>
          <p:cNvPr id="15" name="Text 12"/>
          <p:cNvSpPr txBox="1"/>
          <p:nvPr/>
        </p:nvSpPr>
        <p:spPr>
          <a:xfrm>
            <a:off x="6316675" y="1463040"/>
            <a:ext cx="1463040" cy="777240"/>
          </a:xfrm>
          <a:prstGeom prst="rect">
            <a:avLst/>
          </a:prstGeom>
          <a:noFill/>
          <a:ln/>
        </p:spPr>
        <p:txBody>
          <a:bodyPr wrap="square" lIns="0" tIns="0" rIns="0" bIns="0" rtlCol="0" anchor="ctr"/>
          <a:lstStyle/>
          <a:p>
            <a:pPr algn="ctr" indent="0" marL="0">
              <a:buNone/>
            </a:pPr>
            <a:r>
              <a:rPr lang="en-US" sz="1400" b="1" dirty="0">
                <a:solidFill>
                  <a:schemeClr val="bg1"/>
                </a:solidFill>
              </a:rPr>
              <a:t>4. Rerank</a:t>
            </a:r>
            <a:endParaRPr lang="en-US" sz="1400" dirty="0"/>
          </a:p>
        </p:txBody>
      </p:sp>
      <p:sp>
        <p:nvSpPr>
          <p:cNvPr id="16" name="Shape 13"/>
          <p:cNvSpPr/>
          <p:nvPr/>
        </p:nvSpPr>
        <p:spPr>
          <a:xfrm>
            <a:off x="7852867" y="1851660"/>
            <a:ext cx="298094" cy="0"/>
          </a:xfrm>
          <a:prstGeom prst="line">
            <a:avLst/>
          </a:prstGeom>
          <a:noFill/>
          <a:ln w="25400">
            <a:solidFill>
              <a:schemeClr val="tx2"/>
            </a:solidFill>
            <a:prstDash val="solid"/>
            <a:tailEnd type="triangle"/>
          </a:ln>
        </p:spPr>
      </p:sp>
      <p:sp>
        <p:nvSpPr>
          <p:cNvPr id="17" name="node Build Evidence"/>
          <p:cNvSpPr/>
          <p:nvPr/>
        </p:nvSpPr>
        <p:spPr>
          <a:xfrm>
            <a:off x="8178394" y="1463040"/>
            <a:ext cx="1554480" cy="777240"/>
          </a:xfrm>
          <a:prstGeom prst="roundRect">
            <a:avLst>
              <a:gd name="adj" fmla="val 9412"/>
            </a:avLst>
          </a:prstGeom>
          <a:solidFill>
            <a:schemeClr val="accent1"/>
          </a:solidFill>
          <a:ln w="12700">
            <a:solidFill>
              <a:schemeClr val="accent1"/>
            </a:solidFill>
            <a:prstDash val="solid"/>
          </a:ln>
        </p:spPr>
      </p:sp>
      <p:sp>
        <p:nvSpPr>
          <p:cNvPr id="18" name="Text 15"/>
          <p:cNvSpPr txBox="1"/>
          <p:nvPr/>
        </p:nvSpPr>
        <p:spPr>
          <a:xfrm>
            <a:off x="8224114" y="1463040"/>
            <a:ext cx="1463040" cy="777240"/>
          </a:xfrm>
          <a:prstGeom prst="rect">
            <a:avLst/>
          </a:prstGeom>
          <a:noFill/>
          <a:ln/>
        </p:spPr>
        <p:txBody>
          <a:bodyPr wrap="square" lIns="0" tIns="0" rIns="0" bIns="0" rtlCol="0" anchor="ctr"/>
          <a:lstStyle/>
          <a:p>
            <a:pPr algn="ctr" indent="0" marL="0">
              <a:buNone/>
            </a:pPr>
            <a:r>
              <a:rPr lang="en-US" sz="1400" b="1" dirty="0">
                <a:solidFill>
                  <a:schemeClr val="bg1"/>
                </a:solidFill>
              </a:rPr>
              <a:t>5. Build Evidence</a:t>
            </a:r>
            <a:endParaRPr lang="en-US" sz="1400" dirty="0"/>
          </a:p>
        </p:txBody>
      </p:sp>
      <p:sp>
        <p:nvSpPr>
          <p:cNvPr id="19" name="Shape 16"/>
          <p:cNvSpPr/>
          <p:nvPr/>
        </p:nvSpPr>
        <p:spPr>
          <a:xfrm>
            <a:off x="9760306" y="1851660"/>
            <a:ext cx="298094" cy="0"/>
          </a:xfrm>
          <a:prstGeom prst="line">
            <a:avLst/>
          </a:prstGeom>
          <a:noFill/>
          <a:ln w="25400">
            <a:solidFill>
              <a:schemeClr val="tx2"/>
            </a:solidFill>
            <a:prstDash val="solid"/>
            <a:tailEnd type="triangle"/>
          </a:ln>
        </p:spPr>
      </p:sp>
      <p:sp>
        <p:nvSpPr>
          <p:cNvPr id="20" name="node Assess Evidence"/>
          <p:cNvSpPr/>
          <p:nvPr/>
        </p:nvSpPr>
        <p:spPr>
          <a:xfrm>
            <a:off x="10085832" y="1463040"/>
            <a:ext cx="1554480" cy="777240"/>
          </a:xfrm>
          <a:prstGeom prst="roundRect">
            <a:avLst>
              <a:gd name="adj" fmla="val 9412"/>
            </a:avLst>
          </a:prstGeom>
          <a:solidFill>
            <a:schemeClr val="accent1"/>
          </a:solidFill>
          <a:ln w="12700">
            <a:solidFill>
              <a:schemeClr val="accent1"/>
            </a:solidFill>
            <a:prstDash val="solid"/>
          </a:ln>
        </p:spPr>
      </p:sp>
      <p:sp>
        <p:nvSpPr>
          <p:cNvPr id="21" name="Text 18"/>
          <p:cNvSpPr txBox="1"/>
          <p:nvPr/>
        </p:nvSpPr>
        <p:spPr>
          <a:xfrm>
            <a:off x="10131552" y="1463040"/>
            <a:ext cx="1463040" cy="777240"/>
          </a:xfrm>
          <a:prstGeom prst="rect">
            <a:avLst/>
          </a:prstGeom>
          <a:noFill/>
          <a:ln/>
        </p:spPr>
        <p:txBody>
          <a:bodyPr wrap="square" lIns="0" tIns="0" rIns="0" bIns="0" rtlCol="0" anchor="ctr"/>
          <a:lstStyle/>
          <a:p>
            <a:pPr algn="ctr" indent="0" marL="0">
              <a:buNone/>
            </a:pPr>
            <a:r>
              <a:rPr lang="en-US" sz="1400" b="1" dirty="0">
                <a:solidFill>
                  <a:schemeClr val="bg1"/>
                </a:solidFill>
              </a:rPr>
              <a:t>6. Assess Evidence</a:t>
            </a:r>
            <a:endParaRPr lang="en-US" sz="1400" dirty="0"/>
          </a:p>
        </p:txBody>
      </p:sp>
      <p:sp>
        <p:nvSpPr>
          <p:cNvPr id="22" name="Shape 19"/>
          <p:cNvSpPr/>
          <p:nvPr/>
        </p:nvSpPr>
        <p:spPr>
          <a:xfrm>
            <a:off x="10863072" y="2240280"/>
            <a:ext cx="0" cy="411480"/>
          </a:xfrm>
          <a:prstGeom prst="line">
            <a:avLst/>
          </a:prstGeom>
          <a:noFill/>
          <a:ln w="25400">
            <a:solidFill>
              <a:schemeClr val="tx2"/>
            </a:solidFill>
            <a:prstDash val="solid"/>
            <a:tailEnd type="triangle"/>
          </a:ln>
        </p:spPr>
      </p:sp>
      <p:sp>
        <p:nvSpPr>
          <p:cNvPr id="23" name="decision sufficient"/>
          <p:cNvSpPr/>
          <p:nvPr/>
        </p:nvSpPr>
        <p:spPr>
          <a:xfrm>
            <a:off x="10040112" y="2651760"/>
            <a:ext cx="1645920" cy="1097280"/>
          </a:xfrm>
          <a:prstGeom prst="diamond">
            <a:avLst/>
          </a:prstGeom>
          <a:solidFill>
            <a:schemeClr val="accent2"/>
          </a:solidFill>
          <a:ln w="12700">
            <a:solidFill>
              <a:schemeClr val="accent2"/>
            </a:solidFill>
            <a:prstDash val="solid"/>
          </a:ln>
        </p:spPr>
      </p:sp>
      <p:sp>
        <p:nvSpPr>
          <p:cNvPr id="24" name="Text 21"/>
          <p:cNvSpPr txBox="1"/>
          <p:nvPr/>
        </p:nvSpPr>
        <p:spPr>
          <a:xfrm>
            <a:off x="10314432" y="2651760"/>
            <a:ext cx="1097280" cy="1097280"/>
          </a:xfrm>
          <a:prstGeom prst="rect">
            <a:avLst/>
          </a:prstGeom>
          <a:noFill/>
          <a:ln/>
        </p:spPr>
        <p:txBody>
          <a:bodyPr wrap="square" lIns="0" tIns="0" rIns="0" bIns="0" rtlCol="0" anchor="ctr"/>
          <a:lstStyle/>
          <a:p>
            <a:pPr algn="ctr" indent="0" marL="0">
              <a:buNone/>
            </a:pPr>
            <a:r>
              <a:rPr lang="en-US" sz="1300" b="1" dirty="0">
                <a:solidFill>
                  <a:schemeClr val="bg1"/>
                </a:solidFill>
              </a:rPr>
              <a:t>8. Sufficient?</a:t>
            </a:r>
            <a:endParaRPr lang="en-US" sz="1300" dirty="0"/>
          </a:p>
        </p:txBody>
      </p:sp>
      <p:sp>
        <p:nvSpPr>
          <p:cNvPr id="25" name="node generate"/>
          <p:cNvSpPr/>
          <p:nvPr/>
        </p:nvSpPr>
        <p:spPr>
          <a:xfrm>
            <a:off x="7799832" y="2811780"/>
            <a:ext cx="1600200" cy="777240"/>
          </a:xfrm>
          <a:prstGeom prst="roundRect">
            <a:avLst>
              <a:gd name="adj" fmla="val 9412"/>
            </a:avLst>
          </a:prstGeom>
          <a:solidFill>
            <a:schemeClr val="accent3"/>
          </a:solidFill>
          <a:ln w="12700">
            <a:solidFill>
              <a:schemeClr val="accent3"/>
            </a:solidFill>
            <a:prstDash val="solid"/>
          </a:ln>
        </p:spPr>
      </p:sp>
      <p:sp>
        <p:nvSpPr>
          <p:cNvPr id="26" name="Text 23"/>
          <p:cNvSpPr txBox="1"/>
          <p:nvPr/>
        </p:nvSpPr>
        <p:spPr>
          <a:xfrm>
            <a:off x="7845552" y="2811780"/>
            <a:ext cx="1508760" cy="777240"/>
          </a:xfrm>
          <a:prstGeom prst="rect">
            <a:avLst/>
          </a:prstGeom>
          <a:noFill/>
          <a:ln/>
        </p:spPr>
        <p:txBody>
          <a:bodyPr wrap="square" lIns="0" tIns="0" rIns="0" bIns="0" rtlCol="0" anchor="ctr"/>
          <a:lstStyle/>
          <a:p>
            <a:pPr algn="ctr" indent="0" marL="0">
              <a:buNone/>
            </a:pPr>
            <a:r>
              <a:rPr lang="en-US" sz="1400" b="1" dirty="0">
                <a:solidFill>
                  <a:schemeClr val="bg1"/>
                </a:solidFill>
              </a:rPr>
              <a:t>9. Generate (LLM)</a:t>
            </a:r>
            <a:endParaRPr lang="en-US" sz="1400" dirty="0"/>
          </a:p>
        </p:txBody>
      </p:sp>
      <p:sp>
        <p:nvSpPr>
          <p:cNvPr id="27" name="node validate"/>
          <p:cNvSpPr/>
          <p:nvPr/>
        </p:nvSpPr>
        <p:spPr>
          <a:xfrm>
            <a:off x="5422392" y="2811780"/>
            <a:ext cx="1737360" cy="777240"/>
          </a:xfrm>
          <a:prstGeom prst="roundRect">
            <a:avLst>
              <a:gd name="adj" fmla="val 9412"/>
            </a:avLst>
          </a:prstGeom>
          <a:solidFill>
            <a:schemeClr val="accent3"/>
          </a:solidFill>
          <a:ln w="12700">
            <a:solidFill>
              <a:schemeClr val="accent3"/>
            </a:solidFill>
            <a:prstDash val="solid"/>
          </a:ln>
        </p:spPr>
      </p:sp>
      <p:sp>
        <p:nvSpPr>
          <p:cNvPr id="28" name="Text 25"/>
          <p:cNvSpPr txBox="1"/>
          <p:nvPr/>
        </p:nvSpPr>
        <p:spPr>
          <a:xfrm>
            <a:off x="5468112" y="2811780"/>
            <a:ext cx="1645920" cy="777240"/>
          </a:xfrm>
          <a:prstGeom prst="rect">
            <a:avLst/>
          </a:prstGeom>
          <a:noFill/>
          <a:ln/>
        </p:spPr>
        <p:txBody>
          <a:bodyPr wrap="square" lIns="0" tIns="0" rIns="0" bIns="0" rtlCol="0" anchor="ctr"/>
          <a:lstStyle/>
          <a:p>
            <a:pPr algn="ctr" indent="0" marL="0">
              <a:buNone/>
            </a:pPr>
            <a:r>
              <a:rPr lang="en-US" sz="1400" b="1" dirty="0">
                <a:solidFill>
                  <a:schemeClr val="bg1"/>
                </a:solidFill>
              </a:rPr>
              <a:t>10. Validate Citations</a:t>
            </a:r>
            <a:endParaRPr lang="en-US" sz="1400" dirty="0"/>
          </a:p>
        </p:txBody>
      </p:sp>
      <p:sp>
        <p:nvSpPr>
          <p:cNvPr id="29" name="decision valid"/>
          <p:cNvSpPr/>
          <p:nvPr/>
        </p:nvSpPr>
        <p:spPr>
          <a:xfrm>
            <a:off x="3136392" y="2651760"/>
            <a:ext cx="1645920" cy="1097280"/>
          </a:xfrm>
          <a:prstGeom prst="diamond">
            <a:avLst/>
          </a:prstGeom>
          <a:solidFill>
            <a:schemeClr val="accent2"/>
          </a:solidFill>
          <a:ln w="12700">
            <a:solidFill>
              <a:schemeClr val="accent2"/>
            </a:solidFill>
            <a:prstDash val="solid"/>
          </a:ln>
        </p:spPr>
      </p:sp>
      <p:sp>
        <p:nvSpPr>
          <p:cNvPr id="30" name="Text 27"/>
          <p:cNvSpPr txBox="1"/>
          <p:nvPr/>
        </p:nvSpPr>
        <p:spPr>
          <a:xfrm>
            <a:off x="3410712" y="2651760"/>
            <a:ext cx="1097280" cy="1097280"/>
          </a:xfrm>
          <a:prstGeom prst="rect">
            <a:avLst/>
          </a:prstGeom>
          <a:noFill/>
          <a:ln/>
        </p:spPr>
        <p:txBody>
          <a:bodyPr wrap="square" lIns="0" tIns="0" rIns="0" bIns="0" rtlCol="0" anchor="ctr"/>
          <a:lstStyle/>
          <a:p>
            <a:pPr algn="ctr" indent="0" marL="0">
              <a:buNone/>
            </a:pPr>
            <a:r>
              <a:rPr lang="en-US" sz="1300" b="1" dirty="0">
                <a:solidFill>
                  <a:schemeClr val="bg1"/>
                </a:solidFill>
              </a:rPr>
              <a:t>11. Valid?</a:t>
            </a:r>
            <a:endParaRPr lang="en-US" sz="1300" dirty="0"/>
          </a:p>
        </p:txBody>
      </p:sp>
      <p:sp>
        <p:nvSpPr>
          <p:cNvPr id="31" name="node persist"/>
          <p:cNvSpPr/>
          <p:nvPr/>
        </p:nvSpPr>
        <p:spPr>
          <a:xfrm>
            <a:off x="896112" y="2811780"/>
            <a:ext cx="1600200" cy="777240"/>
          </a:xfrm>
          <a:prstGeom prst="roundRect">
            <a:avLst>
              <a:gd name="adj" fmla="val 9412"/>
            </a:avLst>
          </a:prstGeom>
          <a:solidFill>
            <a:schemeClr val="accent5"/>
          </a:solidFill>
          <a:ln w="12700">
            <a:solidFill>
              <a:schemeClr val="accent5"/>
            </a:solidFill>
            <a:prstDash val="solid"/>
          </a:ln>
        </p:spPr>
      </p:sp>
      <p:sp>
        <p:nvSpPr>
          <p:cNvPr id="32" name="Text 29"/>
          <p:cNvSpPr txBox="1"/>
          <p:nvPr/>
        </p:nvSpPr>
        <p:spPr>
          <a:xfrm>
            <a:off x="941832" y="2811780"/>
            <a:ext cx="1508760" cy="777240"/>
          </a:xfrm>
          <a:prstGeom prst="rect">
            <a:avLst/>
          </a:prstGeom>
          <a:noFill/>
          <a:ln/>
        </p:spPr>
        <p:txBody>
          <a:bodyPr wrap="square" lIns="0" tIns="0" rIns="0" bIns="0" rtlCol="0" anchor="ctr"/>
          <a:lstStyle/>
          <a:p>
            <a:pPr algn="ctr" indent="0" marL="0">
              <a:buNone/>
            </a:pPr>
            <a:r>
              <a:rPr lang="en-US" sz="1400" b="1" dirty="0">
                <a:solidFill>
                  <a:schemeClr val="bg1"/>
                </a:solidFill>
              </a:rPr>
              <a:t>12. Persist Report</a:t>
            </a:r>
            <a:endParaRPr lang="en-US" sz="1400" dirty="0"/>
          </a:p>
        </p:txBody>
      </p:sp>
      <p:sp>
        <p:nvSpPr>
          <p:cNvPr id="33" name="Shape 30"/>
          <p:cNvSpPr/>
          <p:nvPr/>
        </p:nvSpPr>
        <p:spPr>
          <a:xfrm flipH="1">
            <a:off x="9400032" y="3200400"/>
            <a:ext cx="640080" cy="0"/>
          </a:xfrm>
          <a:prstGeom prst="line">
            <a:avLst/>
          </a:prstGeom>
          <a:noFill/>
          <a:ln w="25400">
            <a:solidFill>
              <a:schemeClr val="tx2"/>
            </a:solidFill>
            <a:prstDash val="solid"/>
            <a:tailEnd type="triangle"/>
          </a:ln>
        </p:spPr>
      </p:sp>
      <p:sp>
        <p:nvSpPr>
          <p:cNvPr id="34" name="Shape 31"/>
          <p:cNvSpPr/>
          <p:nvPr/>
        </p:nvSpPr>
        <p:spPr>
          <a:xfrm flipH="1">
            <a:off x="7159752" y="3200400"/>
            <a:ext cx="640080" cy="0"/>
          </a:xfrm>
          <a:prstGeom prst="line">
            <a:avLst/>
          </a:prstGeom>
          <a:noFill/>
          <a:ln w="25400">
            <a:solidFill>
              <a:schemeClr val="tx2"/>
            </a:solidFill>
            <a:prstDash val="solid"/>
            <a:tailEnd type="triangle"/>
          </a:ln>
        </p:spPr>
      </p:sp>
      <p:sp>
        <p:nvSpPr>
          <p:cNvPr id="35" name="Shape 32"/>
          <p:cNvSpPr/>
          <p:nvPr/>
        </p:nvSpPr>
        <p:spPr>
          <a:xfrm flipH="1">
            <a:off x="4782312" y="3200400"/>
            <a:ext cx="640080" cy="0"/>
          </a:xfrm>
          <a:prstGeom prst="line">
            <a:avLst/>
          </a:prstGeom>
          <a:noFill/>
          <a:ln w="25400">
            <a:solidFill>
              <a:schemeClr val="tx2"/>
            </a:solidFill>
            <a:prstDash val="solid"/>
            <a:tailEnd type="triangle"/>
          </a:ln>
        </p:spPr>
      </p:sp>
      <p:sp>
        <p:nvSpPr>
          <p:cNvPr id="36" name="Shape 33"/>
          <p:cNvSpPr/>
          <p:nvPr/>
        </p:nvSpPr>
        <p:spPr>
          <a:xfrm flipH="1">
            <a:off x="2496312" y="3200400"/>
            <a:ext cx="640080" cy="0"/>
          </a:xfrm>
          <a:prstGeom prst="line">
            <a:avLst/>
          </a:prstGeom>
          <a:noFill/>
          <a:ln w="25400">
            <a:solidFill>
              <a:schemeClr val="tx2"/>
            </a:solidFill>
            <a:prstDash val="solid"/>
            <a:tailEnd type="triangle"/>
          </a:ln>
        </p:spPr>
      </p:sp>
      <p:sp>
        <p:nvSpPr>
          <p:cNvPr id="37" name="Text 34"/>
          <p:cNvSpPr txBox="1"/>
          <p:nvPr/>
        </p:nvSpPr>
        <p:spPr>
          <a:xfrm>
            <a:off x="9491472" y="2880360"/>
            <a:ext cx="457200" cy="274320"/>
          </a:xfrm>
          <a:prstGeom prst="rect">
            <a:avLst/>
          </a:prstGeom>
          <a:noFill/>
          <a:ln/>
        </p:spPr>
        <p:txBody>
          <a:bodyPr wrap="square" lIns="0" tIns="0" rIns="0" bIns="0" rtlCol="0" anchor="t"/>
          <a:lstStyle/>
          <a:p>
            <a:pPr indent="0" marL="0">
              <a:buNone/>
            </a:pPr>
            <a:r>
              <a:rPr lang="en-US" sz="1200" b="1" dirty="0">
                <a:solidFill>
                  <a:schemeClr val="accent5"/>
                </a:solidFill>
              </a:rPr>
              <a:t>Yes</a:t>
            </a:r>
            <a:endParaRPr lang="en-US" sz="1200" dirty="0"/>
          </a:p>
        </p:txBody>
      </p:sp>
      <p:sp>
        <p:nvSpPr>
          <p:cNvPr id="38" name="Text 35"/>
          <p:cNvSpPr txBox="1"/>
          <p:nvPr/>
        </p:nvSpPr>
        <p:spPr>
          <a:xfrm>
            <a:off x="2587752" y="2880360"/>
            <a:ext cx="457200" cy="274320"/>
          </a:xfrm>
          <a:prstGeom prst="rect">
            <a:avLst/>
          </a:prstGeom>
          <a:noFill/>
          <a:ln/>
        </p:spPr>
        <p:txBody>
          <a:bodyPr wrap="square" lIns="0" tIns="0" rIns="0" bIns="0" rtlCol="0" anchor="t"/>
          <a:lstStyle/>
          <a:p>
            <a:pPr indent="0" marL="0">
              <a:buNone/>
            </a:pPr>
            <a:r>
              <a:rPr lang="en-US" sz="1200" b="1" dirty="0">
                <a:solidFill>
                  <a:schemeClr val="accent5"/>
                </a:solidFill>
              </a:rPr>
              <a:t>Yes</a:t>
            </a:r>
            <a:endParaRPr lang="en-US" sz="1200" dirty="0"/>
          </a:p>
        </p:txBody>
      </p:sp>
      <p:sp>
        <p:nvSpPr>
          <p:cNvPr id="39" name="Shape 36"/>
          <p:cNvSpPr/>
          <p:nvPr/>
        </p:nvSpPr>
        <p:spPr>
          <a:xfrm>
            <a:off x="10863072" y="3749040"/>
            <a:ext cx="0" cy="320040"/>
          </a:xfrm>
          <a:prstGeom prst="line">
            <a:avLst/>
          </a:prstGeom>
          <a:noFill/>
          <a:ln w="25400">
            <a:solidFill>
              <a:schemeClr val="accent4"/>
            </a:solidFill>
            <a:prstDash val="solid"/>
            <a:tailEnd type="triangle"/>
          </a:ln>
        </p:spPr>
      </p:sp>
      <p:sp>
        <p:nvSpPr>
          <p:cNvPr id="40" name="Shape 37"/>
          <p:cNvSpPr/>
          <p:nvPr/>
        </p:nvSpPr>
        <p:spPr>
          <a:xfrm>
            <a:off x="3959352" y="3749040"/>
            <a:ext cx="0" cy="320040"/>
          </a:xfrm>
          <a:prstGeom prst="line">
            <a:avLst/>
          </a:prstGeom>
          <a:noFill/>
          <a:ln w="25400">
            <a:solidFill>
              <a:schemeClr val="accent4"/>
            </a:solidFill>
            <a:prstDash val="solid"/>
            <a:tailEnd type="triangle"/>
          </a:ln>
        </p:spPr>
      </p:sp>
      <p:sp>
        <p:nvSpPr>
          <p:cNvPr id="41" name="Shape 38"/>
          <p:cNvSpPr/>
          <p:nvPr/>
        </p:nvSpPr>
        <p:spPr>
          <a:xfrm>
            <a:off x="9628632" y="4114800"/>
            <a:ext cx="2468880" cy="685800"/>
          </a:xfrm>
          <a:prstGeom prst="roundRect">
            <a:avLst>
              <a:gd name="adj" fmla="val 10667"/>
            </a:avLst>
          </a:prstGeom>
          <a:solidFill>
            <a:schemeClr val="bg2"/>
          </a:solidFill>
          <a:ln w="19050">
            <a:solidFill>
              <a:schemeClr val="accent4"/>
            </a:solidFill>
            <a:prstDash val="solid"/>
          </a:ln>
        </p:spPr>
      </p:sp>
      <p:sp>
        <p:nvSpPr>
          <p:cNvPr id="42" name="Text 39"/>
          <p:cNvSpPr txBox="1"/>
          <p:nvPr/>
        </p:nvSpPr>
        <p:spPr>
          <a:xfrm>
            <a:off x="9674352" y="4114800"/>
            <a:ext cx="2377440" cy="685800"/>
          </a:xfrm>
          <a:prstGeom prst="rect">
            <a:avLst/>
          </a:prstGeom>
          <a:noFill/>
          <a:ln/>
        </p:spPr>
        <p:txBody>
          <a:bodyPr wrap="square" lIns="0" tIns="0" rIns="0" bIns="0" rtlCol="0" anchor="ctr"/>
          <a:lstStyle/>
          <a:p>
            <a:pPr algn="ctr" indent="0" marL="0">
              <a:buNone/>
            </a:pPr>
            <a:r>
              <a:rPr lang="en-US" sz="1300" b="1" dirty="0">
                <a:solidFill>
                  <a:schemeClr val="tx1"/>
                </a:solidFill>
              </a:rPr>
              <a:t>No: 7. Rewrite Query</a:t>
            </a:r>
            <a:endParaRPr lang="en-US" sz="1300" dirty="0"/>
          </a:p>
          <a:p>
            <a:pPr algn="ctr" indent="0" marL="0">
              <a:buNone/>
            </a:pPr>
            <a:r>
              <a:rPr lang="en-US" sz="1100" dirty="0">
                <a:solidFill>
                  <a:schemeClr val="tx2"/>
                </a:solidFill>
              </a:rPr>
              <a:t>↺ loops back to Retrieve</a:t>
            </a:r>
            <a:endParaRPr lang="en-US" sz="1300" dirty="0"/>
          </a:p>
        </p:txBody>
      </p:sp>
      <p:sp>
        <p:nvSpPr>
          <p:cNvPr id="43" name="Shape 40"/>
          <p:cNvSpPr/>
          <p:nvPr/>
        </p:nvSpPr>
        <p:spPr>
          <a:xfrm>
            <a:off x="2724912" y="4114800"/>
            <a:ext cx="2468880" cy="685800"/>
          </a:xfrm>
          <a:prstGeom prst="roundRect">
            <a:avLst>
              <a:gd name="adj" fmla="val 10667"/>
            </a:avLst>
          </a:prstGeom>
          <a:solidFill>
            <a:schemeClr val="bg2"/>
          </a:solidFill>
          <a:ln w="19050">
            <a:solidFill>
              <a:schemeClr val="accent4"/>
            </a:solidFill>
            <a:prstDash val="solid"/>
          </a:ln>
        </p:spPr>
      </p:sp>
      <p:sp>
        <p:nvSpPr>
          <p:cNvPr id="44" name="Text 41"/>
          <p:cNvSpPr txBox="1"/>
          <p:nvPr/>
        </p:nvSpPr>
        <p:spPr>
          <a:xfrm>
            <a:off x="2770632" y="4114800"/>
            <a:ext cx="2377440" cy="685800"/>
          </a:xfrm>
          <a:prstGeom prst="rect">
            <a:avLst/>
          </a:prstGeom>
          <a:noFill/>
          <a:ln/>
        </p:spPr>
        <p:txBody>
          <a:bodyPr wrap="square" lIns="0" tIns="0" rIns="0" bIns="0" rtlCol="0" anchor="ctr"/>
          <a:lstStyle/>
          <a:p>
            <a:pPr algn="ctr" indent="0" marL="0">
              <a:buNone/>
            </a:pPr>
            <a:r>
              <a:rPr lang="en-US" sz="1300" b="1" dirty="0">
                <a:solidFill>
                  <a:schemeClr val="tx1"/>
                </a:solidFill>
              </a:rPr>
              <a:t>No: Repair answer</a:t>
            </a:r>
            <a:endParaRPr lang="en-US" sz="1300" dirty="0"/>
          </a:p>
          <a:p>
            <a:pPr algn="ctr" indent="0" marL="0">
              <a:buNone/>
            </a:pPr>
            <a:r>
              <a:rPr lang="en-US" sz="1100" dirty="0">
                <a:solidFill>
                  <a:schemeClr val="tx2"/>
                </a:solidFill>
              </a:rPr>
              <a:t>↺ loops back to Generate</a:t>
            </a:r>
            <a:endParaRPr lang="en-US" sz="1300" dirty="0"/>
          </a:p>
        </p:txBody>
      </p:sp>
      <p:sp>
        <p:nvSpPr>
          <p:cNvPr id="45" name="Shape 42"/>
          <p:cNvSpPr/>
          <p:nvPr/>
        </p:nvSpPr>
        <p:spPr>
          <a:xfrm>
            <a:off x="548640" y="5074920"/>
            <a:ext cx="5394960" cy="1188720"/>
          </a:xfrm>
          <a:prstGeom prst="roundRect">
            <a:avLst>
              <a:gd name="adj" fmla="val 769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6" name="info State (Pydantic)"/>
          <p:cNvSpPr/>
          <p:nvPr/>
        </p:nvSpPr>
        <p:spPr>
          <a:xfrm>
            <a:off x="731520" y="5257800"/>
            <a:ext cx="457200" cy="457200"/>
          </a:xfrm>
          <a:prstGeom prst="ellipse">
            <a:avLst/>
          </a:prstGeom>
          <a:solidFill>
            <a:schemeClr val="accent6"/>
          </a:solidFill>
          <a:ln w="12700">
            <a:solidFill>
              <a:schemeClr val="accent6"/>
            </a:solidFill>
            <a:prstDash val="solid"/>
          </a:ln>
        </p:spPr>
      </p:sp>
      <p:pic>
        <p:nvPicPr>
          <p:cNvPr id="47" name="Image 0" descr="icon">    </p:cNvPr>
          <p:cNvPicPr>
            <a:picLocks noChangeAspect="1"/>
          </p:cNvPicPr>
          <p:nvPr/>
        </p:nvPicPr>
        <p:blipFill>
          <a:blip r:embed="rId1"/>
          <a:stretch>
            <a:fillRect/>
          </a:stretch>
        </p:blipFill>
        <p:spPr>
          <a:xfrm>
            <a:off x="845820" y="5372100"/>
            <a:ext cx="228600" cy="228600"/>
          </a:xfrm>
          <a:prstGeom prst="rect">
            <a:avLst/>
          </a:prstGeom>
        </p:spPr>
      </p:pic>
      <p:sp>
        <p:nvSpPr>
          <p:cNvPr id="48" name="Text 44"/>
          <p:cNvSpPr txBox="1"/>
          <p:nvPr/>
        </p:nvSpPr>
        <p:spPr>
          <a:xfrm>
            <a:off x="1371600" y="5166360"/>
            <a:ext cx="4389120" cy="320040"/>
          </a:xfrm>
          <a:prstGeom prst="rect">
            <a:avLst/>
          </a:prstGeom>
          <a:noFill/>
          <a:ln/>
        </p:spPr>
        <p:txBody>
          <a:bodyPr wrap="square" lIns="0" tIns="0" rIns="0" bIns="0" rtlCol="0" anchor="t"/>
          <a:lstStyle/>
          <a:p>
            <a:pPr indent="0" marL="0">
              <a:buNone/>
            </a:pPr>
            <a:r>
              <a:rPr lang="en-US" sz="1500" b="1" dirty="0">
                <a:solidFill>
                  <a:schemeClr val="tx1"/>
                </a:solidFill>
              </a:rPr>
              <a:t>State (Pydantic)</a:t>
            </a:r>
            <a:endParaRPr lang="en-US" sz="1500" dirty="0"/>
          </a:p>
        </p:txBody>
      </p:sp>
      <p:sp>
        <p:nvSpPr>
          <p:cNvPr id="49" name="Text 45"/>
          <p:cNvSpPr txBox="1"/>
          <p:nvPr/>
        </p:nvSpPr>
        <p:spPr>
          <a:xfrm>
            <a:off x="1371600" y="5504688"/>
            <a:ext cx="4389120" cy="685800"/>
          </a:xfrm>
          <a:prstGeom prst="rect">
            <a:avLst/>
          </a:prstGeom>
          <a:noFill/>
          <a:ln/>
        </p:spPr>
        <p:txBody>
          <a:bodyPr wrap="square" lIns="0" tIns="0" rIns="0" bIns="0" rtlCol="0" anchor="t"/>
          <a:lstStyle/>
          <a:p>
            <a:pPr indent="0" marL="0">
              <a:buNone/>
            </a:pPr>
            <a:r>
              <a:rPr lang="en-US" sz="1300" dirty="0">
                <a:solidFill>
                  <a:schemeClr val="tx1"/>
                </a:solidFill>
              </a:rPr>
              <a:t>run_id, thread_id, question, filters, candidates, evidence, draft / final answer, citation_validation, timings, errors</a:t>
            </a:r>
            <a:endParaRPr lang="en-US" sz="1300" dirty="0"/>
          </a:p>
        </p:txBody>
      </p:sp>
      <p:sp>
        <p:nvSpPr>
          <p:cNvPr id="50" name="Shape 46"/>
          <p:cNvSpPr/>
          <p:nvPr/>
        </p:nvSpPr>
        <p:spPr>
          <a:xfrm>
            <a:off x="6245352" y="5074920"/>
            <a:ext cx="5394960" cy="1188720"/>
          </a:xfrm>
          <a:prstGeom prst="roundRect">
            <a:avLst>
              <a:gd name="adj" fmla="val 769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1" name="info Checkpointing"/>
          <p:cNvSpPr/>
          <p:nvPr/>
        </p:nvSpPr>
        <p:spPr>
          <a:xfrm>
            <a:off x="6428232" y="5257800"/>
            <a:ext cx="457200" cy="457200"/>
          </a:xfrm>
          <a:prstGeom prst="ellipse">
            <a:avLst/>
          </a:prstGeom>
          <a:solidFill>
            <a:schemeClr val="accent1"/>
          </a:solidFill>
          <a:ln w="12700">
            <a:solidFill>
              <a:schemeClr val="accent1"/>
            </a:solidFill>
            <a:prstDash val="solid"/>
          </a:ln>
        </p:spPr>
      </p:sp>
      <p:pic>
        <p:nvPicPr>
          <p:cNvPr id="52" name="Image 1" descr="icon">    </p:cNvPr>
          <p:cNvPicPr>
            <a:picLocks noChangeAspect="1"/>
          </p:cNvPicPr>
          <p:nvPr/>
        </p:nvPicPr>
        <p:blipFill>
          <a:blip r:embed="rId2"/>
          <a:stretch>
            <a:fillRect/>
          </a:stretch>
        </p:blipFill>
        <p:spPr>
          <a:xfrm>
            <a:off x="6542532" y="5372100"/>
            <a:ext cx="228600" cy="228600"/>
          </a:xfrm>
          <a:prstGeom prst="rect">
            <a:avLst/>
          </a:prstGeom>
        </p:spPr>
      </p:pic>
      <p:sp>
        <p:nvSpPr>
          <p:cNvPr id="53" name="Text 48"/>
          <p:cNvSpPr txBox="1"/>
          <p:nvPr/>
        </p:nvSpPr>
        <p:spPr>
          <a:xfrm>
            <a:off x="7068312" y="5166360"/>
            <a:ext cx="4389120" cy="320040"/>
          </a:xfrm>
          <a:prstGeom prst="rect">
            <a:avLst/>
          </a:prstGeom>
          <a:noFill/>
          <a:ln/>
        </p:spPr>
        <p:txBody>
          <a:bodyPr wrap="square" lIns="0" tIns="0" rIns="0" bIns="0" rtlCol="0" anchor="t"/>
          <a:lstStyle/>
          <a:p>
            <a:pPr indent="0" marL="0">
              <a:buNone/>
            </a:pPr>
            <a:r>
              <a:rPr lang="en-US" sz="1500" b="1" dirty="0">
                <a:solidFill>
                  <a:schemeClr val="tx1"/>
                </a:solidFill>
              </a:rPr>
              <a:t>Checkpointing</a:t>
            </a:r>
            <a:endParaRPr lang="en-US" sz="1500" dirty="0"/>
          </a:p>
        </p:txBody>
      </p:sp>
      <p:sp>
        <p:nvSpPr>
          <p:cNvPr id="54" name="Text 49"/>
          <p:cNvSpPr txBox="1"/>
          <p:nvPr/>
        </p:nvSpPr>
        <p:spPr>
          <a:xfrm>
            <a:off x="7068312" y="5504688"/>
            <a:ext cx="4389120" cy="685800"/>
          </a:xfrm>
          <a:prstGeom prst="rect">
            <a:avLst/>
          </a:prstGeom>
          <a:noFill/>
          <a:ln/>
        </p:spPr>
        <p:txBody>
          <a:bodyPr wrap="square" lIns="0" tIns="0" rIns="0" bIns="0" rtlCol="0" anchor="t"/>
          <a:lstStyle/>
          <a:p>
            <a:pPr indent="0" marL="0">
              <a:buNone/>
            </a:pPr>
            <a:r>
              <a:rPr lang="en-US" sz="1300" dirty="0">
                <a:solidFill>
                  <a:schemeClr val="tx1"/>
                </a:solidFill>
              </a:rPr>
              <a:t>PostgreSQL saver keyed by thread_id: pause / resume a run and time-travel to earlier states</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Evaluation: Ragas + Custom Metrics</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card Ragas Metrics"/>
          <p:cNvSpPr/>
          <p:nvPr/>
        </p:nvSpPr>
        <p:spPr>
          <a:xfrm>
            <a:off x="548640" y="1463040"/>
            <a:ext cx="2567178" cy="301752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Ragas Metrics"/>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Ragas Metrics</a:t>
            </a:r>
            <a:endParaRPr lang="en-US" sz="1500" dirty="0"/>
          </a:p>
        </p:txBody>
      </p:sp>
      <p:sp>
        <p:nvSpPr>
          <p:cNvPr id="9" name="Text 5"/>
          <p:cNvSpPr txBox="1"/>
          <p:nvPr/>
        </p:nvSpPr>
        <p:spPr>
          <a:xfrm>
            <a:off x="777240" y="2286000"/>
            <a:ext cx="2155698" cy="21031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Context precision</a:t>
            </a:r>
            <a:endParaRPr lang="en-US" sz="1400" dirty="0"/>
          </a:p>
          <a:p>
            <a:pPr marL="177800" indent="-177800">
              <a:spcAft>
                <a:spcPts val="400"/>
              </a:spcAft>
              <a:buSzPct val="100000"/>
              <a:buChar char="•"/>
            </a:pPr>
            <a:r>
              <a:rPr lang="en-US" sz="1400" dirty="0">
                <a:solidFill>
                  <a:schemeClr val="tx1"/>
                </a:solidFill>
              </a:rPr>
              <a:t>Context recall</a:t>
            </a:r>
            <a:endParaRPr lang="en-US" sz="1400" dirty="0"/>
          </a:p>
          <a:p>
            <a:pPr marL="177800" indent="-177800">
              <a:spcAft>
                <a:spcPts val="400"/>
              </a:spcAft>
              <a:buSzPct val="100000"/>
              <a:buChar char="•"/>
            </a:pPr>
            <a:r>
              <a:rPr lang="en-US" sz="1400" dirty="0">
                <a:solidFill>
                  <a:schemeClr val="tx1"/>
                </a:solidFill>
              </a:rPr>
              <a:t>Faithfulness</a:t>
            </a:r>
            <a:endParaRPr lang="en-US" sz="1400" dirty="0"/>
          </a:p>
          <a:p>
            <a:pPr marL="177800" indent="-177800">
              <a:spcAft>
                <a:spcPts val="400"/>
              </a:spcAft>
              <a:buSzPct val="100000"/>
              <a:buChar char="•"/>
            </a:pPr>
            <a:r>
              <a:rPr lang="en-US" sz="1400" dirty="0">
                <a:solidFill>
                  <a:schemeClr val="tx1"/>
                </a:solidFill>
              </a:rPr>
              <a:t>Response relevancy</a:t>
            </a:r>
            <a:endParaRPr lang="en-US" sz="1400" dirty="0"/>
          </a:p>
        </p:txBody>
      </p:sp>
      <p:sp>
        <p:nvSpPr>
          <p:cNvPr id="10" name="card Custom Metrics"/>
          <p:cNvSpPr/>
          <p:nvPr/>
        </p:nvSpPr>
        <p:spPr>
          <a:xfrm>
            <a:off x="3390138" y="1463040"/>
            <a:ext cx="2567178" cy="301752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Custom Metrics"/>
          <p:cNvSpPr/>
          <p:nvPr/>
        </p:nvSpPr>
        <p:spPr>
          <a:xfrm>
            <a:off x="3573018"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3691890" y="1764792"/>
            <a:ext cx="237744" cy="237744"/>
          </a:xfrm>
          <a:prstGeom prst="rect">
            <a:avLst/>
          </a:prstGeom>
        </p:spPr>
      </p:pic>
      <p:sp>
        <p:nvSpPr>
          <p:cNvPr id="13" name="Text 8"/>
          <p:cNvSpPr txBox="1"/>
          <p:nvPr/>
        </p:nvSpPr>
        <p:spPr>
          <a:xfrm>
            <a:off x="4194810" y="16184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Custom Metrics</a:t>
            </a:r>
            <a:endParaRPr lang="en-US" sz="1500" dirty="0"/>
          </a:p>
        </p:txBody>
      </p:sp>
      <p:sp>
        <p:nvSpPr>
          <p:cNvPr id="14" name="Text 9"/>
          <p:cNvSpPr txBox="1"/>
          <p:nvPr/>
        </p:nvSpPr>
        <p:spPr>
          <a:xfrm>
            <a:off x="3618738" y="2286000"/>
            <a:ext cx="2155698" cy="21031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Citation validity rate</a:t>
            </a:r>
            <a:endParaRPr lang="en-US" sz="1400" dirty="0"/>
          </a:p>
          <a:p>
            <a:pPr marL="177800" indent="-177800">
              <a:spcAft>
                <a:spcPts val="400"/>
              </a:spcAft>
              <a:buSzPct val="100000"/>
              <a:buChar char="•"/>
            </a:pPr>
            <a:r>
              <a:rPr lang="en-US" sz="1400" dirty="0">
                <a:solidFill>
                  <a:schemeClr val="tx1"/>
                </a:solidFill>
              </a:rPr>
              <a:t>MRR / nDCG</a:t>
            </a:r>
            <a:endParaRPr lang="en-US" sz="1400" dirty="0"/>
          </a:p>
          <a:p>
            <a:pPr marL="177800" indent="-177800">
              <a:spcAft>
                <a:spcPts val="400"/>
              </a:spcAft>
              <a:buSzPct val="100000"/>
              <a:buChar char="•"/>
            </a:pPr>
            <a:r>
              <a:rPr lang="en-US" sz="1400" dirty="0">
                <a:solidFill>
                  <a:schemeClr val="tx1"/>
                </a:solidFill>
              </a:rPr>
              <a:t>Latency metrics</a:t>
            </a:r>
            <a:endParaRPr lang="en-US" sz="1400" dirty="0"/>
          </a:p>
        </p:txBody>
      </p:sp>
      <p:sp>
        <p:nvSpPr>
          <p:cNvPr id="15" name="card Evaluation Runner"/>
          <p:cNvSpPr/>
          <p:nvPr/>
        </p:nvSpPr>
        <p:spPr>
          <a:xfrm>
            <a:off x="6231636" y="1463040"/>
            <a:ext cx="2567178" cy="301752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Evaluation Runner"/>
          <p:cNvSpPr/>
          <p:nvPr/>
        </p:nvSpPr>
        <p:spPr>
          <a:xfrm>
            <a:off x="6414516" y="1645920"/>
            <a:ext cx="475488" cy="475488"/>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6533388" y="1764792"/>
            <a:ext cx="237744" cy="237744"/>
          </a:xfrm>
          <a:prstGeom prst="rect">
            <a:avLst/>
          </a:prstGeom>
        </p:spPr>
      </p:pic>
      <p:sp>
        <p:nvSpPr>
          <p:cNvPr id="18" name="Text 12"/>
          <p:cNvSpPr txBox="1"/>
          <p:nvPr/>
        </p:nvSpPr>
        <p:spPr>
          <a:xfrm>
            <a:off x="7036308" y="16184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Evaluation Runner</a:t>
            </a:r>
            <a:endParaRPr lang="en-US" sz="1500" dirty="0"/>
          </a:p>
        </p:txBody>
      </p:sp>
      <p:sp>
        <p:nvSpPr>
          <p:cNvPr id="19" name="Text 13"/>
          <p:cNvSpPr txBox="1"/>
          <p:nvPr/>
        </p:nvSpPr>
        <p:spPr>
          <a:xfrm>
            <a:off x="6460236" y="2286000"/>
            <a:ext cx="2155698" cy="21031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JSONL dataset</a:t>
            </a:r>
            <a:endParaRPr lang="en-US" sz="1400" dirty="0"/>
          </a:p>
          <a:p>
            <a:pPr marL="177800" indent="-177800">
              <a:spcAft>
                <a:spcPts val="400"/>
              </a:spcAft>
              <a:buSzPct val="100000"/>
              <a:buChar char="•"/>
            </a:pPr>
            <a:r>
              <a:rPr lang="en-US" sz="1400" dirty="0">
                <a:solidFill>
                  <a:schemeClr val="tx1"/>
                </a:solidFill>
              </a:rPr>
              <a:t>Local / offline</a:t>
            </a:r>
            <a:endParaRPr lang="en-US" sz="1400" dirty="0"/>
          </a:p>
          <a:p>
            <a:pPr marL="177800" indent="-177800">
              <a:spcAft>
                <a:spcPts val="400"/>
              </a:spcAft>
              <a:buSzPct val="100000"/>
              <a:buChar char="•"/>
            </a:pPr>
            <a:r>
              <a:rPr lang="en-US" sz="1400" dirty="0">
                <a:solidFill>
                  <a:schemeClr val="tx1"/>
                </a:solidFill>
              </a:rPr>
              <a:t>CLI / script</a:t>
            </a:r>
            <a:endParaRPr lang="en-US" sz="1400" dirty="0"/>
          </a:p>
        </p:txBody>
      </p:sp>
      <p:sp>
        <p:nvSpPr>
          <p:cNvPr id="20" name="card Alerts"/>
          <p:cNvSpPr/>
          <p:nvPr/>
        </p:nvSpPr>
        <p:spPr>
          <a:xfrm>
            <a:off x="9073134" y="1463040"/>
            <a:ext cx="2567178" cy="3017520"/>
          </a:xfrm>
          <a:prstGeom prst="roundRect">
            <a:avLst>
              <a:gd name="adj" fmla="val 35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Alerts"/>
          <p:cNvSpPr/>
          <p:nvPr/>
        </p:nvSpPr>
        <p:spPr>
          <a:xfrm>
            <a:off x="9256014" y="1645920"/>
            <a:ext cx="475488" cy="475488"/>
          </a:xfrm>
          <a:prstGeom prst="ellipse">
            <a:avLst/>
          </a:prstGeom>
          <a:solidFill>
            <a:schemeClr val="accent4"/>
          </a:solidFill>
          <a:ln w="12700">
            <a:solidFill>
              <a:schemeClr val="accent4"/>
            </a:solidFill>
            <a:prstDash val="solid"/>
          </a:ln>
        </p:spPr>
      </p:sp>
      <p:pic>
        <p:nvPicPr>
          <p:cNvPr id="22" name="Image 3" descr="icon">    </p:cNvPr>
          <p:cNvPicPr>
            <a:picLocks noChangeAspect="1"/>
          </p:cNvPicPr>
          <p:nvPr/>
        </p:nvPicPr>
        <p:blipFill>
          <a:blip r:embed="rId4"/>
          <a:stretch>
            <a:fillRect/>
          </a:stretch>
        </p:blipFill>
        <p:spPr>
          <a:xfrm>
            <a:off x="9374886" y="1764792"/>
            <a:ext cx="237744" cy="237744"/>
          </a:xfrm>
          <a:prstGeom prst="rect">
            <a:avLst/>
          </a:prstGeom>
        </p:spPr>
      </p:pic>
      <p:sp>
        <p:nvSpPr>
          <p:cNvPr id="23" name="Text 16"/>
          <p:cNvSpPr txBox="1"/>
          <p:nvPr/>
        </p:nvSpPr>
        <p:spPr>
          <a:xfrm>
            <a:off x="9877806" y="1618488"/>
            <a:ext cx="1607058" cy="530352"/>
          </a:xfrm>
          <a:prstGeom prst="rect">
            <a:avLst/>
          </a:prstGeom>
          <a:noFill/>
          <a:ln/>
        </p:spPr>
        <p:txBody>
          <a:bodyPr wrap="square" lIns="0" tIns="0" rIns="0" bIns="0" rtlCol="0" anchor="ctr"/>
          <a:lstStyle/>
          <a:p>
            <a:pPr indent="0" marL="0">
              <a:buNone/>
            </a:pPr>
            <a:r>
              <a:rPr lang="en-US" sz="1500" b="1" dirty="0">
                <a:solidFill>
                  <a:schemeClr val="tx1"/>
                </a:solidFill>
              </a:rPr>
              <a:t>Alerts</a:t>
            </a:r>
            <a:endParaRPr lang="en-US" sz="1500" dirty="0"/>
          </a:p>
        </p:txBody>
      </p:sp>
      <p:sp>
        <p:nvSpPr>
          <p:cNvPr id="24" name="Text 17"/>
          <p:cNvSpPr txBox="1"/>
          <p:nvPr/>
        </p:nvSpPr>
        <p:spPr>
          <a:xfrm>
            <a:off x="9301734" y="2286000"/>
            <a:ext cx="2155698" cy="21031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Email / Slack</a:t>
            </a:r>
            <a:endParaRPr lang="en-US" sz="1400" dirty="0"/>
          </a:p>
          <a:p>
            <a:pPr marL="177800" indent="-177800">
              <a:spcAft>
                <a:spcPts val="400"/>
              </a:spcAft>
              <a:buSzPct val="100000"/>
              <a:buChar char="•"/>
            </a:pPr>
            <a:r>
              <a:rPr lang="en-US" sz="1400" dirty="0">
                <a:solidFill>
                  <a:schemeClr val="tx1"/>
                </a:solidFill>
              </a:rPr>
              <a:t>Threshold-based</a:t>
            </a:r>
            <a:endParaRPr lang="en-US" sz="1400" dirty="0"/>
          </a:p>
        </p:txBody>
      </p:sp>
      <p:sp>
        <p:nvSpPr>
          <p:cNvPr id="25" name="Text 18"/>
          <p:cNvSpPr txBox="1"/>
          <p:nvPr/>
        </p:nvSpPr>
        <p:spPr>
          <a:xfrm>
            <a:off x="548640" y="4754880"/>
            <a:ext cx="3657600" cy="274320"/>
          </a:xfrm>
          <a:prstGeom prst="rect">
            <a:avLst/>
          </a:prstGeom>
          <a:noFill/>
          <a:ln/>
        </p:spPr>
        <p:txBody>
          <a:bodyPr wrap="square" lIns="0" tIns="0" rIns="0" bIns="0" rtlCol="0" anchor="t"/>
          <a:lstStyle/>
          <a:p>
            <a:pPr indent="0" marL="0">
              <a:buNone/>
            </a:pPr>
            <a:r>
              <a:rPr lang="en-US" sz="1400" b="1" dirty="0">
                <a:solidFill>
                  <a:schemeClr val="tx2"/>
                </a:solidFill>
              </a:rPr>
              <a:t>Evaluation loop</a:t>
            </a:r>
            <a:endParaRPr lang="en-US" sz="1400" dirty="0"/>
          </a:p>
        </p:txBody>
      </p:sp>
      <p:sp>
        <p:nvSpPr>
          <p:cNvPr id="26" name="Shape 19"/>
          <p:cNvSpPr/>
          <p:nvPr/>
        </p:nvSpPr>
        <p:spPr>
          <a:xfrm>
            <a:off x="548640" y="5212080"/>
            <a:ext cx="1965960" cy="548640"/>
          </a:xfrm>
          <a:prstGeom prst="roundRect">
            <a:avLst>
              <a:gd name="adj" fmla="val 50000"/>
            </a:avLst>
          </a:prstGeom>
          <a:solidFill>
            <a:schemeClr val="accent1"/>
          </a:solidFill>
          <a:ln w="12700">
            <a:solidFill>
              <a:schemeClr val="accent1"/>
            </a:solidFill>
            <a:prstDash val="solid"/>
          </a:ln>
        </p:spPr>
      </p:sp>
      <p:sp>
        <p:nvSpPr>
          <p:cNvPr id="27" name="Text 20"/>
          <p:cNvSpPr txBox="1"/>
          <p:nvPr/>
        </p:nvSpPr>
        <p:spPr>
          <a:xfrm>
            <a:off x="548640" y="521208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JSONL dataset</a:t>
            </a:r>
            <a:endParaRPr lang="en-US" sz="1400" dirty="0"/>
          </a:p>
        </p:txBody>
      </p:sp>
      <p:sp>
        <p:nvSpPr>
          <p:cNvPr id="28" name="loop arrow 0"/>
          <p:cNvSpPr/>
          <p:nvPr/>
        </p:nvSpPr>
        <p:spPr>
          <a:xfrm>
            <a:off x="2560320" y="5367528"/>
            <a:ext cx="237744" cy="237744"/>
          </a:xfrm>
          <a:prstGeom prst="ellipse">
            <a:avLst/>
          </a:prstGeom>
          <a:solidFill>
            <a:schemeClr val="tx2"/>
          </a:solidFill>
          <a:ln w="12700">
            <a:solidFill>
              <a:schemeClr val="tx2"/>
            </a:solidFill>
            <a:prstDash val="solid"/>
          </a:ln>
        </p:spPr>
      </p:sp>
      <p:pic>
        <p:nvPicPr>
          <p:cNvPr id="29" name="Image 4" descr="icon">    </p:cNvPr>
          <p:cNvPicPr>
            <a:picLocks noChangeAspect="1"/>
          </p:cNvPicPr>
          <p:nvPr/>
        </p:nvPicPr>
        <p:blipFill>
          <a:blip r:embed="rId5"/>
          <a:stretch>
            <a:fillRect/>
          </a:stretch>
        </p:blipFill>
        <p:spPr>
          <a:xfrm>
            <a:off x="2619756" y="5426964"/>
            <a:ext cx="118872" cy="118872"/>
          </a:xfrm>
          <a:prstGeom prst="rect">
            <a:avLst/>
          </a:prstGeom>
        </p:spPr>
      </p:pic>
      <p:sp>
        <p:nvSpPr>
          <p:cNvPr id="30" name="Shape 22"/>
          <p:cNvSpPr/>
          <p:nvPr/>
        </p:nvSpPr>
        <p:spPr>
          <a:xfrm>
            <a:off x="2852928" y="5212080"/>
            <a:ext cx="1965960" cy="548640"/>
          </a:xfrm>
          <a:prstGeom prst="roundRect">
            <a:avLst>
              <a:gd name="adj" fmla="val 50000"/>
            </a:avLst>
          </a:prstGeom>
          <a:solidFill>
            <a:schemeClr val="accent3"/>
          </a:solidFill>
          <a:ln w="12700">
            <a:solidFill>
              <a:schemeClr val="accent3"/>
            </a:solidFill>
            <a:prstDash val="solid"/>
          </a:ln>
        </p:spPr>
      </p:sp>
      <p:sp>
        <p:nvSpPr>
          <p:cNvPr id="31" name="Text 23"/>
          <p:cNvSpPr txBox="1"/>
          <p:nvPr/>
        </p:nvSpPr>
        <p:spPr>
          <a:xfrm>
            <a:off x="2852928" y="521208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CLI runner</a:t>
            </a:r>
            <a:endParaRPr lang="en-US" sz="1400" dirty="0"/>
          </a:p>
        </p:txBody>
      </p:sp>
      <p:sp>
        <p:nvSpPr>
          <p:cNvPr id="32" name="loop arrow 1"/>
          <p:cNvSpPr/>
          <p:nvPr/>
        </p:nvSpPr>
        <p:spPr>
          <a:xfrm>
            <a:off x="4864608" y="5367528"/>
            <a:ext cx="237744" cy="237744"/>
          </a:xfrm>
          <a:prstGeom prst="ellipse">
            <a:avLst/>
          </a:prstGeom>
          <a:solidFill>
            <a:schemeClr val="tx2"/>
          </a:solidFill>
          <a:ln w="12700">
            <a:solidFill>
              <a:schemeClr val="tx2"/>
            </a:solidFill>
            <a:prstDash val="solid"/>
          </a:ln>
        </p:spPr>
      </p:sp>
      <p:pic>
        <p:nvPicPr>
          <p:cNvPr id="33" name="Image 5" descr="icon">    </p:cNvPr>
          <p:cNvPicPr>
            <a:picLocks noChangeAspect="1"/>
          </p:cNvPicPr>
          <p:nvPr/>
        </p:nvPicPr>
        <p:blipFill>
          <a:blip r:embed="rId6"/>
          <a:stretch>
            <a:fillRect/>
          </a:stretch>
        </p:blipFill>
        <p:spPr>
          <a:xfrm>
            <a:off x="4924044" y="5426964"/>
            <a:ext cx="118872" cy="118872"/>
          </a:xfrm>
          <a:prstGeom prst="rect">
            <a:avLst/>
          </a:prstGeom>
        </p:spPr>
      </p:pic>
      <p:sp>
        <p:nvSpPr>
          <p:cNvPr id="34" name="Shape 25"/>
          <p:cNvSpPr/>
          <p:nvPr/>
        </p:nvSpPr>
        <p:spPr>
          <a:xfrm>
            <a:off x="5157216" y="5212080"/>
            <a:ext cx="1965960" cy="548640"/>
          </a:xfrm>
          <a:prstGeom prst="roundRect">
            <a:avLst>
              <a:gd name="adj" fmla="val 50000"/>
            </a:avLst>
          </a:prstGeom>
          <a:solidFill>
            <a:schemeClr val="accent2"/>
          </a:solidFill>
          <a:ln w="12700">
            <a:solidFill>
              <a:schemeClr val="accent2"/>
            </a:solidFill>
            <a:prstDash val="solid"/>
          </a:ln>
        </p:spPr>
      </p:sp>
      <p:sp>
        <p:nvSpPr>
          <p:cNvPr id="35" name="Text 26"/>
          <p:cNvSpPr txBox="1"/>
          <p:nvPr/>
        </p:nvSpPr>
        <p:spPr>
          <a:xfrm>
            <a:off x="5157216" y="521208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Ragas + custom metrics</a:t>
            </a:r>
            <a:endParaRPr lang="en-US" sz="1400" dirty="0"/>
          </a:p>
        </p:txBody>
      </p:sp>
      <p:sp>
        <p:nvSpPr>
          <p:cNvPr id="36" name="loop arrow 2"/>
          <p:cNvSpPr/>
          <p:nvPr/>
        </p:nvSpPr>
        <p:spPr>
          <a:xfrm>
            <a:off x="7168896" y="5367528"/>
            <a:ext cx="237744" cy="237744"/>
          </a:xfrm>
          <a:prstGeom prst="ellipse">
            <a:avLst/>
          </a:prstGeom>
          <a:solidFill>
            <a:schemeClr val="tx2"/>
          </a:solidFill>
          <a:ln w="12700">
            <a:solidFill>
              <a:schemeClr val="tx2"/>
            </a:solidFill>
            <a:prstDash val="solid"/>
          </a:ln>
        </p:spPr>
      </p:sp>
      <p:pic>
        <p:nvPicPr>
          <p:cNvPr id="37" name="Image 6" descr="icon">    </p:cNvPr>
          <p:cNvPicPr>
            <a:picLocks noChangeAspect="1"/>
          </p:cNvPicPr>
          <p:nvPr/>
        </p:nvPicPr>
        <p:blipFill>
          <a:blip r:embed="rId7"/>
          <a:stretch>
            <a:fillRect/>
          </a:stretch>
        </p:blipFill>
        <p:spPr>
          <a:xfrm>
            <a:off x="7228332" y="5426964"/>
            <a:ext cx="118872" cy="118872"/>
          </a:xfrm>
          <a:prstGeom prst="rect">
            <a:avLst/>
          </a:prstGeom>
        </p:spPr>
      </p:pic>
      <p:sp>
        <p:nvSpPr>
          <p:cNvPr id="38" name="Shape 28"/>
          <p:cNvSpPr/>
          <p:nvPr/>
        </p:nvSpPr>
        <p:spPr>
          <a:xfrm>
            <a:off x="7461504" y="5212080"/>
            <a:ext cx="1965960" cy="548640"/>
          </a:xfrm>
          <a:prstGeom prst="roundRect">
            <a:avLst>
              <a:gd name="adj" fmla="val 50000"/>
            </a:avLst>
          </a:prstGeom>
          <a:solidFill>
            <a:schemeClr val="accent5"/>
          </a:solidFill>
          <a:ln w="12700">
            <a:solidFill>
              <a:schemeClr val="accent5"/>
            </a:solidFill>
            <a:prstDash val="solid"/>
          </a:ln>
        </p:spPr>
      </p:sp>
      <p:sp>
        <p:nvSpPr>
          <p:cNvPr id="39" name="Text 29"/>
          <p:cNvSpPr txBox="1"/>
          <p:nvPr/>
        </p:nvSpPr>
        <p:spPr>
          <a:xfrm>
            <a:off x="7461504" y="521208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Thresholds</a:t>
            </a:r>
            <a:endParaRPr lang="en-US" sz="1400" dirty="0"/>
          </a:p>
        </p:txBody>
      </p:sp>
      <p:sp>
        <p:nvSpPr>
          <p:cNvPr id="40" name="loop arrow 3"/>
          <p:cNvSpPr/>
          <p:nvPr/>
        </p:nvSpPr>
        <p:spPr>
          <a:xfrm>
            <a:off x="9473184" y="5367528"/>
            <a:ext cx="237744" cy="237744"/>
          </a:xfrm>
          <a:prstGeom prst="ellipse">
            <a:avLst/>
          </a:prstGeom>
          <a:solidFill>
            <a:schemeClr val="tx2"/>
          </a:solidFill>
          <a:ln w="12700">
            <a:solidFill>
              <a:schemeClr val="tx2"/>
            </a:solidFill>
            <a:prstDash val="solid"/>
          </a:ln>
        </p:spPr>
      </p:sp>
      <p:pic>
        <p:nvPicPr>
          <p:cNvPr id="41" name="Image 7" descr="icon">    </p:cNvPr>
          <p:cNvPicPr>
            <a:picLocks noChangeAspect="1"/>
          </p:cNvPicPr>
          <p:nvPr/>
        </p:nvPicPr>
        <p:blipFill>
          <a:blip r:embed="rId8"/>
          <a:stretch>
            <a:fillRect/>
          </a:stretch>
        </p:blipFill>
        <p:spPr>
          <a:xfrm>
            <a:off x="9532620" y="5426964"/>
            <a:ext cx="118872" cy="118872"/>
          </a:xfrm>
          <a:prstGeom prst="rect">
            <a:avLst/>
          </a:prstGeom>
        </p:spPr>
      </p:pic>
      <p:sp>
        <p:nvSpPr>
          <p:cNvPr id="42" name="Shape 31"/>
          <p:cNvSpPr/>
          <p:nvPr/>
        </p:nvSpPr>
        <p:spPr>
          <a:xfrm>
            <a:off x="9765792" y="5212080"/>
            <a:ext cx="1965960" cy="548640"/>
          </a:xfrm>
          <a:prstGeom prst="roundRect">
            <a:avLst>
              <a:gd name="adj" fmla="val 50000"/>
            </a:avLst>
          </a:prstGeom>
          <a:solidFill>
            <a:schemeClr val="accent4"/>
          </a:solidFill>
          <a:ln w="12700">
            <a:solidFill>
              <a:schemeClr val="accent4"/>
            </a:solidFill>
            <a:prstDash val="solid"/>
          </a:ln>
        </p:spPr>
      </p:sp>
      <p:sp>
        <p:nvSpPr>
          <p:cNvPr id="43" name="Text 32"/>
          <p:cNvSpPr txBox="1"/>
          <p:nvPr/>
        </p:nvSpPr>
        <p:spPr>
          <a:xfrm>
            <a:off x="9765792" y="521208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Email / Slack alert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Observability &amp; Deployment</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Text 2"/>
          <p:cNvSpPr txBox="1"/>
          <p:nvPr/>
        </p:nvSpPr>
        <p:spPr>
          <a:xfrm>
            <a:off x="548640" y="1417320"/>
            <a:ext cx="5394960" cy="320040"/>
          </a:xfrm>
          <a:prstGeom prst="rect">
            <a:avLst/>
          </a:prstGeom>
          <a:noFill/>
          <a:ln/>
        </p:spPr>
        <p:txBody>
          <a:bodyPr wrap="square" lIns="0" tIns="0" rIns="0" bIns="0" rtlCol="0" anchor="t"/>
          <a:lstStyle/>
          <a:p>
            <a:pPr indent="0" marL="0">
              <a:buNone/>
            </a:pPr>
            <a:r>
              <a:rPr lang="en-US" sz="1800" b="1" dirty="0">
                <a:solidFill>
                  <a:schemeClr val="accent5"/>
                </a:solidFill>
              </a:rPr>
              <a:t>Observability &amp; Monitoring</a:t>
            </a:r>
            <a:endParaRPr lang="en-US" sz="1800" dirty="0"/>
          </a:p>
        </p:txBody>
      </p:sp>
      <p:sp>
        <p:nvSpPr>
          <p:cNvPr id="6" name="Text 3"/>
          <p:cNvSpPr txBox="1"/>
          <p:nvPr/>
        </p:nvSpPr>
        <p:spPr>
          <a:xfrm>
            <a:off x="6245352" y="1417320"/>
            <a:ext cx="5394960" cy="320040"/>
          </a:xfrm>
          <a:prstGeom prst="rect">
            <a:avLst/>
          </a:prstGeom>
          <a:noFill/>
          <a:ln/>
        </p:spPr>
        <p:txBody>
          <a:bodyPr wrap="square" lIns="0" tIns="0" rIns="0" bIns="0" rtlCol="0" anchor="t"/>
          <a:lstStyle/>
          <a:p>
            <a:pPr indent="0" marL="0">
              <a:buNone/>
            </a:pPr>
            <a:r>
              <a:rPr lang="en-US" sz="1800" b="1" dirty="0">
                <a:solidFill>
                  <a:schemeClr val="accent3"/>
                </a:solidFill>
              </a:rPr>
              <a:t>Deployment &amp; Infrastructure</a:t>
            </a:r>
            <a:endParaRPr lang="en-US" sz="1800" dirty="0"/>
          </a:p>
        </p:txBody>
      </p:sp>
      <p:sp>
        <p:nvSpPr>
          <p:cNvPr id="7" name="card Structured Logging"/>
          <p:cNvSpPr/>
          <p:nvPr/>
        </p:nvSpPr>
        <p:spPr>
          <a:xfrm>
            <a:off x="548640" y="187452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icon Structured Logging"/>
          <p:cNvSpPr/>
          <p:nvPr/>
        </p:nvSpPr>
        <p:spPr>
          <a:xfrm>
            <a:off x="731520" y="2057400"/>
            <a:ext cx="475488" cy="475488"/>
          </a:xfrm>
          <a:prstGeom prst="ellipse">
            <a:avLst/>
          </a:prstGeom>
          <a:solidFill>
            <a:schemeClr val="accent5"/>
          </a:solidFill>
          <a:ln w="12700">
            <a:solidFill>
              <a:schemeClr val="accent5"/>
            </a:solidFill>
            <a:prstDash val="solid"/>
          </a:ln>
        </p:spPr>
      </p:sp>
      <p:pic>
        <p:nvPicPr>
          <p:cNvPr id="9" name="Image 0" descr="icon">    </p:cNvPr>
          <p:cNvPicPr>
            <a:picLocks noChangeAspect="1"/>
          </p:cNvPicPr>
          <p:nvPr/>
        </p:nvPicPr>
        <p:blipFill>
          <a:blip r:embed="rId1"/>
          <a:stretch>
            <a:fillRect/>
          </a:stretch>
        </p:blipFill>
        <p:spPr>
          <a:xfrm>
            <a:off x="850392" y="2176272"/>
            <a:ext cx="237744" cy="237744"/>
          </a:xfrm>
          <a:prstGeom prst="rect">
            <a:avLst/>
          </a:prstGeom>
        </p:spPr>
      </p:pic>
      <p:sp>
        <p:nvSpPr>
          <p:cNvPr id="10" name="Text 6"/>
          <p:cNvSpPr txBox="1"/>
          <p:nvPr/>
        </p:nvSpPr>
        <p:spPr>
          <a:xfrm>
            <a:off x="1353312" y="202996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Structured Logging</a:t>
            </a:r>
            <a:endParaRPr lang="en-US" sz="1500" dirty="0"/>
          </a:p>
        </p:txBody>
      </p:sp>
      <p:sp>
        <p:nvSpPr>
          <p:cNvPr id="11" name="Text 7"/>
          <p:cNvSpPr txBox="1"/>
          <p:nvPr/>
        </p:nvSpPr>
        <p:spPr>
          <a:xfrm>
            <a:off x="777240" y="269748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request_id, run_id</a:t>
            </a:r>
            <a:endParaRPr lang="en-US" sz="1300" dirty="0"/>
          </a:p>
          <a:p>
            <a:pPr marL="177800" indent="-177800">
              <a:spcAft>
                <a:spcPts val="400"/>
              </a:spcAft>
              <a:buSzPct val="100000"/>
              <a:buChar char="•"/>
            </a:pPr>
            <a:r>
              <a:rPr lang="en-US" sz="1300" dirty="0">
                <a:solidFill>
                  <a:schemeClr val="tx1"/>
                </a:solidFill>
              </a:rPr>
              <a:t>user_id, project_id, timings</a:t>
            </a:r>
            <a:endParaRPr lang="en-US" sz="1300" dirty="0"/>
          </a:p>
        </p:txBody>
      </p:sp>
      <p:sp>
        <p:nvSpPr>
          <p:cNvPr id="12" name="card Health Checks"/>
          <p:cNvSpPr/>
          <p:nvPr/>
        </p:nvSpPr>
        <p:spPr>
          <a:xfrm>
            <a:off x="3360420" y="187452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icon Health Checks"/>
          <p:cNvSpPr/>
          <p:nvPr/>
        </p:nvSpPr>
        <p:spPr>
          <a:xfrm>
            <a:off x="3543300" y="2057400"/>
            <a:ext cx="475488" cy="475488"/>
          </a:xfrm>
          <a:prstGeom prst="ellipse">
            <a:avLst/>
          </a:prstGeom>
          <a:solidFill>
            <a:schemeClr val="accent5"/>
          </a:solidFill>
          <a:ln w="12700">
            <a:solidFill>
              <a:schemeClr val="accent5"/>
            </a:solidFill>
            <a:prstDash val="solid"/>
          </a:ln>
        </p:spPr>
      </p:sp>
      <p:pic>
        <p:nvPicPr>
          <p:cNvPr id="14" name="Image 1" descr="icon">    </p:cNvPr>
          <p:cNvPicPr>
            <a:picLocks noChangeAspect="1"/>
          </p:cNvPicPr>
          <p:nvPr/>
        </p:nvPicPr>
        <p:blipFill>
          <a:blip r:embed="rId2"/>
          <a:stretch>
            <a:fillRect/>
          </a:stretch>
        </p:blipFill>
        <p:spPr>
          <a:xfrm>
            <a:off x="3662172" y="2176272"/>
            <a:ext cx="237744" cy="237744"/>
          </a:xfrm>
          <a:prstGeom prst="rect">
            <a:avLst/>
          </a:prstGeom>
        </p:spPr>
      </p:pic>
      <p:sp>
        <p:nvSpPr>
          <p:cNvPr id="15" name="Text 10"/>
          <p:cNvSpPr txBox="1"/>
          <p:nvPr/>
        </p:nvSpPr>
        <p:spPr>
          <a:xfrm>
            <a:off x="4165092" y="202996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Health Checks</a:t>
            </a:r>
            <a:endParaRPr lang="en-US" sz="1500" dirty="0"/>
          </a:p>
        </p:txBody>
      </p:sp>
      <p:sp>
        <p:nvSpPr>
          <p:cNvPr id="16" name="Text 11"/>
          <p:cNvSpPr txBox="1"/>
          <p:nvPr/>
        </p:nvSpPr>
        <p:spPr>
          <a:xfrm>
            <a:off x="3589020" y="269748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DB, pgvector</a:t>
            </a:r>
            <a:endParaRPr lang="en-US" sz="1300" dirty="0"/>
          </a:p>
          <a:p>
            <a:pPr marL="177800" indent="-177800">
              <a:spcAft>
                <a:spcPts val="400"/>
              </a:spcAft>
              <a:buSzPct val="100000"/>
              <a:buChar char="•"/>
            </a:pPr>
            <a:r>
              <a:rPr lang="en-US" sz="1300" dirty="0">
                <a:solidFill>
                  <a:schemeClr val="tx1"/>
                </a:solidFill>
              </a:rPr>
              <a:t>Ollama, models, queue</a:t>
            </a:r>
            <a:endParaRPr lang="en-US" sz="1300" dirty="0"/>
          </a:p>
        </p:txBody>
      </p:sp>
      <p:sp>
        <p:nvSpPr>
          <p:cNvPr id="17" name="card Metrics"/>
          <p:cNvSpPr/>
          <p:nvPr/>
        </p:nvSpPr>
        <p:spPr>
          <a:xfrm>
            <a:off x="548640" y="409194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icon Metrics"/>
          <p:cNvSpPr/>
          <p:nvPr/>
        </p:nvSpPr>
        <p:spPr>
          <a:xfrm>
            <a:off x="731520" y="4274820"/>
            <a:ext cx="475488" cy="475488"/>
          </a:xfrm>
          <a:prstGeom prst="ellipse">
            <a:avLst/>
          </a:prstGeom>
          <a:solidFill>
            <a:schemeClr val="accent5"/>
          </a:solidFill>
          <a:ln w="12700">
            <a:solidFill>
              <a:schemeClr val="accent5"/>
            </a:solidFill>
            <a:prstDash val="solid"/>
          </a:ln>
        </p:spPr>
      </p:sp>
      <p:pic>
        <p:nvPicPr>
          <p:cNvPr id="19" name="Image 2" descr="icon">    </p:cNvPr>
          <p:cNvPicPr>
            <a:picLocks noChangeAspect="1"/>
          </p:cNvPicPr>
          <p:nvPr/>
        </p:nvPicPr>
        <p:blipFill>
          <a:blip r:embed="rId3"/>
          <a:stretch>
            <a:fillRect/>
          </a:stretch>
        </p:blipFill>
        <p:spPr>
          <a:xfrm>
            <a:off x="850392" y="4393692"/>
            <a:ext cx="237744" cy="237744"/>
          </a:xfrm>
          <a:prstGeom prst="rect">
            <a:avLst/>
          </a:prstGeom>
        </p:spPr>
      </p:pic>
      <p:sp>
        <p:nvSpPr>
          <p:cNvPr id="20" name="Text 14"/>
          <p:cNvSpPr txBox="1"/>
          <p:nvPr/>
        </p:nvSpPr>
        <p:spPr>
          <a:xfrm>
            <a:off x="1353312" y="424738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Metrics</a:t>
            </a:r>
            <a:endParaRPr lang="en-US" sz="1500" dirty="0"/>
          </a:p>
        </p:txBody>
      </p:sp>
      <p:sp>
        <p:nvSpPr>
          <p:cNvPr id="21" name="Text 15"/>
          <p:cNvSpPr txBox="1"/>
          <p:nvPr/>
        </p:nvSpPr>
        <p:spPr>
          <a:xfrm>
            <a:off x="777240" y="491490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Latency, error rates</a:t>
            </a:r>
            <a:endParaRPr lang="en-US" sz="1300" dirty="0"/>
          </a:p>
          <a:p>
            <a:pPr marL="177800" indent="-177800">
              <a:spcAft>
                <a:spcPts val="400"/>
              </a:spcAft>
              <a:buSzPct val="100000"/>
              <a:buChar char="•"/>
            </a:pPr>
            <a:r>
              <a:rPr lang="en-US" sz="1300" dirty="0">
                <a:solidFill>
                  <a:schemeClr val="tx1"/>
                </a:solidFill>
              </a:rPr>
              <a:t>Tokens, throughput</a:t>
            </a:r>
            <a:endParaRPr lang="en-US" sz="1300" dirty="0"/>
          </a:p>
        </p:txBody>
      </p:sp>
      <p:sp>
        <p:nvSpPr>
          <p:cNvPr id="22" name="card Alerts"/>
          <p:cNvSpPr/>
          <p:nvPr/>
        </p:nvSpPr>
        <p:spPr>
          <a:xfrm>
            <a:off x="3360420" y="409194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icon Alerts"/>
          <p:cNvSpPr/>
          <p:nvPr/>
        </p:nvSpPr>
        <p:spPr>
          <a:xfrm>
            <a:off x="3543300" y="4274820"/>
            <a:ext cx="475488" cy="475488"/>
          </a:xfrm>
          <a:prstGeom prst="ellipse">
            <a:avLst/>
          </a:prstGeom>
          <a:solidFill>
            <a:schemeClr val="accent5"/>
          </a:solidFill>
          <a:ln w="12700">
            <a:solidFill>
              <a:schemeClr val="accent5"/>
            </a:solidFill>
            <a:prstDash val="solid"/>
          </a:ln>
        </p:spPr>
      </p:sp>
      <p:pic>
        <p:nvPicPr>
          <p:cNvPr id="24" name="Image 3" descr="icon">    </p:cNvPr>
          <p:cNvPicPr>
            <a:picLocks noChangeAspect="1"/>
          </p:cNvPicPr>
          <p:nvPr/>
        </p:nvPicPr>
        <p:blipFill>
          <a:blip r:embed="rId4"/>
          <a:stretch>
            <a:fillRect/>
          </a:stretch>
        </p:blipFill>
        <p:spPr>
          <a:xfrm>
            <a:off x="3662172" y="4393692"/>
            <a:ext cx="237744" cy="237744"/>
          </a:xfrm>
          <a:prstGeom prst="rect">
            <a:avLst/>
          </a:prstGeom>
        </p:spPr>
      </p:pic>
      <p:sp>
        <p:nvSpPr>
          <p:cNvPr id="25" name="Text 18"/>
          <p:cNvSpPr txBox="1"/>
          <p:nvPr/>
        </p:nvSpPr>
        <p:spPr>
          <a:xfrm>
            <a:off x="4165092" y="424738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Alerts</a:t>
            </a:r>
            <a:endParaRPr lang="en-US" sz="1500" dirty="0"/>
          </a:p>
        </p:txBody>
      </p:sp>
      <p:sp>
        <p:nvSpPr>
          <p:cNvPr id="26" name="Text 19"/>
          <p:cNvSpPr txBox="1"/>
          <p:nvPr/>
        </p:nvSpPr>
        <p:spPr>
          <a:xfrm>
            <a:off x="3589020" y="491490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Email / Slack</a:t>
            </a:r>
            <a:endParaRPr lang="en-US" sz="1300" dirty="0"/>
          </a:p>
          <a:p>
            <a:pPr marL="177800" indent="-177800">
              <a:spcAft>
                <a:spcPts val="400"/>
              </a:spcAft>
              <a:buSzPct val="100000"/>
              <a:buChar char="•"/>
            </a:pPr>
            <a:r>
              <a:rPr lang="en-US" sz="1300" dirty="0">
                <a:solidFill>
                  <a:schemeClr val="tx1"/>
                </a:solidFill>
              </a:rPr>
              <a:t>Thresholds, Grafana</a:t>
            </a:r>
            <a:endParaRPr lang="en-US" sz="1300" dirty="0"/>
          </a:p>
        </p:txBody>
      </p:sp>
      <p:sp>
        <p:nvSpPr>
          <p:cNvPr id="27" name="card Docker Compose"/>
          <p:cNvSpPr/>
          <p:nvPr/>
        </p:nvSpPr>
        <p:spPr>
          <a:xfrm>
            <a:off x="6245352" y="187452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icon Docker Compose"/>
          <p:cNvSpPr/>
          <p:nvPr/>
        </p:nvSpPr>
        <p:spPr>
          <a:xfrm>
            <a:off x="6428232" y="2057400"/>
            <a:ext cx="475488" cy="475488"/>
          </a:xfrm>
          <a:prstGeom prst="ellipse">
            <a:avLst/>
          </a:prstGeom>
          <a:solidFill>
            <a:schemeClr val="accent3"/>
          </a:solidFill>
          <a:ln w="12700">
            <a:solidFill>
              <a:schemeClr val="accent3"/>
            </a:solidFill>
            <a:prstDash val="solid"/>
          </a:ln>
        </p:spPr>
      </p:sp>
      <p:pic>
        <p:nvPicPr>
          <p:cNvPr id="29" name="Image 4" descr="icon">    </p:cNvPr>
          <p:cNvPicPr>
            <a:picLocks noChangeAspect="1"/>
          </p:cNvPicPr>
          <p:nvPr/>
        </p:nvPicPr>
        <p:blipFill>
          <a:blip r:embed="rId5"/>
          <a:stretch>
            <a:fillRect/>
          </a:stretch>
        </p:blipFill>
        <p:spPr>
          <a:xfrm>
            <a:off x="6547104" y="2176272"/>
            <a:ext cx="237744" cy="237744"/>
          </a:xfrm>
          <a:prstGeom prst="rect">
            <a:avLst/>
          </a:prstGeom>
        </p:spPr>
      </p:pic>
      <p:sp>
        <p:nvSpPr>
          <p:cNvPr id="30" name="Text 22"/>
          <p:cNvSpPr txBox="1"/>
          <p:nvPr/>
        </p:nvSpPr>
        <p:spPr>
          <a:xfrm>
            <a:off x="7050024" y="202996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Docker Compose</a:t>
            </a:r>
            <a:endParaRPr lang="en-US" sz="1500" dirty="0"/>
          </a:p>
        </p:txBody>
      </p:sp>
      <p:sp>
        <p:nvSpPr>
          <p:cNvPr id="31" name="Text 23"/>
          <p:cNvSpPr txBox="1"/>
          <p:nvPr/>
        </p:nvSpPr>
        <p:spPr>
          <a:xfrm>
            <a:off x="6473952" y="269748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PostgreSQL + pgvector</a:t>
            </a:r>
            <a:endParaRPr lang="en-US" sz="1300" dirty="0"/>
          </a:p>
          <a:p>
            <a:pPr marL="177800" indent="-177800">
              <a:spcAft>
                <a:spcPts val="400"/>
              </a:spcAft>
              <a:buSzPct val="100000"/>
              <a:buChar char="•"/>
            </a:pPr>
            <a:r>
              <a:rPr lang="en-US" sz="1300" dirty="0">
                <a:solidFill>
                  <a:schemeClr val="tx1"/>
                </a:solidFill>
              </a:rPr>
              <a:t>Ollama + models</a:t>
            </a:r>
            <a:endParaRPr lang="en-US" sz="1300" dirty="0"/>
          </a:p>
          <a:p>
            <a:pPr marL="177800" indent="-177800">
              <a:spcAft>
                <a:spcPts val="400"/>
              </a:spcAft>
              <a:buSzPct val="100000"/>
              <a:buChar char="•"/>
            </a:pPr>
            <a:r>
              <a:rPr lang="en-US" sz="1300" dirty="0">
                <a:solidFill>
                  <a:schemeClr val="tx1"/>
                </a:solidFill>
              </a:rPr>
              <a:t>Backend + Frontend</a:t>
            </a:r>
            <a:endParaRPr lang="en-US" sz="1300" dirty="0"/>
          </a:p>
        </p:txBody>
      </p:sp>
      <p:sp>
        <p:nvSpPr>
          <p:cNvPr id="32" name="card CI/CD"/>
          <p:cNvSpPr/>
          <p:nvPr/>
        </p:nvSpPr>
        <p:spPr>
          <a:xfrm>
            <a:off x="9057132" y="187452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3" name="icon CI/CD"/>
          <p:cNvSpPr/>
          <p:nvPr/>
        </p:nvSpPr>
        <p:spPr>
          <a:xfrm>
            <a:off x="9240012" y="2057400"/>
            <a:ext cx="475488" cy="475488"/>
          </a:xfrm>
          <a:prstGeom prst="ellipse">
            <a:avLst/>
          </a:prstGeom>
          <a:solidFill>
            <a:schemeClr val="accent3"/>
          </a:solidFill>
          <a:ln w="12700">
            <a:solidFill>
              <a:schemeClr val="accent3"/>
            </a:solidFill>
            <a:prstDash val="solid"/>
          </a:ln>
        </p:spPr>
      </p:sp>
      <p:pic>
        <p:nvPicPr>
          <p:cNvPr id="34" name="Image 5" descr="icon">    </p:cNvPr>
          <p:cNvPicPr>
            <a:picLocks noChangeAspect="1"/>
          </p:cNvPicPr>
          <p:nvPr/>
        </p:nvPicPr>
        <p:blipFill>
          <a:blip r:embed="rId6"/>
          <a:stretch>
            <a:fillRect/>
          </a:stretch>
        </p:blipFill>
        <p:spPr>
          <a:xfrm>
            <a:off x="9358884" y="2176272"/>
            <a:ext cx="237744" cy="237744"/>
          </a:xfrm>
          <a:prstGeom prst="rect">
            <a:avLst/>
          </a:prstGeom>
        </p:spPr>
      </p:pic>
      <p:sp>
        <p:nvSpPr>
          <p:cNvPr id="35" name="Text 26"/>
          <p:cNvSpPr txBox="1"/>
          <p:nvPr/>
        </p:nvSpPr>
        <p:spPr>
          <a:xfrm>
            <a:off x="9861804" y="202996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CI/CD</a:t>
            </a:r>
            <a:endParaRPr lang="en-US" sz="1500" dirty="0"/>
          </a:p>
        </p:txBody>
      </p:sp>
      <p:sp>
        <p:nvSpPr>
          <p:cNvPr id="36" name="Text 27"/>
          <p:cNvSpPr txBox="1"/>
          <p:nvPr/>
        </p:nvSpPr>
        <p:spPr>
          <a:xfrm>
            <a:off x="9285732" y="269748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GitHub Actions</a:t>
            </a:r>
            <a:endParaRPr lang="en-US" sz="1300" dirty="0"/>
          </a:p>
          <a:p>
            <a:pPr marL="177800" indent="-177800">
              <a:spcAft>
                <a:spcPts val="400"/>
              </a:spcAft>
              <a:buSzPct val="100000"/>
              <a:buChar char="•"/>
            </a:pPr>
            <a:r>
              <a:rPr lang="en-US" sz="1300" dirty="0">
                <a:solidFill>
                  <a:schemeClr val="tx1"/>
                </a:solidFill>
              </a:rPr>
              <a:t>Tests + build, scan</a:t>
            </a:r>
            <a:endParaRPr lang="en-US" sz="1300" dirty="0"/>
          </a:p>
          <a:p>
            <a:pPr marL="177800" indent="-177800">
              <a:spcAft>
                <a:spcPts val="400"/>
              </a:spcAft>
              <a:buSzPct val="100000"/>
              <a:buChar char="•"/>
            </a:pPr>
            <a:r>
              <a:rPr lang="en-US" sz="1300" dirty="0">
                <a:solidFill>
                  <a:schemeClr val="tx1"/>
                </a:solidFill>
              </a:rPr>
              <a:t>Deploy</a:t>
            </a:r>
            <a:endParaRPr lang="en-US" sz="1300" dirty="0"/>
          </a:p>
        </p:txBody>
      </p:sp>
      <p:sp>
        <p:nvSpPr>
          <p:cNvPr id="37" name="card Monitoring"/>
          <p:cNvSpPr/>
          <p:nvPr/>
        </p:nvSpPr>
        <p:spPr>
          <a:xfrm>
            <a:off x="6245352" y="409194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8" name="icon Monitoring"/>
          <p:cNvSpPr/>
          <p:nvPr/>
        </p:nvSpPr>
        <p:spPr>
          <a:xfrm>
            <a:off x="6428232" y="4274820"/>
            <a:ext cx="475488" cy="475488"/>
          </a:xfrm>
          <a:prstGeom prst="ellipse">
            <a:avLst/>
          </a:prstGeom>
          <a:solidFill>
            <a:schemeClr val="accent3"/>
          </a:solidFill>
          <a:ln w="12700">
            <a:solidFill>
              <a:schemeClr val="accent3"/>
            </a:solidFill>
            <a:prstDash val="solid"/>
          </a:ln>
        </p:spPr>
      </p:sp>
      <p:pic>
        <p:nvPicPr>
          <p:cNvPr id="39" name="Image 6" descr="icon">    </p:cNvPr>
          <p:cNvPicPr>
            <a:picLocks noChangeAspect="1"/>
          </p:cNvPicPr>
          <p:nvPr/>
        </p:nvPicPr>
        <p:blipFill>
          <a:blip r:embed="rId7"/>
          <a:stretch>
            <a:fillRect/>
          </a:stretch>
        </p:blipFill>
        <p:spPr>
          <a:xfrm>
            <a:off x="6547104" y="4393692"/>
            <a:ext cx="237744" cy="237744"/>
          </a:xfrm>
          <a:prstGeom prst="rect">
            <a:avLst/>
          </a:prstGeom>
        </p:spPr>
      </p:pic>
      <p:sp>
        <p:nvSpPr>
          <p:cNvPr id="40" name="Text 30"/>
          <p:cNvSpPr txBox="1"/>
          <p:nvPr/>
        </p:nvSpPr>
        <p:spPr>
          <a:xfrm>
            <a:off x="7050024" y="424738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Monitoring</a:t>
            </a:r>
            <a:endParaRPr lang="en-US" sz="1500" dirty="0"/>
          </a:p>
        </p:txBody>
      </p:sp>
      <p:sp>
        <p:nvSpPr>
          <p:cNvPr id="41" name="Text 31"/>
          <p:cNvSpPr txBox="1"/>
          <p:nvPr/>
        </p:nvSpPr>
        <p:spPr>
          <a:xfrm>
            <a:off x="6473952" y="491490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Prometheus + Grafana</a:t>
            </a:r>
            <a:endParaRPr lang="en-US" sz="1300" dirty="0"/>
          </a:p>
          <a:p>
            <a:pPr marL="177800" indent="-177800">
              <a:spcAft>
                <a:spcPts val="400"/>
              </a:spcAft>
              <a:buSzPct val="100000"/>
              <a:buChar char="•"/>
            </a:pPr>
            <a:r>
              <a:rPr lang="en-US" sz="1300" dirty="0">
                <a:solidFill>
                  <a:schemeClr val="tx1"/>
                </a:solidFill>
              </a:rPr>
              <a:t>Logs (Loki)</a:t>
            </a:r>
            <a:endParaRPr lang="en-US" sz="1300" dirty="0"/>
          </a:p>
          <a:p>
            <a:pPr marL="177800" indent="-177800">
              <a:spcAft>
                <a:spcPts val="400"/>
              </a:spcAft>
              <a:buSzPct val="100000"/>
              <a:buChar char="•"/>
            </a:pPr>
            <a:r>
              <a:rPr lang="en-US" sz="1300" dirty="0">
                <a:solidFill>
                  <a:schemeClr val="tx1"/>
                </a:solidFill>
              </a:rPr>
              <a:t>Tracing (optional)</a:t>
            </a:r>
            <a:endParaRPr lang="en-US" sz="1300" dirty="0"/>
          </a:p>
        </p:txBody>
      </p:sp>
      <p:sp>
        <p:nvSpPr>
          <p:cNvPr id="42" name="card Secrets"/>
          <p:cNvSpPr/>
          <p:nvPr/>
        </p:nvSpPr>
        <p:spPr>
          <a:xfrm>
            <a:off x="9057132" y="4091940"/>
            <a:ext cx="2583180" cy="1988820"/>
          </a:xfrm>
          <a:prstGeom prst="roundRect">
            <a:avLst>
              <a:gd name="adj" fmla="val 45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3" name="icon Secrets"/>
          <p:cNvSpPr/>
          <p:nvPr/>
        </p:nvSpPr>
        <p:spPr>
          <a:xfrm>
            <a:off x="9240012" y="4274820"/>
            <a:ext cx="475488" cy="475488"/>
          </a:xfrm>
          <a:prstGeom prst="ellipse">
            <a:avLst/>
          </a:prstGeom>
          <a:solidFill>
            <a:schemeClr val="accent3"/>
          </a:solidFill>
          <a:ln w="12700">
            <a:solidFill>
              <a:schemeClr val="accent3"/>
            </a:solidFill>
            <a:prstDash val="solid"/>
          </a:ln>
        </p:spPr>
      </p:sp>
      <p:pic>
        <p:nvPicPr>
          <p:cNvPr id="44" name="Image 7" descr="icon">    </p:cNvPr>
          <p:cNvPicPr>
            <a:picLocks noChangeAspect="1"/>
          </p:cNvPicPr>
          <p:nvPr/>
        </p:nvPicPr>
        <p:blipFill>
          <a:blip r:embed="rId8"/>
          <a:stretch>
            <a:fillRect/>
          </a:stretch>
        </p:blipFill>
        <p:spPr>
          <a:xfrm>
            <a:off x="9358884" y="4393692"/>
            <a:ext cx="237744" cy="237744"/>
          </a:xfrm>
          <a:prstGeom prst="rect">
            <a:avLst/>
          </a:prstGeom>
        </p:spPr>
      </p:pic>
      <p:sp>
        <p:nvSpPr>
          <p:cNvPr id="45" name="Text 34"/>
          <p:cNvSpPr txBox="1"/>
          <p:nvPr/>
        </p:nvSpPr>
        <p:spPr>
          <a:xfrm>
            <a:off x="9861804" y="4247388"/>
            <a:ext cx="1623060" cy="530352"/>
          </a:xfrm>
          <a:prstGeom prst="rect">
            <a:avLst/>
          </a:prstGeom>
          <a:noFill/>
          <a:ln/>
        </p:spPr>
        <p:txBody>
          <a:bodyPr wrap="square" lIns="0" tIns="0" rIns="0" bIns="0" rtlCol="0" anchor="ctr"/>
          <a:lstStyle/>
          <a:p>
            <a:pPr indent="0" marL="0">
              <a:buNone/>
            </a:pPr>
            <a:r>
              <a:rPr lang="en-US" sz="1500" b="1" dirty="0">
                <a:solidFill>
                  <a:schemeClr val="tx1"/>
                </a:solidFill>
              </a:rPr>
              <a:t>Secrets</a:t>
            </a:r>
            <a:endParaRPr lang="en-US" sz="1500" dirty="0"/>
          </a:p>
        </p:txBody>
      </p:sp>
      <p:sp>
        <p:nvSpPr>
          <p:cNvPr id="46" name="Text 35"/>
          <p:cNvSpPr txBox="1"/>
          <p:nvPr/>
        </p:nvSpPr>
        <p:spPr>
          <a:xfrm>
            <a:off x="9285732" y="4914900"/>
            <a:ext cx="2171700" cy="10744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Vault / .env</a:t>
            </a:r>
            <a:endParaRPr lang="en-US" sz="1300" dirty="0"/>
          </a:p>
          <a:p>
            <a:pPr marL="177800" indent="-177800">
              <a:spcAft>
                <a:spcPts val="400"/>
              </a:spcAft>
              <a:buSzPct val="100000"/>
              <a:buChar char="•"/>
            </a:pPr>
            <a:r>
              <a:rPr lang="en-US" sz="1300" dirty="0">
                <a:solidFill>
                  <a:schemeClr val="tx1"/>
                </a:solidFill>
              </a:rPr>
              <a:t>API keys, DB credentials</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End-to-End Data Flow</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Shape 2"/>
          <p:cNvSpPr/>
          <p:nvPr/>
        </p:nvSpPr>
        <p:spPr>
          <a:xfrm>
            <a:off x="548640" y="150876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flow User Input"/>
          <p:cNvSpPr/>
          <p:nvPr/>
        </p:nvSpPr>
        <p:spPr>
          <a:xfrm>
            <a:off x="1084326" y="1645920"/>
            <a:ext cx="548640" cy="54864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1221486" y="1783080"/>
            <a:ext cx="274320" cy="274320"/>
          </a:xfrm>
          <a:prstGeom prst="rect">
            <a:avLst/>
          </a:prstGeom>
        </p:spPr>
      </p:pic>
      <p:sp>
        <p:nvSpPr>
          <p:cNvPr id="8" name="Text 4"/>
          <p:cNvSpPr txBox="1"/>
          <p:nvPr/>
        </p:nvSpPr>
        <p:spPr>
          <a:xfrm>
            <a:off x="621792" y="228600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1. User Input</a:t>
            </a:r>
            <a:endParaRPr lang="en-US" sz="1400" dirty="0"/>
          </a:p>
        </p:txBody>
      </p:sp>
      <p:sp>
        <p:nvSpPr>
          <p:cNvPr id="9" name="Text 5"/>
          <p:cNvSpPr txBox="1"/>
          <p:nvPr/>
        </p:nvSpPr>
        <p:spPr>
          <a:xfrm>
            <a:off x="621792" y="283464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question + filters</a:t>
            </a:r>
            <a:endParaRPr lang="en-US" sz="1200" dirty="0"/>
          </a:p>
        </p:txBody>
      </p:sp>
      <p:sp>
        <p:nvSpPr>
          <p:cNvPr id="10" name="arrow 0"/>
          <p:cNvSpPr/>
          <p:nvPr/>
        </p:nvSpPr>
        <p:spPr>
          <a:xfrm>
            <a:off x="2186940" y="2286000"/>
            <a:ext cx="237744" cy="237744"/>
          </a:xfrm>
          <a:prstGeom prst="ellipse">
            <a:avLst/>
          </a:prstGeom>
          <a:solidFill>
            <a:schemeClr val="tx2"/>
          </a:solidFill>
          <a:ln w="12700">
            <a:solidFill>
              <a:schemeClr val="tx2"/>
            </a:solidFill>
            <a:prstDash val="solid"/>
          </a:ln>
        </p:spPr>
      </p:sp>
      <p:pic>
        <p:nvPicPr>
          <p:cNvPr id="11" name="Image 1" descr="icon">    </p:cNvPr>
          <p:cNvPicPr>
            <a:picLocks noChangeAspect="1"/>
          </p:cNvPicPr>
          <p:nvPr/>
        </p:nvPicPr>
        <p:blipFill>
          <a:blip r:embed="rId2"/>
          <a:stretch>
            <a:fillRect/>
          </a:stretch>
        </p:blipFill>
        <p:spPr>
          <a:xfrm>
            <a:off x="2246376" y="2345436"/>
            <a:ext cx="118872" cy="118872"/>
          </a:xfrm>
          <a:prstGeom prst="rect">
            <a:avLst/>
          </a:prstGeom>
        </p:spPr>
      </p:pic>
      <p:sp>
        <p:nvSpPr>
          <p:cNvPr id="12" name="Shape 7"/>
          <p:cNvSpPr/>
          <p:nvPr/>
        </p:nvSpPr>
        <p:spPr>
          <a:xfrm>
            <a:off x="2442972" y="150876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flow Source Ingestion"/>
          <p:cNvSpPr/>
          <p:nvPr/>
        </p:nvSpPr>
        <p:spPr>
          <a:xfrm>
            <a:off x="2978658" y="1645920"/>
            <a:ext cx="548640" cy="548640"/>
          </a:xfrm>
          <a:prstGeom prst="ellipse">
            <a:avLst/>
          </a:prstGeom>
          <a:solidFill>
            <a:schemeClr val="accent1"/>
          </a:solidFill>
          <a:ln w="12700">
            <a:solidFill>
              <a:schemeClr val="accent1"/>
            </a:solidFill>
            <a:prstDash val="solid"/>
          </a:ln>
        </p:spPr>
      </p:sp>
      <p:pic>
        <p:nvPicPr>
          <p:cNvPr id="14" name="Image 2" descr="icon">    </p:cNvPr>
          <p:cNvPicPr>
            <a:picLocks noChangeAspect="1"/>
          </p:cNvPicPr>
          <p:nvPr/>
        </p:nvPicPr>
        <p:blipFill>
          <a:blip r:embed="rId3"/>
          <a:stretch>
            <a:fillRect/>
          </a:stretch>
        </p:blipFill>
        <p:spPr>
          <a:xfrm>
            <a:off x="3115818" y="1783080"/>
            <a:ext cx="274320" cy="274320"/>
          </a:xfrm>
          <a:prstGeom prst="rect">
            <a:avLst/>
          </a:prstGeom>
        </p:spPr>
      </p:pic>
      <p:sp>
        <p:nvSpPr>
          <p:cNvPr id="15" name="Text 9"/>
          <p:cNvSpPr txBox="1"/>
          <p:nvPr/>
        </p:nvSpPr>
        <p:spPr>
          <a:xfrm>
            <a:off x="2516124" y="228600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2. Source Ingestion</a:t>
            </a:r>
            <a:endParaRPr lang="en-US" sz="1400" dirty="0"/>
          </a:p>
        </p:txBody>
      </p:sp>
      <p:sp>
        <p:nvSpPr>
          <p:cNvPr id="16" name="Text 10"/>
          <p:cNvSpPr txBox="1"/>
          <p:nvPr/>
        </p:nvSpPr>
        <p:spPr>
          <a:xfrm>
            <a:off x="2516124" y="283464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validated, registered</a:t>
            </a:r>
            <a:endParaRPr lang="en-US" sz="1200" dirty="0"/>
          </a:p>
        </p:txBody>
      </p:sp>
      <p:sp>
        <p:nvSpPr>
          <p:cNvPr id="17" name="arrow 1"/>
          <p:cNvSpPr/>
          <p:nvPr/>
        </p:nvSpPr>
        <p:spPr>
          <a:xfrm>
            <a:off x="4081272" y="2286000"/>
            <a:ext cx="237744" cy="237744"/>
          </a:xfrm>
          <a:prstGeom prst="ellipse">
            <a:avLst/>
          </a:prstGeom>
          <a:solidFill>
            <a:schemeClr val="tx2"/>
          </a:solidFill>
          <a:ln w="12700">
            <a:solidFill>
              <a:schemeClr val="tx2"/>
            </a:solidFill>
            <a:prstDash val="solid"/>
          </a:ln>
        </p:spPr>
      </p:sp>
      <p:pic>
        <p:nvPicPr>
          <p:cNvPr id="18" name="Image 3" descr="icon">    </p:cNvPr>
          <p:cNvPicPr>
            <a:picLocks noChangeAspect="1"/>
          </p:cNvPicPr>
          <p:nvPr/>
        </p:nvPicPr>
        <p:blipFill>
          <a:blip r:embed="rId4"/>
          <a:stretch>
            <a:fillRect/>
          </a:stretch>
        </p:blipFill>
        <p:spPr>
          <a:xfrm>
            <a:off x="4140708" y="2345436"/>
            <a:ext cx="118872" cy="118872"/>
          </a:xfrm>
          <a:prstGeom prst="rect">
            <a:avLst/>
          </a:prstGeom>
        </p:spPr>
      </p:pic>
      <p:sp>
        <p:nvSpPr>
          <p:cNvPr id="19" name="Shape 12"/>
          <p:cNvSpPr/>
          <p:nvPr/>
        </p:nvSpPr>
        <p:spPr>
          <a:xfrm>
            <a:off x="4337304" y="150876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flow Document Processing"/>
          <p:cNvSpPr/>
          <p:nvPr/>
        </p:nvSpPr>
        <p:spPr>
          <a:xfrm>
            <a:off x="4872990" y="1645920"/>
            <a:ext cx="548640" cy="548640"/>
          </a:xfrm>
          <a:prstGeom prst="ellipse">
            <a:avLst/>
          </a:prstGeom>
          <a:solidFill>
            <a:schemeClr val="accent1"/>
          </a:solidFill>
          <a:ln w="12700">
            <a:solidFill>
              <a:schemeClr val="accent1"/>
            </a:solidFill>
            <a:prstDash val="solid"/>
          </a:ln>
        </p:spPr>
      </p:sp>
      <p:pic>
        <p:nvPicPr>
          <p:cNvPr id="21" name="Image 4" descr="icon">    </p:cNvPr>
          <p:cNvPicPr>
            <a:picLocks noChangeAspect="1"/>
          </p:cNvPicPr>
          <p:nvPr/>
        </p:nvPicPr>
        <p:blipFill>
          <a:blip r:embed="rId5"/>
          <a:stretch>
            <a:fillRect/>
          </a:stretch>
        </p:blipFill>
        <p:spPr>
          <a:xfrm>
            <a:off x="5010150" y="1783080"/>
            <a:ext cx="274320" cy="274320"/>
          </a:xfrm>
          <a:prstGeom prst="rect">
            <a:avLst/>
          </a:prstGeom>
        </p:spPr>
      </p:pic>
      <p:sp>
        <p:nvSpPr>
          <p:cNvPr id="22" name="Text 14"/>
          <p:cNvSpPr txBox="1"/>
          <p:nvPr/>
        </p:nvSpPr>
        <p:spPr>
          <a:xfrm>
            <a:off x="4410456" y="228600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3. Document Processing</a:t>
            </a:r>
            <a:endParaRPr lang="en-US" sz="1400" dirty="0"/>
          </a:p>
        </p:txBody>
      </p:sp>
      <p:sp>
        <p:nvSpPr>
          <p:cNvPr id="23" name="Text 15"/>
          <p:cNvSpPr txBox="1"/>
          <p:nvPr/>
        </p:nvSpPr>
        <p:spPr>
          <a:xfrm>
            <a:off x="4410456" y="283464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Docling + LlamaIndex</a:t>
            </a:r>
            <a:endParaRPr lang="en-US" sz="1200" dirty="0"/>
          </a:p>
        </p:txBody>
      </p:sp>
      <p:sp>
        <p:nvSpPr>
          <p:cNvPr id="24" name="arrow 2"/>
          <p:cNvSpPr/>
          <p:nvPr/>
        </p:nvSpPr>
        <p:spPr>
          <a:xfrm>
            <a:off x="5975604" y="2286000"/>
            <a:ext cx="237744" cy="237744"/>
          </a:xfrm>
          <a:prstGeom prst="ellipse">
            <a:avLst/>
          </a:prstGeom>
          <a:solidFill>
            <a:schemeClr val="tx2"/>
          </a:solidFill>
          <a:ln w="12700">
            <a:solidFill>
              <a:schemeClr val="tx2"/>
            </a:solidFill>
            <a:prstDash val="solid"/>
          </a:ln>
        </p:spPr>
      </p:sp>
      <p:pic>
        <p:nvPicPr>
          <p:cNvPr id="25" name="Image 5" descr="icon">    </p:cNvPr>
          <p:cNvPicPr>
            <a:picLocks noChangeAspect="1"/>
          </p:cNvPicPr>
          <p:nvPr/>
        </p:nvPicPr>
        <p:blipFill>
          <a:blip r:embed="rId6"/>
          <a:stretch>
            <a:fillRect/>
          </a:stretch>
        </p:blipFill>
        <p:spPr>
          <a:xfrm>
            <a:off x="6035040" y="2345436"/>
            <a:ext cx="118872" cy="118872"/>
          </a:xfrm>
          <a:prstGeom prst="rect">
            <a:avLst/>
          </a:prstGeom>
        </p:spPr>
      </p:pic>
      <p:sp>
        <p:nvSpPr>
          <p:cNvPr id="26" name="Shape 17"/>
          <p:cNvSpPr/>
          <p:nvPr/>
        </p:nvSpPr>
        <p:spPr>
          <a:xfrm>
            <a:off x="6231636" y="150876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flow Embedding"/>
          <p:cNvSpPr/>
          <p:nvPr/>
        </p:nvSpPr>
        <p:spPr>
          <a:xfrm>
            <a:off x="6767322" y="1645920"/>
            <a:ext cx="548640" cy="548640"/>
          </a:xfrm>
          <a:prstGeom prst="ellipse">
            <a:avLst/>
          </a:prstGeom>
          <a:solidFill>
            <a:schemeClr val="accent1"/>
          </a:solidFill>
          <a:ln w="12700">
            <a:solidFill>
              <a:schemeClr val="accent1"/>
            </a:solidFill>
            <a:prstDash val="solid"/>
          </a:ln>
        </p:spPr>
      </p:sp>
      <p:pic>
        <p:nvPicPr>
          <p:cNvPr id="28" name="Image 6" descr="icon">    </p:cNvPr>
          <p:cNvPicPr>
            <a:picLocks noChangeAspect="1"/>
          </p:cNvPicPr>
          <p:nvPr/>
        </p:nvPicPr>
        <p:blipFill>
          <a:blip r:embed="rId7"/>
          <a:stretch>
            <a:fillRect/>
          </a:stretch>
        </p:blipFill>
        <p:spPr>
          <a:xfrm>
            <a:off x="6904482" y="1783080"/>
            <a:ext cx="274320" cy="274320"/>
          </a:xfrm>
          <a:prstGeom prst="rect">
            <a:avLst/>
          </a:prstGeom>
        </p:spPr>
      </p:pic>
      <p:sp>
        <p:nvSpPr>
          <p:cNvPr id="29" name="Text 19"/>
          <p:cNvSpPr txBox="1"/>
          <p:nvPr/>
        </p:nvSpPr>
        <p:spPr>
          <a:xfrm>
            <a:off x="6304788" y="228600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4. Embedding</a:t>
            </a:r>
            <a:endParaRPr lang="en-US" sz="1400" dirty="0"/>
          </a:p>
        </p:txBody>
      </p:sp>
      <p:sp>
        <p:nvSpPr>
          <p:cNvPr id="30" name="Text 20"/>
          <p:cNvSpPr txBox="1"/>
          <p:nvPr/>
        </p:nvSpPr>
        <p:spPr>
          <a:xfrm>
            <a:off x="6304788" y="283464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Qwen3 vectors</a:t>
            </a:r>
            <a:endParaRPr lang="en-US" sz="1200" dirty="0"/>
          </a:p>
        </p:txBody>
      </p:sp>
      <p:sp>
        <p:nvSpPr>
          <p:cNvPr id="31" name="arrow 3"/>
          <p:cNvSpPr/>
          <p:nvPr/>
        </p:nvSpPr>
        <p:spPr>
          <a:xfrm>
            <a:off x="7869936" y="2286000"/>
            <a:ext cx="237744" cy="237744"/>
          </a:xfrm>
          <a:prstGeom prst="ellipse">
            <a:avLst/>
          </a:prstGeom>
          <a:solidFill>
            <a:schemeClr val="tx2"/>
          </a:solidFill>
          <a:ln w="12700">
            <a:solidFill>
              <a:schemeClr val="tx2"/>
            </a:solidFill>
            <a:prstDash val="solid"/>
          </a:ln>
        </p:spPr>
      </p:sp>
      <p:pic>
        <p:nvPicPr>
          <p:cNvPr id="32" name="Image 7" descr="icon">    </p:cNvPr>
          <p:cNvPicPr>
            <a:picLocks noChangeAspect="1"/>
          </p:cNvPicPr>
          <p:nvPr/>
        </p:nvPicPr>
        <p:blipFill>
          <a:blip r:embed="rId8"/>
          <a:stretch>
            <a:fillRect/>
          </a:stretch>
        </p:blipFill>
        <p:spPr>
          <a:xfrm>
            <a:off x="7929372" y="2345436"/>
            <a:ext cx="118872" cy="118872"/>
          </a:xfrm>
          <a:prstGeom prst="rect">
            <a:avLst/>
          </a:prstGeom>
        </p:spPr>
      </p:pic>
      <p:sp>
        <p:nvSpPr>
          <p:cNvPr id="33" name="Shape 22"/>
          <p:cNvSpPr/>
          <p:nvPr/>
        </p:nvSpPr>
        <p:spPr>
          <a:xfrm>
            <a:off x="8125968" y="150876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flow Storage"/>
          <p:cNvSpPr/>
          <p:nvPr/>
        </p:nvSpPr>
        <p:spPr>
          <a:xfrm>
            <a:off x="8661654" y="1645920"/>
            <a:ext cx="548640" cy="548640"/>
          </a:xfrm>
          <a:prstGeom prst="ellipse">
            <a:avLst/>
          </a:prstGeom>
          <a:solidFill>
            <a:schemeClr val="accent1"/>
          </a:solidFill>
          <a:ln w="12700">
            <a:solidFill>
              <a:schemeClr val="accent1"/>
            </a:solidFill>
            <a:prstDash val="solid"/>
          </a:ln>
        </p:spPr>
      </p:sp>
      <p:pic>
        <p:nvPicPr>
          <p:cNvPr id="35" name="Image 8" descr="icon">    </p:cNvPr>
          <p:cNvPicPr>
            <a:picLocks noChangeAspect="1"/>
          </p:cNvPicPr>
          <p:nvPr/>
        </p:nvPicPr>
        <p:blipFill>
          <a:blip r:embed="rId9"/>
          <a:stretch>
            <a:fillRect/>
          </a:stretch>
        </p:blipFill>
        <p:spPr>
          <a:xfrm>
            <a:off x="8798814" y="1783080"/>
            <a:ext cx="274320" cy="274320"/>
          </a:xfrm>
          <a:prstGeom prst="rect">
            <a:avLst/>
          </a:prstGeom>
        </p:spPr>
      </p:pic>
      <p:sp>
        <p:nvSpPr>
          <p:cNvPr id="36" name="Text 24"/>
          <p:cNvSpPr txBox="1"/>
          <p:nvPr/>
        </p:nvSpPr>
        <p:spPr>
          <a:xfrm>
            <a:off x="8199120" y="228600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5. Storage</a:t>
            </a:r>
            <a:endParaRPr lang="en-US" sz="1400" dirty="0"/>
          </a:p>
        </p:txBody>
      </p:sp>
      <p:sp>
        <p:nvSpPr>
          <p:cNvPr id="37" name="Text 25"/>
          <p:cNvSpPr txBox="1"/>
          <p:nvPr/>
        </p:nvSpPr>
        <p:spPr>
          <a:xfrm>
            <a:off x="8199120" y="283464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PostgreSQL + pgvector</a:t>
            </a:r>
            <a:endParaRPr lang="en-US" sz="1200" dirty="0"/>
          </a:p>
        </p:txBody>
      </p:sp>
      <p:sp>
        <p:nvSpPr>
          <p:cNvPr id="38" name="arrow 4"/>
          <p:cNvSpPr/>
          <p:nvPr/>
        </p:nvSpPr>
        <p:spPr>
          <a:xfrm>
            <a:off x="9764268" y="2286000"/>
            <a:ext cx="237744" cy="237744"/>
          </a:xfrm>
          <a:prstGeom prst="ellipse">
            <a:avLst/>
          </a:prstGeom>
          <a:solidFill>
            <a:schemeClr val="tx2"/>
          </a:solidFill>
          <a:ln w="12700">
            <a:solidFill>
              <a:schemeClr val="tx2"/>
            </a:solidFill>
            <a:prstDash val="solid"/>
          </a:ln>
        </p:spPr>
      </p:sp>
      <p:pic>
        <p:nvPicPr>
          <p:cNvPr id="39" name="Image 9" descr="icon">    </p:cNvPr>
          <p:cNvPicPr>
            <a:picLocks noChangeAspect="1"/>
          </p:cNvPicPr>
          <p:nvPr/>
        </p:nvPicPr>
        <p:blipFill>
          <a:blip r:embed="rId10"/>
          <a:stretch>
            <a:fillRect/>
          </a:stretch>
        </p:blipFill>
        <p:spPr>
          <a:xfrm>
            <a:off x="9823704" y="2345436"/>
            <a:ext cx="118872" cy="118872"/>
          </a:xfrm>
          <a:prstGeom prst="rect">
            <a:avLst/>
          </a:prstGeom>
        </p:spPr>
      </p:pic>
      <p:sp>
        <p:nvSpPr>
          <p:cNvPr id="40" name="Shape 27"/>
          <p:cNvSpPr/>
          <p:nvPr/>
        </p:nvSpPr>
        <p:spPr>
          <a:xfrm>
            <a:off x="10020300" y="150876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1" name="flow Retrieval"/>
          <p:cNvSpPr/>
          <p:nvPr/>
        </p:nvSpPr>
        <p:spPr>
          <a:xfrm>
            <a:off x="10555986" y="1645920"/>
            <a:ext cx="548640" cy="548640"/>
          </a:xfrm>
          <a:prstGeom prst="ellipse">
            <a:avLst/>
          </a:prstGeom>
          <a:solidFill>
            <a:schemeClr val="accent3"/>
          </a:solidFill>
          <a:ln w="12700">
            <a:solidFill>
              <a:schemeClr val="accent3"/>
            </a:solidFill>
            <a:prstDash val="solid"/>
          </a:ln>
        </p:spPr>
      </p:sp>
      <p:pic>
        <p:nvPicPr>
          <p:cNvPr id="42" name="Image 10" descr="icon">    </p:cNvPr>
          <p:cNvPicPr>
            <a:picLocks noChangeAspect="1"/>
          </p:cNvPicPr>
          <p:nvPr/>
        </p:nvPicPr>
        <p:blipFill>
          <a:blip r:embed="rId11"/>
          <a:stretch>
            <a:fillRect/>
          </a:stretch>
        </p:blipFill>
        <p:spPr>
          <a:xfrm>
            <a:off x="10693146" y="1783080"/>
            <a:ext cx="274320" cy="274320"/>
          </a:xfrm>
          <a:prstGeom prst="rect">
            <a:avLst/>
          </a:prstGeom>
        </p:spPr>
      </p:pic>
      <p:sp>
        <p:nvSpPr>
          <p:cNvPr id="43" name="Text 29"/>
          <p:cNvSpPr txBox="1"/>
          <p:nvPr/>
        </p:nvSpPr>
        <p:spPr>
          <a:xfrm>
            <a:off x="10093452" y="228600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6. Retrieval</a:t>
            </a:r>
            <a:endParaRPr lang="en-US" sz="1400" dirty="0"/>
          </a:p>
        </p:txBody>
      </p:sp>
      <p:sp>
        <p:nvSpPr>
          <p:cNvPr id="44" name="Text 30"/>
          <p:cNvSpPr txBox="1"/>
          <p:nvPr/>
        </p:nvSpPr>
        <p:spPr>
          <a:xfrm>
            <a:off x="10093452" y="283464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hybrid + RRF</a:t>
            </a:r>
            <a:endParaRPr lang="en-US" sz="1200" dirty="0"/>
          </a:p>
        </p:txBody>
      </p:sp>
      <p:sp>
        <p:nvSpPr>
          <p:cNvPr id="45" name="Shape 31"/>
          <p:cNvSpPr/>
          <p:nvPr/>
        </p:nvSpPr>
        <p:spPr>
          <a:xfrm>
            <a:off x="548640" y="365760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6" name="flow Reranking"/>
          <p:cNvSpPr/>
          <p:nvPr/>
        </p:nvSpPr>
        <p:spPr>
          <a:xfrm>
            <a:off x="1084326" y="3794760"/>
            <a:ext cx="548640" cy="548640"/>
          </a:xfrm>
          <a:prstGeom prst="ellipse">
            <a:avLst/>
          </a:prstGeom>
          <a:solidFill>
            <a:schemeClr val="accent3"/>
          </a:solidFill>
          <a:ln w="12700">
            <a:solidFill>
              <a:schemeClr val="accent3"/>
            </a:solidFill>
            <a:prstDash val="solid"/>
          </a:ln>
        </p:spPr>
      </p:sp>
      <p:pic>
        <p:nvPicPr>
          <p:cNvPr id="47" name="Image 11" descr="icon">    </p:cNvPr>
          <p:cNvPicPr>
            <a:picLocks noChangeAspect="1"/>
          </p:cNvPicPr>
          <p:nvPr/>
        </p:nvPicPr>
        <p:blipFill>
          <a:blip r:embed="rId12"/>
          <a:stretch>
            <a:fillRect/>
          </a:stretch>
        </p:blipFill>
        <p:spPr>
          <a:xfrm>
            <a:off x="1221486" y="3931920"/>
            <a:ext cx="274320" cy="274320"/>
          </a:xfrm>
          <a:prstGeom prst="rect">
            <a:avLst/>
          </a:prstGeom>
        </p:spPr>
      </p:pic>
      <p:sp>
        <p:nvSpPr>
          <p:cNvPr id="48" name="Text 33"/>
          <p:cNvSpPr txBox="1"/>
          <p:nvPr/>
        </p:nvSpPr>
        <p:spPr>
          <a:xfrm>
            <a:off x="621792" y="443484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7. Reranking</a:t>
            </a:r>
            <a:endParaRPr lang="en-US" sz="1400" dirty="0"/>
          </a:p>
        </p:txBody>
      </p:sp>
      <p:sp>
        <p:nvSpPr>
          <p:cNvPr id="49" name="Text 34"/>
          <p:cNvSpPr txBox="1"/>
          <p:nvPr/>
        </p:nvSpPr>
        <p:spPr>
          <a:xfrm>
            <a:off x="621792" y="498348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Qwen3-Reranker</a:t>
            </a:r>
            <a:endParaRPr lang="en-US" sz="1200" dirty="0"/>
          </a:p>
        </p:txBody>
      </p:sp>
      <p:sp>
        <p:nvSpPr>
          <p:cNvPr id="50" name="arrow 6"/>
          <p:cNvSpPr/>
          <p:nvPr/>
        </p:nvSpPr>
        <p:spPr>
          <a:xfrm>
            <a:off x="2186940" y="4434840"/>
            <a:ext cx="237744" cy="237744"/>
          </a:xfrm>
          <a:prstGeom prst="ellipse">
            <a:avLst/>
          </a:prstGeom>
          <a:solidFill>
            <a:schemeClr val="tx2"/>
          </a:solidFill>
          <a:ln w="12700">
            <a:solidFill>
              <a:schemeClr val="tx2"/>
            </a:solidFill>
            <a:prstDash val="solid"/>
          </a:ln>
        </p:spPr>
      </p:sp>
      <p:pic>
        <p:nvPicPr>
          <p:cNvPr id="51" name="Image 12" descr="icon">    </p:cNvPr>
          <p:cNvPicPr>
            <a:picLocks noChangeAspect="1"/>
          </p:cNvPicPr>
          <p:nvPr/>
        </p:nvPicPr>
        <p:blipFill>
          <a:blip r:embed="rId13"/>
          <a:stretch>
            <a:fillRect/>
          </a:stretch>
        </p:blipFill>
        <p:spPr>
          <a:xfrm>
            <a:off x="2246376" y="4494276"/>
            <a:ext cx="118872" cy="118872"/>
          </a:xfrm>
          <a:prstGeom prst="rect">
            <a:avLst/>
          </a:prstGeom>
        </p:spPr>
      </p:pic>
      <p:sp>
        <p:nvSpPr>
          <p:cNvPr id="52" name="Shape 36"/>
          <p:cNvSpPr/>
          <p:nvPr/>
        </p:nvSpPr>
        <p:spPr>
          <a:xfrm>
            <a:off x="2442972" y="365760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3" name="flow Evidence Builder"/>
          <p:cNvSpPr/>
          <p:nvPr/>
        </p:nvSpPr>
        <p:spPr>
          <a:xfrm>
            <a:off x="2978658" y="3794760"/>
            <a:ext cx="548640" cy="548640"/>
          </a:xfrm>
          <a:prstGeom prst="ellipse">
            <a:avLst/>
          </a:prstGeom>
          <a:solidFill>
            <a:schemeClr val="accent3"/>
          </a:solidFill>
          <a:ln w="12700">
            <a:solidFill>
              <a:schemeClr val="accent3"/>
            </a:solidFill>
            <a:prstDash val="solid"/>
          </a:ln>
        </p:spPr>
      </p:sp>
      <p:pic>
        <p:nvPicPr>
          <p:cNvPr id="54" name="Image 13" descr="icon">    </p:cNvPr>
          <p:cNvPicPr>
            <a:picLocks noChangeAspect="1"/>
          </p:cNvPicPr>
          <p:nvPr/>
        </p:nvPicPr>
        <p:blipFill>
          <a:blip r:embed="rId14"/>
          <a:stretch>
            <a:fillRect/>
          </a:stretch>
        </p:blipFill>
        <p:spPr>
          <a:xfrm>
            <a:off x="3115818" y="3931920"/>
            <a:ext cx="274320" cy="274320"/>
          </a:xfrm>
          <a:prstGeom prst="rect">
            <a:avLst/>
          </a:prstGeom>
        </p:spPr>
      </p:pic>
      <p:sp>
        <p:nvSpPr>
          <p:cNvPr id="55" name="Text 38"/>
          <p:cNvSpPr txBox="1"/>
          <p:nvPr/>
        </p:nvSpPr>
        <p:spPr>
          <a:xfrm>
            <a:off x="2516124" y="443484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8. Evidence Builder</a:t>
            </a:r>
            <a:endParaRPr lang="en-US" sz="1400" dirty="0"/>
          </a:p>
        </p:txBody>
      </p:sp>
      <p:sp>
        <p:nvSpPr>
          <p:cNvPr id="56" name="Text 39"/>
          <p:cNvSpPr txBox="1"/>
          <p:nvPr/>
        </p:nvSpPr>
        <p:spPr>
          <a:xfrm>
            <a:off x="2516124" y="498348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typed evidence</a:t>
            </a:r>
            <a:endParaRPr lang="en-US" sz="1200" dirty="0"/>
          </a:p>
        </p:txBody>
      </p:sp>
      <p:sp>
        <p:nvSpPr>
          <p:cNvPr id="57" name="arrow 7"/>
          <p:cNvSpPr/>
          <p:nvPr/>
        </p:nvSpPr>
        <p:spPr>
          <a:xfrm>
            <a:off x="4081272" y="4434840"/>
            <a:ext cx="237744" cy="237744"/>
          </a:xfrm>
          <a:prstGeom prst="ellipse">
            <a:avLst/>
          </a:prstGeom>
          <a:solidFill>
            <a:schemeClr val="tx2"/>
          </a:solidFill>
          <a:ln w="12700">
            <a:solidFill>
              <a:schemeClr val="tx2"/>
            </a:solidFill>
            <a:prstDash val="solid"/>
          </a:ln>
        </p:spPr>
      </p:sp>
      <p:pic>
        <p:nvPicPr>
          <p:cNvPr id="58" name="Image 14" descr="icon">    </p:cNvPr>
          <p:cNvPicPr>
            <a:picLocks noChangeAspect="1"/>
          </p:cNvPicPr>
          <p:nvPr/>
        </p:nvPicPr>
        <p:blipFill>
          <a:blip r:embed="rId15"/>
          <a:stretch>
            <a:fillRect/>
          </a:stretch>
        </p:blipFill>
        <p:spPr>
          <a:xfrm>
            <a:off x="4140708" y="4494276"/>
            <a:ext cx="118872" cy="118872"/>
          </a:xfrm>
          <a:prstGeom prst="rect">
            <a:avLst/>
          </a:prstGeom>
        </p:spPr>
      </p:pic>
      <p:sp>
        <p:nvSpPr>
          <p:cNvPr id="59" name="Shape 41"/>
          <p:cNvSpPr/>
          <p:nvPr/>
        </p:nvSpPr>
        <p:spPr>
          <a:xfrm>
            <a:off x="4337304" y="365760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0" name="flow LangGraph Workflow"/>
          <p:cNvSpPr/>
          <p:nvPr/>
        </p:nvSpPr>
        <p:spPr>
          <a:xfrm>
            <a:off x="4872990" y="3794760"/>
            <a:ext cx="548640" cy="548640"/>
          </a:xfrm>
          <a:prstGeom prst="ellipse">
            <a:avLst/>
          </a:prstGeom>
          <a:solidFill>
            <a:schemeClr val="accent2"/>
          </a:solidFill>
          <a:ln w="12700">
            <a:solidFill>
              <a:schemeClr val="accent2"/>
            </a:solidFill>
            <a:prstDash val="solid"/>
          </a:ln>
        </p:spPr>
      </p:sp>
      <p:pic>
        <p:nvPicPr>
          <p:cNvPr id="61" name="Image 15" descr="icon">    </p:cNvPr>
          <p:cNvPicPr>
            <a:picLocks noChangeAspect="1"/>
          </p:cNvPicPr>
          <p:nvPr/>
        </p:nvPicPr>
        <p:blipFill>
          <a:blip r:embed="rId16"/>
          <a:stretch>
            <a:fillRect/>
          </a:stretch>
        </p:blipFill>
        <p:spPr>
          <a:xfrm>
            <a:off x="5010150" y="3931920"/>
            <a:ext cx="274320" cy="274320"/>
          </a:xfrm>
          <a:prstGeom prst="rect">
            <a:avLst/>
          </a:prstGeom>
        </p:spPr>
      </p:pic>
      <p:sp>
        <p:nvSpPr>
          <p:cNvPr id="62" name="Text 43"/>
          <p:cNvSpPr txBox="1"/>
          <p:nvPr/>
        </p:nvSpPr>
        <p:spPr>
          <a:xfrm>
            <a:off x="4410456" y="443484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9. LangGraph Workflow</a:t>
            </a:r>
            <a:endParaRPr lang="en-US" sz="1400" dirty="0"/>
          </a:p>
        </p:txBody>
      </p:sp>
      <p:sp>
        <p:nvSpPr>
          <p:cNvPr id="63" name="Text 44"/>
          <p:cNvSpPr txBox="1"/>
          <p:nvPr/>
        </p:nvSpPr>
        <p:spPr>
          <a:xfrm>
            <a:off x="4410456" y="498348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stateful research</a:t>
            </a:r>
            <a:endParaRPr lang="en-US" sz="1200" dirty="0"/>
          </a:p>
        </p:txBody>
      </p:sp>
      <p:sp>
        <p:nvSpPr>
          <p:cNvPr id="64" name="arrow 8"/>
          <p:cNvSpPr/>
          <p:nvPr/>
        </p:nvSpPr>
        <p:spPr>
          <a:xfrm>
            <a:off x="5975604" y="4434840"/>
            <a:ext cx="237744" cy="237744"/>
          </a:xfrm>
          <a:prstGeom prst="ellipse">
            <a:avLst/>
          </a:prstGeom>
          <a:solidFill>
            <a:schemeClr val="tx2"/>
          </a:solidFill>
          <a:ln w="12700">
            <a:solidFill>
              <a:schemeClr val="tx2"/>
            </a:solidFill>
            <a:prstDash val="solid"/>
          </a:ln>
        </p:spPr>
      </p:sp>
      <p:pic>
        <p:nvPicPr>
          <p:cNvPr id="65" name="Image 16" descr="icon">    </p:cNvPr>
          <p:cNvPicPr>
            <a:picLocks noChangeAspect="1"/>
          </p:cNvPicPr>
          <p:nvPr/>
        </p:nvPicPr>
        <p:blipFill>
          <a:blip r:embed="rId17"/>
          <a:stretch>
            <a:fillRect/>
          </a:stretch>
        </p:blipFill>
        <p:spPr>
          <a:xfrm>
            <a:off x="6035040" y="4494276"/>
            <a:ext cx="118872" cy="118872"/>
          </a:xfrm>
          <a:prstGeom prst="rect">
            <a:avLst/>
          </a:prstGeom>
        </p:spPr>
      </p:pic>
      <p:sp>
        <p:nvSpPr>
          <p:cNvPr id="66" name="Shape 46"/>
          <p:cNvSpPr/>
          <p:nvPr/>
        </p:nvSpPr>
        <p:spPr>
          <a:xfrm>
            <a:off x="6231636" y="365760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7" name="flow Generation"/>
          <p:cNvSpPr/>
          <p:nvPr/>
        </p:nvSpPr>
        <p:spPr>
          <a:xfrm>
            <a:off x="6767322" y="3794760"/>
            <a:ext cx="548640" cy="548640"/>
          </a:xfrm>
          <a:prstGeom prst="ellipse">
            <a:avLst/>
          </a:prstGeom>
          <a:solidFill>
            <a:schemeClr val="accent2"/>
          </a:solidFill>
          <a:ln w="12700">
            <a:solidFill>
              <a:schemeClr val="accent2"/>
            </a:solidFill>
            <a:prstDash val="solid"/>
          </a:ln>
        </p:spPr>
      </p:sp>
      <p:pic>
        <p:nvPicPr>
          <p:cNvPr id="68" name="Image 17" descr="icon">    </p:cNvPr>
          <p:cNvPicPr>
            <a:picLocks noChangeAspect="1"/>
          </p:cNvPicPr>
          <p:nvPr/>
        </p:nvPicPr>
        <p:blipFill>
          <a:blip r:embed="rId18"/>
          <a:stretch>
            <a:fillRect/>
          </a:stretch>
        </p:blipFill>
        <p:spPr>
          <a:xfrm>
            <a:off x="6904482" y="3931920"/>
            <a:ext cx="274320" cy="274320"/>
          </a:xfrm>
          <a:prstGeom prst="rect">
            <a:avLst/>
          </a:prstGeom>
        </p:spPr>
      </p:pic>
      <p:sp>
        <p:nvSpPr>
          <p:cNvPr id="69" name="Text 48"/>
          <p:cNvSpPr txBox="1"/>
          <p:nvPr/>
        </p:nvSpPr>
        <p:spPr>
          <a:xfrm>
            <a:off x="6304788" y="443484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10. Generation</a:t>
            </a:r>
            <a:endParaRPr lang="en-US" sz="1400" dirty="0"/>
          </a:p>
        </p:txBody>
      </p:sp>
      <p:sp>
        <p:nvSpPr>
          <p:cNvPr id="70" name="Text 49"/>
          <p:cNvSpPr txBox="1"/>
          <p:nvPr/>
        </p:nvSpPr>
        <p:spPr>
          <a:xfrm>
            <a:off x="6304788" y="498348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grounded LLM answer</a:t>
            </a:r>
            <a:endParaRPr lang="en-US" sz="1200" dirty="0"/>
          </a:p>
        </p:txBody>
      </p:sp>
      <p:sp>
        <p:nvSpPr>
          <p:cNvPr id="71" name="arrow 9"/>
          <p:cNvSpPr/>
          <p:nvPr/>
        </p:nvSpPr>
        <p:spPr>
          <a:xfrm>
            <a:off x="7869936" y="4434840"/>
            <a:ext cx="237744" cy="237744"/>
          </a:xfrm>
          <a:prstGeom prst="ellipse">
            <a:avLst/>
          </a:prstGeom>
          <a:solidFill>
            <a:schemeClr val="tx2"/>
          </a:solidFill>
          <a:ln w="12700">
            <a:solidFill>
              <a:schemeClr val="tx2"/>
            </a:solidFill>
            <a:prstDash val="solid"/>
          </a:ln>
        </p:spPr>
      </p:sp>
      <p:pic>
        <p:nvPicPr>
          <p:cNvPr id="72" name="Image 18" descr="icon">    </p:cNvPr>
          <p:cNvPicPr>
            <a:picLocks noChangeAspect="1"/>
          </p:cNvPicPr>
          <p:nvPr/>
        </p:nvPicPr>
        <p:blipFill>
          <a:blip r:embed="rId19"/>
          <a:stretch>
            <a:fillRect/>
          </a:stretch>
        </p:blipFill>
        <p:spPr>
          <a:xfrm>
            <a:off x="7929372" y="4494276"/>
            <a:ext cx="118872" cy="118872"/>
          </a:xfrm>
          <a:prstGeom prst="rect">
            <a:avLst/>
          </a:prstGeom>
        </p:spPr>
      </p:pic>
      <p:sp>
        <p:nvSpPr>
          <p:cNvPr id="73" name="Shape 51"/>
          <p:cNvSpPr/>
          <p:nvPr/>
        </p:nvSpPr>
        <p:spPr>
          <a:xfrm>
            <a:off x="8125968" y="365760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4" name="flow Validation &amp; Repair"/>
          <p:cNvSpPr/>
          <p:nvPr/>
        </p:nvSpPr>
        <p:spPr>
          <a:xfrm>
            <a:off x="8661654" y="3794760"/>
            <a:ext cx="548640" cy="548640"/>
          </a:xfrm>
          <a:prstGeom prst="ellipse">
            <a:avLst/>
          </a:prstGeom>
          <a:solidFill>
            <a:schemeClr val="accent2"/>
          </a:solidFill>
          <a:ln w="12700">
            <a:solidFill>
              <a:schemeClr val="accent2"/>
            </a:solidFill>
            <a:prstDash val="solid"/>
          </a:ln>
        </p:spPr>
      </p:sp>
      <p:pic>
        <p:nvPicPr>
          <p:cNvPr id="75" name="Image 19" descr="icon">    </p:cNvPr>
          <p:cNvPicPr>
            <a:picLocks noChangeAspect="1"/>
          </p:cNvPicPr>
          <p:nvPr/>
        </p:nvPicPr>
        <p:blipFill>
          <a:blip r:embed="rId20"/>
          <a:stretch>
            <a:fillRect/>
          </a:stretch>
        </p:blipFill>
        <p:spPr>
          <a:xfrm>
            <a:off x="8798814" y="3931920"/>
            <a:ext cx="274320" cy="274320"/>
          </a:xfrm>
          <a:prstGeom prst="rect">
            <a:avLst/>
          </a:prstGeom>
        </p:spPr>
      </p:pic>
      <p:sp>
        <p:nvSpPr>
          <p:cNvPr id="76" name="Text 53"/>
          <p:cNvSpPr txBox="1"/>
          <p:nvPr/>
        </p:nvSpPr>
        <p:spPr>
          <a:xfrm>
            <a:off x="8199120" y="443484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11. Validation &amp; Repair</a:t>
            </a:r>
            <a:endParaRPr lang="en-US" sz="1400" dirty="0"/>
          </a:p>
        </p:txBody>
      </p:sp>
      <p:sp>
        <p:nvSpPr>
          <p:cNvPr id="77" name="Text 54"/>
          <p:cNvSpPr txBox="1"/>
          <p:nvPr/>
        </p:nvSpPr>
        <p:spPr>
          <a:xfrm>
            <a:off x="8199120" y="498348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citation checks</a:t>
            </a:r>
            <a:endParaRPr lang="en-US" sz="1200" dirty="0"/>
          </a:p>
        </p:txBody>
      </p:sp>
      <p:sp>
        <p:nvSpPr>
          <p:cNvPr id="78" name="arrow 10"/>
          <p:cNvSpPr/>
          <p:nvPr/>
        </p:nvSpPr>
        <p:spPr>
          <a:xfrm>
            <a:off x="9764268" y="4434840"/>
            <a:ext cx="237744" cy="237744"/>
          </a:xfrm>
          <a:prstGeom prst="ellipse">
            <a:avLst/>
          </a:prstGeom>
          <a:solidFill>
            <a:schemeClr val="tx2"/>
          </a:solidFill>
          <a:ln w="12700">
            <a:solidFill>
              <a:schemeClr val="tx2"/>
            </a:solidFill>
            <a:prstDash val="solid"/>
          </a:ln>
        </p:spPr>
      </p:sp>
      <p:pic>
        <p:nvPicPr>
          <p:cNvPr id="79" name="Image 20" descr="icon">    </p:cNvPr>
          <p:cNvPicPr>
            <a:picLocks noChangeAspect="1"/>
          </p:cNvPicPr>
          <p:nvPr/>
        </p:nvPicPr>
        <p:blipFill>
          <a:blip r:embed="rId21"/>
          <a:stretch>
            <a:fillRect/>
          </a:stretch>
        </p:blipFill>
        <p:spPr>
          <a:xfrm>
            <a:off x="9823704" y="4494276"/>
            <a:ext cx="118872" cy="118872"/>
          </a:xfrm>
          <a:prstGeom prst="rect">
            <a:avLst/>
          </a:prstGeom>
        </p:spPr>
      </p:pic>
      <p:sp>
        <p:nvSpPr>
          <p:cNvPr id="80" name="Shape 56"/>
          <p:cNvSpPr/>
          <p:nvPr/>
        </p:nvSpPr>
        <p:spPr>
          <a:xfrm>
            <a:off x="10020300" y="3657600"/>
            <a:ext cx="1620012" cy="1874520"/>
          </a:xfrm>
          <a:prstGeom prst="roundRect">
            <a:avLst>
              <a:gd name="adj" fmla="val 564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1" name="flow Report Storage"/>
          <p:cNvSpPr/>
          <p:nvPr/>
        </p:nvSpPr>
        <p:spPr>
          <a:xfrm>
            <a:off x="10555986" y="3794760"/>
            <a:ext cx="548640" cy="548640"/>
          </a:xfrm>
          <a:prstGeom prst="ellipse">
            <a:avLst/>
          </a:prstGeom>
          <a:solidFill>
            <a:schemeClr val="accent2"/>
          </a:solidFill>
          <a:ln w="12700">
            <a:solidFill>
              <a:schemeClr val="accent2"/>
            </a:solidFill>
            <a:prstDash val="solid"/>
          </a:ln>
        </p:spPr>
      </p:sp>
      <p:pic>
        <p:nvPicPr>
          <p:cNvPr id="82" name="Image 21" descr="icon">    </p:cNvPr>
          <p:cNvPicPr>
            <a:picLocks noChangeAspect="1"/>
          </p:cNvPicPr>
          <p:nvPr/>
        </p:nvPicPr>
        <p:blipFill>
          <a:blip r:embed="rId22"/>
          <a:stretch>
            <a:fillRect/>
          </a:stretch>
        </p:blipFill>
        <p:spPr>
          <a:xfrm>
            <a:off x="10693146" y="3931920"/>
            <a:ext cx="274320" cy="274320"/>
          </a:xfrm>
          <a:prstGeom prst="rect">
            <a:avLst/>
          </a:prstGeom>
        </p:spPr>
      </p:pic>
      <p:sp>
        <p:nvSpPr>
          <p:cNvPr id="83" name="Text 58"/>
          <p:cNvSpPr txBox="1"/>
          <p:nvPr/>
        </p:nvSpPr>
        <p:spPr>
          <a:xfrm>
            <a:off x="10093452" y="4434840"/>
            <a:ext cx="1473708" cy="548640"/>
          </a:xfrm>
          <a:prstGeom prst="rect">
            <a:avLst/>
          </a:prstGeom>
          <a:noFill/>
          <a:ln/>
        </p:spPr>
        <p:txBody>
          <a:bodyPr wrap="square" lIns="0" tIns="0" rIns="0" bIns="0" rtlCol="0" anchor="t"/>
          <a:lstStyle/>
          <a:p>
            <a:pPr algn="ctr" indent="0" marL="0">
              <a:buNone/>
            </a:pPr>
            <a:r>
              <a:rPr lang="en-US" sz="1400" b="1" dirty="0">
                <a:solidFill>
                  <a:schemeClr val="tx1"/>
                </a:solidFill>
              </a:rPr>
              <a:t>12. Report Storage</a:t>
            </a:r>
            <a:endParaRPr lang="en-US" sz="1400" dirty="0"/>
          </a:p>
        </p:txBody>
      </p:sp>
      <p:sp>
        <p:nvSpPr>
          <p:cNvPr id="84" name="Text 59"/>
          <p:cNvSpPr txBox="1"/>
          <p:nvPr/>
        </p:nvSpPr>
        <p:spPr>
          <a:xfrm>
            <a:off x="10093452" y="4983480"/>
            <a:ext cx="1473708" cy="457200"/>
          </a:xfrm>
          <a:prstGeom prst="rect">
            <a:avLst/>
          </a:prstGeom>
          <a:noFill/>
          <a:ln/>
        </p:spPr>
        <p:txBody>
          <a:bodyPr wrap="square" lIns="0" tIns="0" rIns="0" bIns="0" rtlCol="0" anchor="t"/>
          <a:lstStyle/>
          <a:p>
            <a:pPr algn="ctr" indent="0" marL="0">
              <a:buNone/>
            </a:pPr>
            <a:r>
              <a:rPr lang="en-US" sz="1200" dirty="0">
                <a:solidFill>
                  <a:schemeClr val="tx2"/>
                </a:solidFill>
              </a:rPr>
              <a:t>per project</a:t>
            </a:r>
            <a:endParaRPr lang="en-US" sz="1200" dirty="0"/>
          </a:p>
        </p:txBody>
      </p:sp>
      <p:sp>
        <p:nvSpPr>
          <p:cNvPr id="85" name="Text 60"/>
          <p:cNvSpPr txBox="1"/>
          <p:nvPr/>
        </p:nvSpPr>
        <p:spPr>
          <a:xfrm>
            <a:off x="548640" y="5852160"/>
            <a:ext cx="11091672" cy="365760"/>
          </a:xfrm>
          <a:prstGeom prst="rect">
            <a:avLst/>
          </a:prstGeom>
          <a:noFill/>
          <a:ln/>
        </p:spPr>
        <p:txBody>
          <a:bodyPr wrap="square" lIns="0" tIns="0" rIns="0" bIns="0" rtlCol="0" anchor="t"/>
          <a:lstStyle/>
          <a:p>
            <a:pPr indent="0" marL="0">
              <a:buNone/>
            </a:pPr>
            <a:r>
              <a:rPr lang="en-US" sz="1400" dirty="0">
                <a:solidFill>
                  <a:schemeClr val="tx2"/>
                </a:solidFill>
              </a:rPr>
              <a:t>Row 1: knowledge is built and stored.   Row 2: knowledge is retrieved, reasoned over and delivered.</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Alternatives &amp; Fallbacks</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card LLM (instead of Qwen3-8B)"/>
          <p:cNvSpPr/>
          <p:nvPr/>
        </p:nvSpPr>
        <p:spPr>
          <a:xfrm>
            <a:off x="548640"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LLM (instead of Qwen3-8B)"/>
          <p:cNvSpPr/>
          <p:nvPr/>
        </p:nvSpPr>
        <p:spPr>
          <a:xfrm>
            <a:off x="731520" y="1645920"/>
            <a:ext cx="475488" cy="475488"/>
          </a:xfrm>
          <a:prstGeom prst="ellipse">
            <a:avLst/>
          </a:prstGeom>
          <a:solidFill>
            <a:schemeClr val="accent6"/>
          </a:solidFill>
          <a:ln w="12700">
            <a:solidFill>
              <a:schemeClr val="accent6"/>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LLM (instead of Qwen3-8B)</a:t>
            </a:r>
            <a:endParaRPr lang="en-US" sz="1500" dirty="0"/>
          </a:p>
        </p:txBody>
      </p:sp>
      <p:sp>
        <p:nvSpPr>
          <p:cNvPr id="9" name="Text 5"/>
          <p:cNvSpPr txBox="1"/>
          <p:nvPr/>
        </p:nvSpPr>
        <p:spPr>
          <a:xfrm>
            <a:off x="777240"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NVIDIA Nemotron-8B (high quality)</a:t>
            </a:r>
            <a:endParaRPr lang="en-US" sz="1300" dirty="0"/>
          </a:p>
          <a:p>
            <a:pPr marL="177800" indent="-177800">
              <a:spcAft>
                <a:spcPts val="400"/>
              </a:spcAft>
              <a:buSzPct val="100000"/>
              <a:buChar char="•"/>
            </a:pPr>
            <a:r>
              <a:rPr lang="en-US" sz="1300" dirty="0">
                <a:solidFill>
                  <a:schemeClr val="tx1"/>
                </a:solidFill>
              </a:rPr>
              <a:t>Google Gemma 7B / 9B (fast, open)</a:t>
            </a:r>
            <a:endParaRPr lang="en-US" sz="1300" dirty="0"/>
          </a:p>
          <a:p>
            <a:pPr marL="177800" indent="-177800">
              <a:spcAft>
                <a:spcPts val="400"/>
              </a:spcAft>
              <a:buSzPct val="100000"/>
              <a:buChar char="•"/>
            </a:pPr>
            <a:r>
              <a:rPr lang="en-US" sz="1300" dirty="0">
                <a:solidFill>
                  <a:schemeClr val="tx1"/>
                </a:solidFill>
              </a:rPr>
              <a:t>Mistral 7B (reasoning)</a:t>
            </a:r>
            <a:endParaRPr lang="en-US" sz="1300" dirty="0"/>
          </a:p>
          <a:p>
            <a:pPr marL="177800" indent="-177800">
              <a:spcAft>
                <a:spcPts val="400"/>
              </a:spcAft>
              <a:buSzPct val="100000"/>
              <a:buChar char="•"/>
            </a:pPr>
            <a:r>
              <a:rPr lang="en-US" sz="1300" dirty="0">
                <a:solidFill>
                  <a:schemeClr val="tx1"/>
                </a:solidFill>
              </a:rPr>
              <a:t>Llama 3.1 8B (reliable)</a:t>
            </a:r>
            <a:endParaRPr lang="en-US" sz="1300" dirty="0"/>
          </a:p>
        </p:txBody>
      </p:sp>
      <p:sp>
        <p:nvSpPr>
          <p:cNvPr id="10" name="card Embedding Models"/>
          <p:cNvSpPr/>
          <p:nvPr/>
        </p:nvSpPr>
        <p:spPr>
          <a:xfrm>
            <a:off x="4337304"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Embedding Models"/>
          <p:cNvSpPr/>
          <p:nvPr/>
        </p:nvSpPr>
        <p:spPr>
          <a:xfrm>
            <a:off x="4520184" y="1645920"/>
            <a:ext cx="475488" cy="475488"/>
          </a:xfrm>
          <a:prstGeom prst="ellipse">
            <a:avLst/>
          </a:prstGeom>
          <a:solidFill>
            <a:schemeClr val="accent2"/>
          </a:solidFill>
          <a:ln w="12700">
            <a:solidFill>
              <a:schemeClr val="accent2"/>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Embedding Models</a:t>
            </a:r>
            <a:endParaRPr lang="en-US" sz="1500" dirty="0"/>
          </a:p>
        </p:txBody>
      </p:sp>
      <p:sp>
        <p:nvSpPr>
          <p:cNvPr id="14" name="Text 9"/>
          <p:cNvSpPr txBox="1"/>
          <p:nvPr/>
        </p:nvSpPr>
        <p:spPr>
          <a:xfrm>
            <a:off x="4565904"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Qwen3-Embedding-0.6B (default)</a:t>
            </a:r>
            <a:endParaRPr lang="en-US" sz="1300" dirty="0"/>
          </a:p>
          <a:p>
            <a:pPr marL="177800" indent="-177800">
              <a:spcAft>
                <a:spcPts val="400"/>
              </a:spcAft>
              <a:buSzPct val="100000"/>
              <a:buChar char="•"/>
            </a:pPr>
            <a:r>
              <a:rPr lang="en-US" sz="1300" dirty="0">
                <a:solidFill>
                  <a:schemeClr val="tx1"/>
                </a:solidFill>
              </a:rPr>
              <a:t>BGE-M3 (multilingual)</a:t>
            </a:r>
            <a:endParaRPr lang="en-US" sz="1300" dirty="0"/>
          </a:p>
          <a:p>
            <a:pPr marL="177800" indent="-177800">
              <a:spcAft>
                <a:spcPts val="400"/>
              </a:spcAft>
              <a:buSzPct val="100000"/>
              <a:buChar char="•"/>
            </a:pPr>
            <a:r>
              <a:rPr lang="en-US" sz="1300" dirty="0">
                <a:solidFill>
                  <a:schemeClr val="tx1"/>
                </a:solidFill>
              </a:rPr>
              <a:t>Sentence Transformers (fallback)</a:t>
            </a:r>
            <a:endParaRPr lang="en-US" sz="1300" dirty="0"/>
          </a:p>
        </p:txBody>
      </p:sp>
      <p:sp>
        <p:nvSpPr>
          <p:cNvPr id="15" name="card Reranker Models"/>
          <p:cNvSpPr/>
          <p:nvPr/>
        </p:nvSpPr>
        <p:spPr>
          <a:xfrm>
            <a:off x="8125968"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Reranker Models"/>
          <p:cNvSpPr/>
          <p:nvPr/>
        </p:nvSpPr>
        <p:spPr>
          <a:xfrm>
            <a:off x="8308848" y="1645920"/>
            <a:ext cx="475488" cy="475488"/>
          </a:xfrm>
          <a:prstGeom prst="ellipse">
            <a:avLst/>
          </a:prstGeom>
          <a:solidFill>
            <a:schemeClr val="accent3"/>
          </a:solidFill>
          <a:ln w="12700">
            <a:solidFill>
              <a:schemeClr val="accent3"/>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Reranker Models</a:t>
            </a:r>
            <a:endParaRPr lang="en-US" sz="1500" dirty="0"/>
          </a:p>
        </p:txBody>
      </p:sp>
      <p:sp>
        <p:nvSpPr>
          <p:cNvPr id="19" name="Text 13"/>
          <p:cNvSpPr txBox="1"/>
          <p:nvPr/>
        </p:nvSpPr>
        <p:spPr>
          <a:xfrm>
            <a:off x="8354568"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Qwen3-Reranker-0.6B (default)</a:t>
            </a:r>
            <a:endParaRPr lang="en-US" sz="1300" dirty="0"/>
          </a:p>
          <a:p>
            <a:pPr marL="177800" indent="-177800">
              <a:spcAft>
                <a:spcPts val="400"/>
              </a:spcAft>
              <a:buSzPct val="100000"/>
              <a:buChar char="•"/>
            </a:pPr>
            <a:r>
              <a:rPr lang="en-US" sz="1300" dirty="0">
                <a:solidFill>
                  <a:schemeClr val="tx1"/>
                </a:solidFill>
              </a:rPr>
              <a:t>BGE-Reranker (alternative)</a:t>
            </a:r>
            <a:endParaRPr lang="en-US" sz="1300" dirty="0"/>
          </a:p>
          <a:p>
            <a:pPr marL="177800" indent="-177800">
              <a:spcAft>
                <a:spcPts val="400"/>
              </a:spcAft>
              <a:buSzPct val="100000"/>
              <a:buChar char="•"/>
            </a:pPr>
            <a:r>
              <a:rPr lang="en-US" sz="1300" dirty="0">
                <a:solidFill>
                  <a:schemeClr val="tx1"/>
                </a:solidFill>
              </a:rPr>
              <a:t>Cohere Rerank (alternative)</a:t>
            </a:r>
            <a:endParaRPr lang="en-US" sz="1300" dirty="0"/>
          </a:p>
        </p:txBody>
      </p:sp>
      <p:sp>
        <p:nvSpPr>
          <p:cNvPr id="20" name="card Vector DB (if needed)"/>
          <p:cNvSpPr/>
          <p:nvPr/>
        </p:nvSpPr>
        <p:spPr>
          <a:xfrm>
            <a:off x="548640"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Vector DB (if needed)"/>
          <p:cNvSpPr/>
          <p:nvPr/>
        </p:nvSpPr>
        <p:spPr>
          <a:xfrm>
            <a:off x="731520" y="4114800"/>
            <a:ext cx="475488" cy="475488"/>
          </a:xfrm>
          <a:prstGeom prst="ellipse">
            <a:avLst/>
          </a:prstGeom>
          <a:solidFill>
            <a:schemeClr val="accent1"/>
          </a:solidFill>
          <a:ln w="12700">
            <a:solidFill>
              <a:schemeClr val="accent1"/>
            </a:solidFill>
            <a:prstDash val="solid"/>
          </a:ln>
        </p:spPr>
      </p:sp>
      <p:pic>
        <p:nvPicPr>
          <p:cNvPr id="22" name="Image 3" descr="icon">    </p:cNvPr>
          <p:cNvPicPr>
            <a:picLocks noChangeAspect="1"/>
          </p:cNvPicPr>
          <p:nvPr/>
        </p:nvPicPr>
        <p:blipFill>
          <a:blip r:embed="rId4"/>
          <a:stretch>
            <a:fillRect/>
          </a:stretch>
        </p:blipFill>
        <p:spPr>
          <a:xfrm>
            <a:off x="850392" y="4233672"/>
            <a:ext cx="237744" cy="237744"/>
          </a:xfrm>
          <a:prstGeom prst="rect">
            <a:avLst/>
          </a:prstGeom>
        </p:spPr>
      </p:pic>
      <p:sp>
        <p:nvSpPr>
          <p:cNvPr id="23" name="Text 16"/>
          <p:cNvSpPr txBox="1"/>
          <p:nvPr/>
        </p:nvSpPr>
        <p:spPr>
          <a:xfrm>
            <a:off x="1353312"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Vector DB (if needed)</a:t>
            </a:r>
            <a:endParaRPr lang="en-US" sz="1500" dirty="0"/>
          </a:p>
        </p:txBody>
      </p:sp>
      <p:sp>
        <p:nvSpPr>
          <p:cNvPr id="24" name="Text 17"/>
          <p:cNvSpPr txBox="1"/>
          <p:nvPr/>
        </p:nvSpPr>
        <p:spPr>
          <a:xfrm>
            <a:off x="777240"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pgvector (default)</a:t>
            </a:r>
            <a:endParaRPr lang="en-US" sz="1300" dirty="0"/>
          </a:p>
          <a:p>
            <a:pPr marL="177800" indent="-177800">
              <a:spcAft>
                <a:spcPts val="400"/>
              </a:spcAft>
              <a:buSzPct val="100000"/>
              <a:buChar char="•"/>
            </a:pPr>
            <a:r>
              <a:rPr lang="en-US" sz="1300" dirty="0">
                <a:solidFill>
                  <a:schemeClr val="tx1"/>
                </a:solidFill>
              </a:rPr>
              <a:t>Pinecone (managed)</a:t>
            </a:r>
            <a:endParaRPr lang="en-US" sz="1300" dirty="0"/>
          </a:p>
          <a:p>
            <a:pPr marL="177800" indent="-177800">
              <a:spcAft>
                <a:spcPts val="400"/>
              </a:spcAft>
              <a:buSzPct val="100000"/>
              <a:buChar char="•"/>
            </a:pPr>
            <a:r>
              <a:rPr lang="en-US" sz="1300" dirty="0">
                <a:solidFill>
                  <a:schemeClr val="tx1"/>
                </a:solidFill>
              </a:rPr>
              <a:t>Qdrant (self-hosted)</a:t>
            </a:r>
            <a:endParaRPr lang="en-US" sz="1300" dirty="0"/>
          </a:p>
        </p:txBody>
      </p:sp>
      <p:sp>
        <p:nvSpPr>
          <p:cNvPr id="25" name="card Search"/>
          <p:cNvSpPr/>
          <p:nvPr/>
        </p:nvSpPr>
        <p:spPr>
          <a:xfrm>
            <a:off x="4337304"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icon Search"/>
          <p:cNvSpPr/>
          <p:nvPr/>
        </p:nvSpPr>
        <p:spPr>
          <a:xfrm>
            <a:off x="4520184" y="4114800"/>
            <a:ext cx="475488" cy="475488"/>
          </a:xfrm>
          <a:prstGeom prst="ellipse">
            <a:avLst/>
          </a:prstGeom>
          <a:solidFill>
            <a:schemeClr val="accent5"/>
          </a:solidFill>
          <a:ln w="12700">
            <a:solidFill>
              <a:schemeClr val="accent5"/>
            </a:solidFill>
            <a:prstDash val="solid"/>
          </a:ln>
        </p:spPr>
      </p:sp>
      <p:pic>
        <p:nvPicPr>
          <p:cNvPr id="27" name="Image 4" descr="icon">    </p:cNvPr>
          <p:cNvPicPr>
            <a:picLocks noChangeAspect="1"/>
          </p:cNvPicPr>
          <p:nvPr/>
        </p:nvPicPr>
        <p:blipFill>
          <a:blip r:embed="rId5"/>
          <a:stretch>
            <a:fillRect/>
          </a:stretch>
        </p:blipFill>
        <p:spPr>
          <a:xfrm>
            <a:off x="4639056" y="4233672"/>
            <a:ext cx="237744" cy="237744"/>
          </a:xfrm>
          <a:prstGeom prst="rect">
            <a:avLst/>
          </a:prstGeom>
        </p:spPr>
      </p:pic>
      <p:sp>
        <p:nvSpPr>
          <p:cNvPr id="28" name="Text 20"/>
          <p:cNvSpPr txBox="1"/>
          <p:nvPr/>
        </p:nvSpPr>
        <p:spPr>
          <a:xfrm>
            <a:off x="5141976"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Search</a:t>
            </a:r>
            <a:endParaRPr lang="en-US" sz="1500" dirty="0"/>
          </a:p>
        </p:txBody>
      </p:sp>
      <p:sp>
        <p:nvSpPr>
          <p:cNvPr id="29" name="Text 21"/>
          <p:cNvSpPr txBox="1"/>
          <p:nvPr/>
        </p:nvSpPr>
        <p:spPr>
          <a:xfrm>
            <a:off x="4565904"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OpenSearch (scalable)</a:t>
            </a:r>
            <a:endParaRPr lang="en-US" sz="1300" dirty="0"/>
          </a:p>
          <a:p>
            <a:pPr marL="177800" indent="-177800">
              <a:spcAft>
                <a:spcPts val="400"/>
              </a:spcAft>
              <a:buSzPct val="100000"/>
              <a:buChar char="•"/>
            </a:pPr>
            <a:r>
              <a:rPr lang="en-US" sz="1300" dirty="0">
                <a:solidFill>
                  <a:schemeClr val="tx1"/>
                </a:solidFill>
              </a:rPr>
              <a:t>Meilisearch (fast)</a:t>
            </a:r>
            <a:endParaRPr lang="en-US" sz="1300" dirty="0"/>
          </a:p>
          <a:p>
            <a:pPr marL="177800" indent="-177800">
              <a:spcAft>
                <a:spcPts val="400"/>
              </a:spcAft>
              <a:buSzPct val="100000"/>
              <a:buChar char="•"/>
            </a:pPr>
            <a:r>
              <a:rPr lang="en-US" sz="1300" dirty="0">
                <a:solidFill>
                  <a:schemeClr val="tx1"/>
                </a:solidFill>
              </a:rPr>
              <a:t>Elasticsearch (enterprise)</a:t>
            </a:r>
            <a:endParaRPr lang="en-US" sz="1300" dirty="0"/>
          </a:p>
        </p:txBody>
      </p:sp>
      <p:sp>
        <p:nvSpPr>
          <p:cNvPr id="30" name="card Object Storage"/>
          <p:cNvSpPr/>
          <p:nvPr/>
        </p:nvSpPr>
        <p:spPr>
          <a:xfrm>
            <a:off x="8125968"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1" name="icon Object Storage"/>
          <p:cNvSpPr/>
          <p:nvPr/>
        </p:nvSpPr>
        <p:spPr>
          <a:xfrm>
            <a:off x="8308848" y="4114800"/>
            <a:ext cx="475488" cy="475488"/>
          </a:xfrm>
          <a:prstGeom prst="ellipse">
            <a:avLst/>
          </a:prstGeom>
          <a:solidFill>
            <a:schemeClr val="accent4"/>
          </a:solidFill>
          <a:ln w="12700">
            <a:solidFill>
              <a:schemeClr val="accent4"/>
            </a:solidFill>
            <a:prstDash val="solid"/>
          </a:ln>
        </p:spPr>
      </p:sp>
      <p:pic>
        <p:nvPicPr>
          <p:cNvPr id="32" name="Image 5" descr="icon">    </p:cNvPr>
          <p:cNvPicPr>
            <a:picLocks noChangeAspect="1"/>
          </p:cNvPicPr>
          <p:nvPr/>
        </p:nvPicPr>
        <p:blipFill>
          <a:blip r:embed="rId6"/>
          <a:stretch>
            <a:fillRect/>
          </a:stretch>
        </p:blipFill>
        <p:spPr>
          <a:xfrm>
            <a:off x="8427720" y="4233672"/>
            <a:ext cx="237744" cy="237744"/>
          </a:xfrm>
          <a:prstGeom prst="rect">
            <a:avLst/>
          </a:prstGeom>
        </p:spPr>
      </p:pic>
      <p:sp>
        <p:nvSpPr>
          <p:cNvPr id="33" name="Text 24"/>
          <p:cNvSpPr txBox="1"/>
          <p:nvPr/>
        </p:nvSpPr>
        <p:spPr>
          <a:xfrm>
            <a:off x="8930640"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Object Storage</a:t>
            </a:r>
            <a:endParaRPr lang="en-US" sz="1500" dirty="0"/>
          </a:p>
        </p:txBody>
      </p:sp>
      <p:sp>
        <p:nvSpPr>
          <p:cNvPr id="34" name="Text 25"/>
          <p:cNvSpPr txBox="1"/>
          <p:nvPr/>
        </p:nvSpPr>
        <p:spPr>
          <a:xfrm>
            <a:off x="8354568"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S3 (object storage)</a:t>
            </a:r>
            <a:endParaRPr lang="en-US" sz="1300" dirty="0"/>
          </a:p>
          <a:p>
            <a:pPr marL="177800" indent="-177800">
              <a:spcAft>
                <a:spcPts val="400"/>
              </a:spcAft>
              <a:buSzPct val="100000"/>
              <a:buChar char="•"/>
            </a:pPr>
            <a:r>
              <a:rPr lang="en-US" sz="1300" dirty="0">
                <a:solidFill>
                  <a:schemeClr val="tx1"/>
                </a:solidFill>
              </a:rPr>
              <a:t>MinIO (self-hosted)</a:t>
            </a:r>
            <a:endParaRPr lang="en-US" sz="1300" dirty="0"/>
          </a:p>
          <a:p>
            <a:pPr marL="177800" indent="-177800">
              <a:spcAft>
                <a:spcPts val="400"/>
              </a:spcAft>
              <a:buSzPct val="100000"/>
              <a:buChar char="•"/>
            </a:pPr>
            <a:r>
              <a:rPr lang="en-US" sz="1300" dirty="0">
                <a:solidFill>
                  <a:schemeClr val="tx1"/>
                </a:solidFill>
              </a:rPr>
              <a:t>Cloudflare R2 (enterprise)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731520"/>
          </a:xfrm>
          <a:prstGeom prst="rect">
            <a:avLst/>
          </a:prstGeom>
          <a:noFill/>
          <a:ln/>
        </p:spPr>
        <p:txBody>
          <a:bodyPr wrap="square" lIns="0" tIns="0" rIns="0" bIns="0" rtlCol="0" anchor="ctr"/>
          <a:lstStyle/>
          <a:p>
            <a:pPr indent="0" marL="0">
              <a:buNone/>
            </a:pPr>
            <a:r>
              <a:rPr lang="en-US" sz="3400" b="1" dirty="0">
                <a:solidFill>
                  <a:schemeClr val="tx1"/>
                </a:solidFill>
              </a:rPr>
              <a:t>Future Enhancements</a:t>
            </a:r>
            <a:endParaRPr lang="en-US" sz="3400" dirty="0"/>
          </a:p>
        </p:txBody>
      </p:sp>
      <p:sp>
        <p:nvSpPr>
          <p:cNvPr id="3" name="Text 1"/>
          <p:cNvSpPr txBox="1"/>
          <p:nvPr/>
        </p:nvSpPr>
        <p:spPr>
          <a:xfrm>
            <a:off x="548640" y="256032"/>
            <a:ext cx="8229600" cy="256032"/>
          </a:xfrm>
          <a:prstGeom prst="rect">
            <a:avLst/>
          </a:prstGeom>
          <a:noFill/>
          <a:ln/>
        </p:spPr>
        <p:txBody>
          <a:bodyPr wrap="square" lIns="0" tIns="0" rIns="0" bIns="0" rtlCol="0" anchor="t"/>
          <a:lstStyle/>
          <a:p>
            <a:pPr indent="0" marL="0">
              <a:buNone/>
            </a:pPr>
            <a:r>
              <a:rPr lang="en-US" sz="1100" b="1" dirty="0">
                <a:solidFill>
                  <a:schemeClr val="accent2"/>
                </a:solidFill>
              </a:rPr>
              <a:t>PART 2 · RETRIEVAL, INTELLIGENCE &amp; OPERATIONS</a:t>
            </a:r>
            <a:endParaRPr lang="en-US" sz="1100" dirty="0"/>
          </a:p>
        </p:txBody>
      </p:sp>
      <p:sp>
        <p:nvSpPr>
          <p:cNvPr id="5" name="card Research Capabilities"/>
          <p:cNvSpPr/>
          <p:nvPr/>
        </p:nvSpPr>
        <p:spPr>
          <a:xfrm>
            <a:off x="548640"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icon Research Capabilities"/>
          <p:cNvSpPr/>
          <p:nvPr/>
        </p:nvSpPr>
        <p:spPr>
          <a:xfrm>
            <a:off x="731520" y="1645920"/>
            <a:ext cx="475488" cy="475488"/>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850392" y="1764792"/>
            <a:ext cx="237744" cy="237744"/>
          </a:xfrm>
          <a:prstGeom prst="rect">
            <a:avLst/>
          </a:prstGeom>
        </p:spPr>
      </p:pic>
      <p:sp>
        <p:nvSpPr>
          <p:cNvPr id="8" name="Text 4"/>
          <p:cNvSpPr txBox="1"/>
          <p:nvPr/>
        </p:nvSpPr>
        <p:spPr>
          <a:xfrm>
            <a:off x="1353312"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Research Capabilities</a:t>
            </a:r>
            <a:endParaRPr lang="en-US" sz="1500" dirty="0"/>
          </a:p>
        </p:txBody>
      </p:sp>
      <p:sp>
        <p:nvSpPr>
          <p:cNvPr id="9" name="Text 5"/>
          <p:cNvSpPr txBox="1"/>
          <p:nvPr/>
        </p:nvSpPr>
        <p:spPr>
          <a:xfrm>
            <a:off x="777240"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Multi-agent research</a:t>
            </a:r>
            <a:endParaRPr lang="en-US" sz="1300" dirty="0"/>
          </a:p>
          <a:p>
            <a:pPr marL="177800" indent="-177800">
              <a:spcAft>
                <a:spcPts val="400"/>
              </a:spcAft>
              <a:buSzPct val="100000"/>
              <a:buChar char="•"/>
            </a:pPr>
            <a:r>
              <a:rPr lang="en-US" sz="1300" dirty="0">
                <a:solidFill>
                  <a:schemeClr val="tx1"/>
                </a:solidFill>
              </a:rPr>
              <a:t>Graph RAG, agentic search</a:t>
            </a:r>
            <a:endParaRPr lang="en-US" sz="1300" dirty="0"/>
          </a:p>
          <a:p>
            <a:pPr marL="177800" indent="-177800">
              <a:spcAft>
                <a:spcPts val="400"/>
              </a:spcAft>
              <a:buSzPct val="100000"/>
              <a:buChar char="•"/>
            </a:pPr>
            <a:r>
              <a:rPr lang="en-US" sz="1300" dirty="0">
                <a:solidFill>
                  <a:schemeClr val="tx1"/>
                </a:solidFill>
              </a:rPr>
              <a:t>Knowledge graph &amp; entity linking</a:t>
            </a:r>
            <a:endParaRPr lang="en-US" sz="1300" dirty="0"/>
          </a:p>
          <a:p>
            <a:pPr marL="177800" indent="-177800">
              <a:spcAft>
                <a:spcPts val="400"/>
              </a:spcAft>
              <a:buSzPct val="100000"/>
              <a:buChar char="•"/>
            </a:pPr>
            <a:r>
              <a:rPr lang="en-US" sz="1300" dirty="0">
                <a:solidFill>
                  <a:schemeClr val="tx1"/>
                </a:solidFill>
              </a:rPr>
              <a:t>Multi-modal input</a:t>
            </a:r>
            <a:endParaRPr lang="en-US" sz="1300" dirty="0"/>
          </a:p>
        </p:txBody>
      </p:sp>
      <p:sp>
        <p:nvSpPr>
          <p:cNvPr id="10" name="card Integrations &amp; Output"/>
          <p:cNvSpPr/>
          <p:nvPr/>
        </p:nvSpPr>
        <p:spPr>
          <a:xfrm>
            <a:off x="4337304"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icon Integrations &amp; Output"/>
          <p:cNvSpPr/>
          <p:nvPr/>
        </p:nvSpPr>
        <p:spPr>
          <a:xfrm>
            <a:off x="4520184" y="1645920"/>
            <a:ext cx="475488" cy="475488"/>
          </a:xfrm>
          <a:prstGeom prst="ellipse">
            <a:avLst/>
          </a:prstGeom>
          <a:solidFill>
            <a:schemeClr val="accent3"/>
          </a:solidFill>
          <a:ln w="12700">
            <a:solidFill>
              <a:schemeClr val="accent3"/>
            </a:solidFill>
            <a:prstDash val="solid"/>
          </a:ln>
        </p:spPr>
      </p:sp>
      <p:pic>
        <p:nvPicPr>
          <p:cNvPr id="12" name="Image 1" descr="icon">    </p:cNvPr>
          <p:cNvPicPr>
            <a:picLocks noChangeAspect="1"/>
          </p:cNvPicPr>
          <p:nvPr/>
        </p:nvPicPr>
        <p:blipFill>
          <a:blip r:embed="rId2"/>
          <a:stretch>
            <a:fillRect/>
          </a:stretch>
        </p:blipFill>
        <p:spPr>
          <a:xfrm>
            <a:off x="4639056" y="1764792"/>
            <a:ext cx="237744" cy="237744"/>
          </a:xfrm>
          <a:prstGeom prst="rect">
            <a:avLst/>
          </a:prstGeom>
        </p:spPr>
      </p:pic>
      <p:sp>
        <p:nvSpPr>
          <p:cNvPr id="13" name="Text 8"/>
          <p:cNvSpPr txBox="1"/>
          <p:nvPr/>
        </p:nvSpPr>
        <p:spPr>
          <a:xfrm>
            <a:off x="5141976"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Integrations &amp; Output</a:t>
            </a:r>
            <a:endParaRPr lang="en-US" sz="1500" dirty="0"/>
          </a:p>
        </p:txBody>
      </p:sp>
      <p:sp>
        <p:nvSpPr>
          <p:cNvPr id="14" name="Text 9"/>
          <p:cNvSpPr txBox="1"/>
          <p:nvPr/>
        </p:nvSpPr>
        <p:spPr>
          <a:xfrm>
            <a:off x="4565904"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Google Drive / Zotero</a:t>
            </a:r>
            <a:endParaRPr lang="en-US" sz="1300" dirty="0"/>
          </a:p>
          <a:p>
            <a:pPr marL="177800" indent="-177800">
              <a:spcAft>
                <a:spcPts val="400"/>
              </a:spcAft>
              <a:buSzPct val="100000"/>
              <a:buChar char="•"/>
            </a:pPr>
            <a:r>
              <a:rPr lang="en-US" sz="1300" dirty="0">
                <a:solidFill>
                  <a:schemeClr val="tx1"/>
                </a:solidFill>
              </a:rPr>
              <a:t>Scheduled report generation</a:t>
            </a:r>
            <a:endParaRPr lang="en-US" sz="1300" dirty="0"/>
          </a:p>
          <a:p>
            <a:pPr marL="177800" indent="-177800">
              <a:spcAft>
                <a:spcPts val="400"/>
              </a:spcAft>
              <a:buSzPct val="100000"/>
              <a:buChar char="•"/>
            </a:pPr>
            <a:r>
              <a:rPr lang="en-US" sz="1300" dirty="0">
                <a:solidFill>
                  <a:schemeClr val="tx1"/>
                </a:solidFill>
              </a:rPr>
              <a:t>APA / MLA, PDF &amp; CSV export</a:t>
            </a:r>
            <a:endParaRPr lang="en-US" sz="1300" dirty="0"/>
          </a:p>
        </p:txBody>
      </p:sp>
      <p:sp>
        <p:nvSpPr>
          <p:cNvPr id="15" name="card Scale &amp; Operations"/>
          <p:cNvSpPr/>
          <p:nvPr/>
        </p:nvSpPr>
        <p:spPr>
          <a:xfrm>
            <a:off x="8125968" y="146304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 Scale &amp; Operations"/>
          <p:cNvSpPr/>
          <p:nvPr/>
        </p:nvSpPr>
        <p:spPr>
          <a:xfrm>
            <a:off x="8308848" y="1645920"/>
            <a:ext cx="475488" cy="475488"/>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8427720" y="1764792"/>
            <a:ext cx="237744" cy="237744"/>
          </a:xfrm>
          <a:prstGeom prst="rect">
            <a:avLst/>
          </a:prstGeom>
        </p:spPr>
      </p:pic>
      <p:sp>
        <p:nvSpPr>
          <p:cNvPr id="18" name="Text 12"/>
          <p:cNvSpPr txBox="1"/>
          <p:nvPr/>
        </p:nvSpPr>
        <p:spPr>
          <a:xfrm>
            <a:off x="8930640" y="161848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Scale &amp; Operations</a:t>
            </a:r>
            <a:endParaRPr lang="en-US" sz="1500" dirty="0"/>
          </a:p>
        </p:txBody>
      </p:sp>
      <p:sp>
        <p:nvSpPr>
          <p:cNvPr id="19" name="Text 13"/>
          <p:cNvSpPr txBox="1"/>
          <p:nvPr/>
        </p:nvSpPr>
        <p:spPr>
          <a:xfrm>
            <a:off x="8354568" y="228600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Background indexing (Celery / RQ)</a:t>
            </a:r>
            <a:endParaRPr lang="en-US" sz="1300" dirty="0"/>
          </a:p>
          <a:p>
            <a:pPr marL="177800" indent="-177800">
              <a:spcAft>
                <a:spcPts val="400"/>
              </a:spcAft>
              <a:buSzPct val="100000"/>
              <a:buChar char="•"/>
            </a:pPr>
            <a:r>
              <a:rPr lang="en-US" sz="1300" dirty="0">
                <a:solidFill>
                  <a:schemeClr val="tx1"/>
                </a:solidFill>
              </a:rPr>
              <a:t>Model quantization</a:t>
            </a:r>
            <a:endParaRPr lang="en-US" sz="1300" dirty="0"/>
          </a:p>
          <a:p>
            <a:pPr marL="177800" indent="-177800">
              <a:spcAft>
                <a:spcPts val="400"/>
              </a:spcAft>
              <a:buSzPct val="100000"/>
              <a:buChar char="•"/>
            </a:pPr>
            <a:r>
              <a:rPr lang="en-US" sz="1300" dirty="0">
                <a:solidFill>
                  <a:schemeClr val="tx1"/>
                </a:solidFill>
              </a:rPr>
              <a:t>Load testing (1000+ users)</a:t>
            </a:r>
            <a:endParaRPr lang="en-US" sz="1300" dirty="0"/>
          </a:p>
          <a:p>
            <a:pPr marL="177800" indent="-177800">
              <a:spcAft>
                <a:spcPts val="400"/>
              </a:spcAft>
              <a:buSzPct val="100000"/>
              <a:buChar char="•"/>
            </a:pPr>
            <a:r>
              <a:rPr lang="en-US" sz="1300" dirty="0">
                <a:solidFill>
                  <a:schemeClr val="tx1"/>
                </a:solidFill>
              </a:rPr>
              <a:t>Grafana / Loki in production</a:t>
            </a:r>
            <a:endParaRPr lang="en-US" sz="1300" dirty="0"/>
          </a:p>
        </p:txBody>
      </p:sp>
      <p:sp>
        <p:nvSpPr>
          <p:cNvPr id="20" name="card Validation Checks"/>
          <p:cNvSpPr/>
          <p:nvPr/>
        </p:nvSpPr>
        <p:spPr>
          <a:xfrm>
            <a:off x="548640"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Validation Checks"/>
          <p:cNvSpPr/>
          <p:nvPr/>
        </p:nvSpPr>
        <p:spPr>
          <a:xfrm>
            <a:off x="731520" y="4114800"/>
            <a:ext cx="475488" cy="475488"/>
          </a:xfrm>
          <a:prstGeom prst="ellipse">
            <a:avLst/>
          </a:prstGeom>
          <a:solidFill>
            <a:schemeClr val="accent5"/>
          </a:solidFill>
          <a:ln w="12700">
            <a:solidFill>
              <a:schemeClr val="accent5"/>
            </a:solidFill>
            <a:prstDash val="solid"/>
          </a:ln>
        </p:spPr>
      </p:sp>
      <p:pic>
        <p:nvPicPr>
          <p:cNvPr id="22" name="Image 3" descr="icon">    </p:cNvPr>
          <p:cNvPicPr>
            <a:picLocks noChangeAspect="1"/>
          </p:cNvPicPr>
          <p:nvPr/>
        </p:nvPicPr>
        <p:blipFill>
          <a:blip r:embed="rId4"/>
          <a:stretch>
            <a:fillRect/>
          </a:stretch>
        </p:blipFill>
        <p:spPr>
          <a:xfrm>
            <a:off x="850392" y="4233672"/>
            <a:ext cx="237744" cy="237744"/>
          </a:xfrm>
          <a:prstGeom prst="rect">
            <a:avLst/>
          </a:prstGeom>
        </p:spPr>
      </p:pic>
      <p:sp>
        <p:nvSpPr>
          <p:cNvPr id="23" name="Text 16"/>
          <p:cNvSpPr txBox="1"/>
          <p:nvPr/>
        </p:nvSpPr>
        <p:spPr>
          <a:xfrm>
            <a:off x="1353312"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Validation Checks</a:t>
            </a:r>
            <a:endParaRPr lang="en-US" sz="1500" dirty="0"/>
          </a:p>
        </p:txBody>
      </p:sp>
      <p:sp>
        <p:nvSpPr>
          <p:cNvPr id="24" name="Text 17"/>
          <p:cNvSpPr txBox="1"/>
          <p:nvPr/>
        </p:nvSpPr>
        <p:spPr>
          <a:xfrm>
            <a:off x="777240"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DOI / link verification</a:t>
            </a:r>
            <a:endParaRPr lang="en-US" sz="1300" dirty="0"/>
          </a:p>
          <a:p>
            <a:pPr marL="177800" indent="-177800">
              <a:spcAft>
                <a:spcPts val="400"/>
              </a:spcAft>
              <a:buSzPct val="100000"/>
              <a:buChar char="•"/>
            </a:pPr>
            <a:r>
              <a:rPr lang="en-US" sz="1300" dirty="0">
                <a:solidFill>
                  <a:schemeClr val="tx1"/>
                </a:solidFill>
              </a:rPr>
              <a:t>Source credibility, cross-reference</a:t>
            </a:r>
            <a:endParaRPr lang="en-US" sz="1300" dirty="0"/>
          </a:p>
          <a:p>
            <a:pPr marL="177800" indent="-177800">
              <a:spcAft>
                <a:spcPts val="400"/>
              </a:spcAft>
              <a:buSzPct val="100000"/>
              <a:buChar char="•"/>
            </a:pPr>
            <a:r>
              <a:rPr lang="en-US" sz="1300" dirty="0">
                <a:solidFill>
                  <a:schemeClr val="tx1"/>
                </a:solidFill>
              </a:rPr>
              <a:t>Fact consistency</a:t>
            </a:r>
            <a:endParaRPr lang="en-US" sz="1300" dirty="0"/>
          </a:p>
        </p:txBody>
      </p:sp>
      <p:sp>
        <p:nvSpPr>
          <p:cNvPr id="25" name="card Evidence Model"/>
          <p:cNvSpPr/>
          <p:nvPr/>
        </p:nvSpPr>
        <p:spPr>
          <a:xfrm>
            <a:off x="4337304"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icon Evidence Model"/>
          <p:cNvSpPr/>
          <p:nvPr/>
        </p:nvSpPr>
        <p:spPr>
          <a:xfrm>
            <a:off x="4520184" y="4114800"/>
            <a:ext cx="475488" cy="475488"/>
          </a:xfrm>
          <a:prstGeom prst="ellipse">
            <a:avLst/>
          </a:prstGeom>
          <a:solidFill>
            <a:schemeClr val="accent6"/>
          </a:solidFill>
          <a:ln w="12700">
            <a:solidFill>
              <a:schemeClr val="accent6"/>
            </a:solidFill>
            <a:prstDash val="solid"/>
          </a:ln>
        </p:spPr>
      </p:sp>
      <p:pic>
        <p:nvPicPr>
          <p:cNvPr id="27" name="Image 4" descr="icon">    </p:cNvPr>
          <p:cNvPicPr>
            <a:picLocks noChangeAspect="1"/>
          </p:cNvPicPr>
          <p:nvPr/>
        </p:nvPicPr>
        <p:blipFill>
          <a:blip r:embed="rId5"/>
          <a:stretch>
            <a:fillRect/>
          </a:stretch>
        </p:blipFill>
        <p:spPr>
          <a:xfrm>
            <a:off x="4639056" y="4233672"/>
            <a:ext cx="237744" cy="237744"/>
          </a:xfrm>
          <a:prstGeom prst="rect">
            <a:avLst/>
          </a:prstGeom>
        </p:spPr>
      </p:pic>
      <p:sp>
        <p:nvSpPr>
          <p:cNvPr id="28" name="Text 20"/>
          <p:cNvSpPr txBox="1"/>
          <p:nvPr/>
        </p:nvSpPr>
        <p:spPr>
          <a:xfrm>
            <a:off x="5141976"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Evidence Model</a:t>
            </a:r>
            <a:endParaRPr lang="en-US" sz="1500" dirty="0"/>
          </a:p>
        </p:txBody>
      </p:sp>
      <p:sp>
        <p:nvSpPr>
          <p:cNvPr id="29" name="Text 21"/>
          <p:cNvSpPr txBox="1"/>
          <p:nvPr/>
        </p:nvSpPr>
        <p:spPr>
          <a:xfrm>
            <a:off x="4565904"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source_id, chunk_id, quote</a:t>
            </a:r>
            <a:endParaRPr lang="en-US" sz="1300" dirty="0"/>
          </a:p>
          <a:p>
            <a:pPr marL="177800" indent="-177800">
              <a:spcAft>
                <a:spcPts val="400"/>
              </a:spcAft>
              <a:buSzPct val="100000"/>
              <a:buChar char="•"/>
            </a:pPr>
            <a:r>
              <a:rPr lang="en-US" sz="1300" dirty="0">
                <a:solidFill>
                  <a:schemeClr val="tx1"/>
                </a:solidFill>
              </a:rPr>
              <a:t>page_range, confidence_score</a:t>
            </a:r>
            <a:endParaRPr lang="en-US" sz="1300" dirty="0"/>
          </a:p>
        </p:txBody>
      </p:sp>
      <p:sp>
        <p:nvSpPr>
          <p:cNvPr id="30" name="card Access &amp; Collaboration"/>
          <p:cNvSpPr/>
          <p:nvPr/>
        </p:nvSpPr>
        <p:spPr>
          <a:xfrm>
            <a:off x="8125968" y="3931920"/>
            <a:ext cx="3514344" cy="219456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1" name="icon Access &amp; Collaboration"/>
          <p:cNvSpPr/>
          <p:nvPr/>
        </p:nvSpPr>
        <p:spPr>
          <a:xfrm>
            <a:off x="8308848" y="4114800"/>
            <a:ext cx="475488" cy="475488"/>
          </a:xfrm>
          <a:prstGeom prst="ellipse">
            <a:avLst/>
          </a:prstGeom>
          <a:solidFill>
            <a:schemeClr val="accent4"/>
          </a:solidFill>
          <a:ln w="12700">
            <a:solidFill>
              <a:schemeClr val="accent4"/>
            </a:solidFill>
            <a:prstDash val="solid"/>
          </a:ln>
        </p:spPr>
      </p:sp>
      <p:pic>
        <p:nvPicPr>
          <p:cNvPr id="32" name="Image 5" descr="icon">    </p:cNvPr>
          <p:cNvPicPr>
            <a:picLocks noChangeAspect="1"/>
          </p:cNvPicPr>
          <p:nvPr/>
        </p:nvPicPr>
        <p:blipFill>
          <a:blip r:embed="rId6"/>
          <a:stretch>
            <a:fillRect/>
          </a:stretch>
        </p:blipFill>
        <p:spPr>
          <a:xfrm>
            <a:off x="8427720" y="4233672"/>
            <a:ext cx="237744" cy="237744"/>
          </a:xfrm>
          <a:prstGeom prst="rect">
            <a:avLst/>
          </a:prstGeom>
        </p:spPr>
      </p:pic>
      <p:sp>
        <p:nvSpPr>
          <p:cNvPr id="33" name="Text 24"/>
          <p:cNvSpPr txBox="1"/>
          <p:nvPr/>
        </p:nvSpPr>
        <p:spPr>
          <a:xfrm>
            <a:off x="8930640" y="4087368"/>
            <a:ext cx="2554224" cy="530352"/>
          </a:xfrm>
          <a:prstGeom prst="rect">
            <a:avLst/>
          </a:prstGeom>
          <a:noFill/>
          <a:ln/>
        </p:spPr>
        <p:txBody>
          <a:bodyPr wrap="square" lIns="0" tIns="0" rIns="0" bIns="0" rtlCol="0" anchor="ctr"/>
          <a:lstStyle/>
          <a:p>
            <a:pPr indent="0" marL="0">
              <a:buNone/>
            </a:pPr>
            <a:r>
              <a:rPr lang="en-US" sz="1500" b="1" dirty="0">
                <a:solidFill>
                  <a:schemeClr val="tx1"/>
                </a:solidFill>
              </a:rPr>
              <a:t>Access &amp; Collaboration</a:t>
            </a:r>
            <a:endParaRPr lang="en-US" sz="1500" dirty="0"/>
          </a:p>
        </p:txBody>
      </p:sp>
      <p:sp>
        <p:nvSpPr>
          <p:cNvPr id="34" name="Text 25"/>
          <p:cNvSpPr txBox="1"/>
          <p:nvPr/>
        </p:nvSpPr>
        <p:spPr>
          <a:xfrm>
            <a:off x="8354568" y="4754880"/>
            <a:ext cx="3102864" cy="12801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Fine-grained access control</a:t>
            </a:r>
            <a:endParaRPr lang="en-US" sz="1300" dirty="0"/>
          </a:p>
          <a:p>
            <a:pPr marL="177800" indent="-177800">
              <a:spcAft>
                <a:spcPts val="400"/>
              </a:spcAft>
              <a:buSzPct val="100000"/>
              <a:buChar char="•"/>
            </a:pPr>
            <a:r>
              <a:rPr lang="en-US" sz="1300" dirty="0">
                <a:solidFill>
                  <a:schemeClr val="tx1"/>
                </a:solidFill>
              </a:rPr>
              <a:t>Shared projects, team workspace</a:t>
            </a:r>
            <a:endParaRPr lang="en-US" sz="1300" dirty="0"/>
          </a:p>
          <a:p>
            <a:pPr marL="177800" indent="-177800">
              <a:spcAft>
                <a:spcPts val="400"/>
              </a:spcAft>
              <a:buSzPct val="100000"/>
              <a:buChar char="•"/>
            </a:pPr>
            <a:r>
              <a:rPr lang="en-US" sz="1300" dirty="0">
                <a:solidFill>
                  <a:schemeClr val="tx1"/>
                </a:solidFill>
              </a:rPr>
              <a:t>User feedback &amp; personalization</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txBox="1"/>
          <p:nvPr/>
        </p:nvSpPr>
        <p:spPr>
          <a:xfrm>
            <a:off x="731520" y="548640"/>
            <a:ext cx="1051560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Summary &amp; Technology Stack</a:t>
            </a:r>
            <a:endParaRPr lang="en-US" sz="3600" dirty="0"/>
          </a:p>
        </p:txBody>
      </p:sp>
      <p:sp>
        <p:nvSpPr>
          <p:cNvPr id="4" name="Shape 1"/>
          <p:cNvSpPr/>
          <p:nvPr/>
        </p:nvSpPr>
        <p:spPr>
          <a:xfrm>
            <a:off x="731520" y="1645920"/>
            <a:ext cx="2560320" cy="2377440"/>
          </a:xfrm>
          <a:prstGeom prst="roundRect">
            <a:avLst>
              <a:gd name="adj" fmla="val 3846"/>
            </a:avLst>
          </a:prstGeom>
          <a:solidFill>
            <a:schemeClr val="tx2"/>
          </a:solidFill>
          <a:ln w="12700">
            <a:solidFill>
              <a:schemeClr val="tx2"/>
            </a:solidFill>
            <a:prstDash val="solid"/>
          </a:ln>
        </p:spPr>
      </p:sp>
      <p:sp>
        <p:nvSpPr>
          <p:cNvPr id="5" name="summary Trusted inputs"/>
          <p:cNvSpPr/>
          <p:nvPr/>
        </p:nvSpPr>
        <p:spPr>
          <a:xfrm>
            <a:off x="960120" y="1828800"/>
            <a:ext cx="548640" cy="54864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1097280" y="1965960"/>
            <a:ext cx="274320" cy="274320"/>
          </a:xfrm>
          <a:prstGeom prst="rect">
            <a:avLst/>
          </a:prstGeom>
        </p:spPr>
      </p:pic>
      <p:sp>
        <p:nvSpPr>
          <p:cNvPr id="7" name="Text 3"/>
          <p:cNvSpPr txBox="1"/>
          <p:nvPr/>
        </p:nvSpPr>
        <p:spPr>
          <a:xfrm>
            <a:off x="960120" y="2560320"/>
            <a:ext cx="2194560" cy="365760"/>
          </a:xfrm>
          <a:prstGeom prst="rect">
            <a:avLst/>
          </a:prstGeom>
          <a:noFill/>
          <a:ln/>
        </p:spPr>
        <p:txBody>
          <a:bodyPr wrap="square" lIns="0" tIns="0" rIns="0" bIns="0" rtlCol="0" anchor="t"/>
          <a:lstStyle/>
          <a:p>
            <a:pPr indent="0" marL="0">
              <a:buNone/>
            </a:pPr>
            <a:r>
              <a:rPr lang="en-US" sz="1700" b="1" dirty="0">
                <a:solidFill>
                  <a:schemeClr val="bg1"/>
                </a:solidFill>
              </a:rPr>
              <a:t>Trusted inputs</a:t>
            </a:r>
            <a:endParaRPr lang="en-US" sz="1700" dirty="0"/>
          </a:p>
        </p:txBody>
      </p:sp>
      <p:sp>
        <p:nvSpPr>
          <p:cNvPr id="8" name="Text 4"/>
          <p:cNvSpPr txBox="1"/>
          <p:nvPr/>
        </p:nvSpPr>
        <p:spPr>
          <a:xfrm>
            <a:off x="960120" y="2971800"/>
            <a:ext cx="2194560" cy="914400"/>
          </a:xfrm>
          <a:prstGeom prst="rect">
            <a:avLst/>
          </a:prstGeom>
          <a:noFill/>
          <a:ln/>
        </p:spPr>
        <p:txBody>
          <a:bodyPr wrap="square" lIns="0" tIns="0" rIns="0" bIns="0" rtlCol="0" anchor="t"/>
          <a:lstStyle/>
          <a:p>
            <a:pPr indent="0" marL="0">
              <a:buNone/>
            </a:pPr>
            <a:r>
              <a:rPr lang="en-US" sz="1300" dirty="0">
                <a:solidFill>
                  <a:schemeClr val="bg2"/>
                </a:solidFill>
              </a:rPr>
              <a:t>Validated, scored, deduplicated sources</a:t>
            </a:r>
            <a:endParaRPr lang="en-US" sz="1300" dirty="0"/>
          </a:p>
        </p:txBody>
      </p:sp>
      <p:sp>
        <p:nvSpPr>
          <p:cNvPr id="9" name="Shape 5"/>
          <p:cNvSpPr/>
          <p:nvPr/>
        </p:nvSpPr>
        <p:spPr>
          <a:xfrm>
            <a:off x="3474720" y="1645920"/>
            <a:ext cx="2560320" cy="2377440"/>
          </a:xfrm>
          <a:prstGeom prst="roundRect">
            <a:avLst>
              <a:gd name="adj" fmla="val 3846"/>
            </a:avLst>
          </a:prstGeom>
          <a:solidFill>
            <a:schemeClr val="tx2"/>
          </a:solidFill>
          <a:ln w="12700">
            <a:solidFill>
              <a:schemeClr val="tx2"/>
            </a:solidFill>
            <a:prstDash val="solid"/>
          </a:ln>
        </p:spPr>
      </p:sp>
      <p:sp>
        <p:nvSpPr>
          <p:cNvPr id="10" name="summary Grounded answers"/>
          <p:cNvSpPr/>
          <p:nvPr/>
        </p:nvSpPr>
        <p:spPr>
          <a:xfrm>
            <a:off x="3703320" y="1828800"/>
            <a:ext cx="548640" cy="548640"/>
          </a:xfrm>
          <a:prstGeom prst="ellipse">
            <a:avLst/>
          </a:prstGeom>
          <a:solidFill>
            <a:schemeClr val="accent2"/>
          </a:solidFill>
          <a:ln w="12700">
            <a:solidFill>
              <a:schemeClr val="accent2"/>
            </a:solidFill>
            <a:prstDash val="solid"/>
          </a:ln>
        </p:spPr>
      </p:sp>
      <p:pic>
        <p:nvPicPr>
          <p:cNvPr id="11" name="Image 1" descr="icon">    </p:cNvPr>
          <p:cNvPicPr>
            <a:picLocks noChangeAspect="1"/>
          </p:cNvPicPr>
          <p:nvPr/>
        </p:nvPicPr>
        <p:blipFill>
          <a:blip r:embed="rId2"/>
          <a:stretch>
            <a:fillRect/>
          </a:stretch>
        </p:blipFill>
        <p:spPr>
          <a:xfrm>
            <a:off x="3840480" y="1965960"/>
            <a:ext cx="274320" cy="274320"/>
          </a:xfrm>
          <a:prstGeom prst="rect">
            <a:avLst/>
          </a:prstGeom>
        </p:spPr>
      </p:pic>
      <p:sp>
        <p:nvSpPr>
          <p:cNvPr id="12" name="Text 7"/>
          <p:cNvSpPr txBox="1"/>
          <p:nvPr/>
        </p:nvSpPr>
        <p:spPr>
          <a:xfrm>
            <a:off x="3703320" y="2560320"/>
            <a:ext cx="2194560" cy="365760"/>
          </a:xfrm>
          <a:prstGeom prst="rect">
            <a:avLst/>
          </a:prstGeom>
          <a:noFill/>
          <a:ln/>
        </p:spPr>
        <p:txBody>
          <a:bodyPr wrap="square" lIns="0" tIns="0" rIns="0" bIns="0" rtlCol="0" anchor="t"/>
          <a:lstStyle/>
          <a:p>
            <a:pPr indent="0" marL="0">
              <a:buNone/>
            </a:pPr>
            <a:r>
              <a:rPr lang="en-US" sz="1700" b="1" dirty="0">
                <a:solidFill>
                  <a:schemeClr val="bg1"/>
                </a:solidFill>
              </a:rPr>
              <a:t>Grounded answers</a:t>
            </a:r>
            <a:endParaRPr lang="en-US" sz="1700" dirty="0"/>
          </a:p>
        </p:txBody>
      </p:sp>
      <p:sp>
        <p:nvSpPr>
          <p:cNvPr id="13" name="Text 8"/>
          <p:cNvSpPr txBox="1"/>
          <p:nvPr/>
        </p:nvSpPr>
        <p:spPr>
          <a:xfrm>
            <a:off x="3703320" y="2971800"/>
            <a:ext cx="2194560" cy="914400"/>
          </a:xfrm>
          <a:prstGeom prst="rect">
            <a:avLst/>
          </a:prstGeom>
          <a:noFill/>
          <a:ln/>
        </p:spPr>
        <p:txBody>
          <a:bodyPr wrap="square" lIns="0" tIns="0" rIns="0" bIns="0" rtlCol="0" anchor="t"/>
          <a:lstStyle/>
          <a:p>
            <a:pPr indent="0" marL="0">
              <a:buNone/>
            </a:pPr>
            <a:r>
              <a:rPr lang="en-US" sz="1300" dirty="0">
                <a:solidFill>
                  <a:schemeClr val="bg2"/>
                </a:solidFill>
              </a:rPr>
              <a:t>Hybrid retrieval + validated citations</a:t>
            </a:r>
            <a:endParaRPr lang="en-US" sz="1300" dirty="0"/>
          </a:p>
        </p:txBody>
      </p:sp>
      <p:sp>
        <p:nvSpPr>
          <p:cNvPr id="14" name="Shape 9"/>
          <p:cNvSpPr/>
          <p:nvPr/>
        </p:nvSpPr>
        <p:spPr>
          <a:xfrm>
            <a:off x="6217920" y="1645920"/>
            <a:ext cx="2560320" cy="2377440"/>
          </a:xfrm>
          <a:prstGeom prst="roundRect">
            <a:avLst>
              <a:gd name="adj" fmla="val 3846"/>
            </a:avLst>
          </a:prstGeom>
          <a:solidFill>
            <a:schemeClr val="tx2"/>
          </a:solidFill>
          <a:ln w="12700">
            <a:solidFill>
              <a:schemeClr val="tx2"/>
            </a:solidFill>
            <a:prstDash val="solid"/>
          </a:ln>
        </p:spPr>
      </p:sp>
      <p:sp>
        <p:nvSpPr>
          <p:cNvPr id="15" name="summary Measurable"/>
          <p:cNvSpPr/>
          <p:nvPr/>
        </p:nvSpPr>
        <p:spPr>
          <a:xfrm>
            <a:off x="6446520" y="1828800"/>
            <a:ext cx="548640" cy="548640"/>
          </a:xfrm>
          <a:prstGeom prst="ellipse">
            <a:avLst/>
          </a:prstGeom>
          <a:solidFill>
            <a:schemeClr val="accent3"/>
          </a:solidFill>
          <a:ln w="12700">
            <a:solidFill>
              <a:schemeClr val="accent3"/>
            </a:solidFill>
            <a:prstDash val="solid"/>
          </a:ln>
        </p:spPr>
      </p:sp>
      <p:pic>
        <p:nvPicPr>
          <p:cNvPr id="16" name="Image 2" descr="icon">    </p:cNvPr>
          <p:cNvPicPr>
            <a:picLocks noChangeAspect="1"/>
          </p:cNvPicPr>
          <p:nvPr/>
        </p:nvPicPr>
        <p:blipFill>
          <a:blip r:embed="rId3"/>
          <a:stretch>
            <a:fillRect/>
          </a:stretch>
        </p:blipFill>
        <p:spPr>
          <a:xfrm>
            <a:off x="6583680" y="1965960"/>
            <a:ext cx="274320" cy="274320"/>
          </a:xfrm>
          <a:prstGeom prst="rect">
            <a:avLst/>
          </a:prstGeom>
        </p:spPr>
      </p:pic>
      <p:sp>
        <p:nvSpPr>
          <p:cNvPr id="17" name="Text 11"/>
          <p:cNvSpPr txBox="1"/>
          <p:nvPr/>
        </p:nvSpPr>
        <p:spPr>
          <a:xfrm>
            <a:off x="6446520" y="2560320"/>
            <a:ext cx="2194560" cy="365760"/>
          </a:xfrm>
          <a:prstGeom prst="rect">
            <a:avLst/>
          </a:prstGeom>
          <a:noFill/>
          <a:ln/>
        </p:spPr>
        <p:txBody>
          <a:bodyPr wrap="square" lIns="0" tIns="0" rIns="0" bIns="0" rtlCol="0" anchor="t"/>
          <a:lstStyle/>
          <a:p>
            <a:pPr indent="0" marL="0">
              <a:buNone/>
            </a:pPr>
            <a:r>
              <a:rPr lang="en-US" sz="1700" b="1" dirty="0">
                <a:solidFill>
                  <a:schemeClr val="bg1"/>
                </a:solidFill>
              </a:rPr>
              <a:t>Measurable</a:t>
            </a:r>
            <a:endParaRPr lang="en-US" sz="1700" dirty="0"/>
          </a:p>
        </p:txBody>
      </p:sp>
      <p:sp>
        <p:nvSpPr>
          <p:cNvPr id="18" name="Text 12"/>
          <p:cNvSpPr txBox="1"/>
          <p:nvPr/>
        </p:nvSpPr>
        <p:spPr>
          <a:xfrm>
            <a:off x="6446520" y="2971800"/>
            <a:ext cx="2194560" cy="914400"/>
          </a:xfrm>
          <a:prstGeom prst="rect">
            <a:avLst/>
          </a:prstGeom>
          <a:noFill/>
          <a:ln/>
        </p:spPr>
        <p:txBody>
          <a:bodyPr wrap="square" lIns="0" tIns="0" rIns="0" bIns="0" rtlCol="0" anchor="t"/>
          <a:lstStyle/>
          <a:p>
            <a:pPr indent="0" marL="0">
              <a:buNone/>
            </a:pPr>
            <a:r>
              <a:rPr lang="en-US" sz="1300" dirty="0">
                <a:solidFill>
                  <a:schemeClr val="bg2"/>
                </a:solidFill>
              </a:rPr>
              <a:t>Ragas, custom metrics, observability</a:t>
            </a:r>
            <a:endParaRPr lang="en-US" sz="1300" dirty="0"/>
          </a:p>
        </p:txBody>
      </p:sp>
      <p:sp>
        <p:nvSpPr>
          <p:cNvPr id="19" name="Shape 13"/>
          <p:cNvSpPr/>
          <p:nvPr/>
        </p:nvSpPr>
        <p:spPr>
          <a:xfrm>
            <a:off x="8961120" y="1645920"/>
            <a:ext cx="2560320" cy="2377440"/>
          </a:xfrm>
          <a:prstGeom prst="roundRect">
            <a:avLst>
              <a:gd name="adj" fmla="val 3846"/>
            </a:avLst>
          </a:prstGeom>
          <a:solidFill>
            <a:schemeClr val="tx2"/>
          </a:solidFill>
          <a:ln w="12700">
            <a:solidFill>
              <a:schemeClr val="tx2"/>
            </a:solidFill>
            <a:prstDash val="solid"/>
          </a:ln>
        </p:spPr>
      </p:sp>
      <p:sp>
        <p:nvSpPr>
          <p:cNvPr id="20" name="summary Scalable"/>
          <p:cNvSpPr/>
          <p:nvPr/>
        </p:nvSpPr>
        <p:spPr>
          <a:xfrm>
            <a:off x="9189720" y="1828800"/>
            <a:ext cx="548640" cy="548640"/>
          </a:xfrm>
          <a:prstGeom prst="ellipse">
            <a:avLst/>
          </a:prstGeom>
          <a:solidFill>
            <a:schemeClr val="accent4"/>
          </a:solidFill>
          <a:ln w="12700">
            <a:solidFill>
              <a:schemeClr val="accent4"/>
            </a:solidFill>
            <a:prstDash val="solid"/>
          </a:ln>
        </p:spPr>
      </p:sp>
      <p:pic>
        <p:nvPicPr>
          <p:cNvPr id="21" name="Image 3" descr="icon">    </p:cNvPr>
          <p:cNvPicPr>
            <a:picLocks noChangeAspect="1"/>
          </p:cNvPicPr>
          <p:nvPr/>
        </p:nvPicPr>
        <p:blipFill>
          <a:blip r:embed="rId4"/>
          <a:stretch>
            <a:fillRect/>
          </a:stretch>
        </p:blipFill>
        <p:spPr>
          <a:xfrm>
            <a:off x="9326880" y="1965960"/>
            <a:ext cx="274320" cy="274320"/>
          </a:xfrm>
          <a:prstGeom prst="rect">
            <a:avLst/>
          </a:prstGeom>
        </p:spPr>
      </p:pic>
      <p:sp>
        <p:nvSpPr>
          <p:cNvPr id="22" name="Text 15"/>
          <p:cNvSpPr txBox="1"/>
          <p:nvPr/>
        </p:nvSpPr>
        <p:spPr>
          <a:xfrm>
            <a:off x="9189720" y="2560320"/>
            <a:ext cx="2194560" cy="365760"/>
          </a:xfrm>
          <a:prstGeom prst="rect">
            <a:avLst/>
          </a:prstGeom>
          <a:noFill/>
          <a:ln/>
        </p:spPr>
        <p:txBody>
          <a:bodyPr wrap="square" lIns="0" tIns="0" rIns="0" bIns="0" rtlCol="0" anchor="t"/>
          <a:lstStyle/>
          <a:p>
            <a:pPr indent="0" marL="0">
              <a:buNone/>
            </a:pPr>
            <a:r>
              <a:rPr lang="en-US" sz="1700" b="1" dirty="0">
                <a:solidFill>
                  <a:schemeClr val="bg1"/>
                </a:solidFill>
              </a:rPr>
              <a:t>Scalable</a:t>
            </a:r>
            <a:endParaRPr lang="en-US" sz="1700" dirty="0"/>
          </a:p>
        </p:txBody>
      </p:sp>
      <p:sp>
        <p:nvSpPr>
          <p:cNvPr id="23" name="Text 16"/>
          <p:cNvSpPr txBox="1"/>
          <p:nvPr/>
        </p:nvSpPr>
        <p:spPr>
          <a:xfrm>
            <a:off x="9189720" y="2971800"/>
            <a:ext cx="2194560" cy="914400"/>
          </a:xfrm>
          <a:prstGeom prst="rect">
            <a:avLst/>
          </a:prstGeom>
          <a:noFill/>
          <a:ln/>
        </p:spPr>
        <p:txBody>
          <a:bodyPr wrap="square" lIns="0" tIns="0" rIns="0" bIns="0" rtlCol="0" anchor="t"/>
          <a:lstStyle/>
          <a:p>
            <a:pPr indent="0" marL="0">
              <a:buNone/>
            </a:pPr>
            <a:r>
              <a:rPr lang="en-US" sz="1300" dirty="0">
                <a:solidFill>
                  <a:schemeClr val="bg2"/>
                </a:solidFill>
              </a:rPr>
              <a:t>Documented alternatives per component</a:t>
            </a:r>
            <a:endParaRPr lang="en-US" sz="1300" dirty="0"/>
          </a:p>
        </p:txBody>
      </p:sp>
      <p:sp>
        <p:nvSpPr>
          <p:cNvPr id="24" name="Text 17"/>
          <p:cNvSpPr txBox="1"/>
          <p:nvPr/>
        </p:nvSpPr>
        <p:spPr>
          <a:xfrm>
            <a:off x="731520" y="4434840"/>
            <a:ext cx="4572000" cy="320040"/>
          </a:xfrm>
          <a:prstGeom prst="rect">
            <a:avLst/>
          </a:prstGeom>
          <a:noFill/>
          <a:ln/>
        </p:spPr>
        <p:txBody>
          <a:bodyPr wrap="square" lIns="0" tIns="0" rIns="0" bIns="0" rtlCol="0" anchor="t"/>
          <a:lstStyle/>
          <a:p>
            <a:pPr indent="0" marL="0">
              <a:buNone/>
            </a:pPr>
            <a:r>
              <a:rPr lang="en-US" sz="1400" b="1" dirty="0">
                <a:solidFill>
                  <a:schemeClr val="accent2"/>
                </a:solidFill>
              </a:rPr>
              <a:t>Technology stack</a:t>
            </a:r>
            <a:endParaRPr lang="en-US" sz="1400" dirty="0"/>
          </a:p>
        </p:txBody>
      </p:sp>
      <p:sp>
        <p:nvSpPr>
          <p:cNvPr id="25" name="Shape 18"/>
          <p:cNvSpPr/>
          <p:nvPr/>
        </p:nvSpPr>
        <p:spPr>
          <a:xfrm>
            <a:off x="731520" y="4892040"/>
            <a:ext cx="1331366" cy="457200"/>
          </a:xfrm>
          <a:prstGeom prst="roundRect">
            <a:avLst>
              <a:gd name="adj" fmla="val 50000"/>
            </a:avLst>
          </a:prstGeom>
          <a:solidFill>
            <a:schemeClr val="accent1"/>
          </a:solidFill>
          <a:ln w="12700">
            <a:solidFill>
              <a:schemeClr val="accent1"/>
            </a:solidFill>
            <a:prstDash val="solid"/>
          </a:ln>
        </p:spPr>
      </p:sp>
      <p:sp>
        <p:nvSpPr>
          <p:cNvPr id="26" name="Text 19"/>
          <p:cNvSpPr txBox="1"/>
          <p:nvPr/>
        </p:nvSpPr>
        <p:spPr>
          <a:xfrm>
            <a:off x="731520" y="4892040"/>
            <a:ext cx="1331366" cy="457200"/>
          </a:xfrm>
          <a:prstGeom prst="rect">
            <a:avLst/>
          </a:prstGeom>
          <a:noFill/>
          <a:ln/>
        </p:spPr>
        <p:txBody>
          <a:bodyPr wrap="square" lIns="0" tIns="0" rIns="0" bIns="0" rtlCol="0" anchor="ctr"/>
          <a:lstStyle/>
          <a:p>
            <a:pPr algn="ctr" indent="0" marL="0">
              <a:buNone/>
            </a:pPr>
            <a:r>
              <a:rPr lang="en-US" sz="1200" b="1" dirty="0">
                <a:solidFill>
                  <a:schemeClr val="bg1"/>
                </a:solidFill>
              </a:rPr>
              <a:t>Python 3.11+</a:t>
            </a:r>
            <a:endParaRPr lang="en-US" sz="1200" dirty="0"/>
          </a:p>
        </p:txBody>
      </p:sp>
      <p:sp>
        <p:nvSpPr>
          <p:cNvPr id="27" name="Shape 20"/>
          <p:cNvSpPr/>
          <p:nvPr/>
        </p:nvSpPr>
        <p:spPr>
          <a:xfrm>
            <a:off x="2200046" y="4892040"/>
            <a:ext cx="929030" cy="457200"/>
          </a:xfrm>
          <a:prstGeom prst="roundRect">
            <a:avLst>
              <a:gd name="adj" fmla="val 50000"/>
            </a:avLst>
          </a:prstGeom>
          <a:solidFill>
            <a:schemeClr val="accent2"/>
          </a:solidFill>
          <a:ln w="12700">
            <a:solidFill>
              <a:schemeClr val="accent2"/>
            </a:solidFill>
            <a:prstDash val="solid"/>
          </a:ln>
        </p:spPr>
      </p:sp>
      <p:sp>
        <p:nvSpPr>
          <p:cNvPr id="28" name="Text 21"/>
          <p:cNvSpPr txBox="1"/>
          <p:nvPr/>
        </p:nvSpPr>
        <p:spPr>
          <a:xfrm>
            <a:off x="2200046" y="4892040"/>
            <a:ext cx="929030" cy="457200"/>
          </a:xfrm>
          <a:prstGeom prst="rect">
            <a:avLst/>
          </a:prstGeom>
          <a:noFill/>
          <a:ln/>
        </p:spPr>
        <p:txBody>
          <a:bodyPr wrap="square" lIns="0" tIns="0" rIns="0" bIns="0" rtlCol="0" anchor="ctr"/>
          <a:lstStyle/>
          <a:p>
            <a:pPr algn="ctr" indent="0" marL="0">
              <a:buNone/>
            </a:pPr>
            <a:r>
              <a:rPr lang="en-US" sz="1200" b="1" dirty="0">
                <a:solidFill>
                  <a:schemeClr val="bg1"/>
                </a:solidFill>
              </a:rPr>
              <a:t>FastAPI</a:t>
            </a:r>
            <a:endParaRPr lang="en-US" sz="1200" dirty="0"/>
          </a:p>
        </p:txBody>
      </p:sp>
      <p:sp>
        <p:nvSpPr>
          <p:cNvPr id="29" name="Shape 22"/>
          <p:cNvSpPr/>
          <p:nvPr/>
        </p:nvSpPr>
        <p:spPr>
          <a:xfrm>
            <a:off x="3266237" y="4892040"/>
            <a:ext cx="1009498" cy="457200"/>
          </a:xfrm>
          <a:prstGeom prst="roundRect">
            <a:avLst>
              <a:gd name="adj" fmla="val 50000"/>
            </a:avLst>
          </a:prstGeom>
          <a:solidFill>
            <a:schemeClr val="accent3"/>
          </a:solidFill>
          <a:ln w="12700">
            <a:solidFill>
              <a:schemeClr val="accent3"/>
            </a:solidFill>
            <a:prstDash val="solid"/>
          </a:ln>
        </p:spPr>
      </p:sp>
      <p:sp>
        <p:nvSpPr>
          <p:cNvPr id="30" name="Text 23"/>
          <p:cNvSpPr txBox="1"/>
          <p:nvPr/>
        </p:nvSpPr>
        <p:spPr>
          <a:xfrm>
            <a:off x="3266237" y="4892040"/>
            <a:ext cx="1009498" cy="457200"/>
          </a:xfrm>
          <a:prstGeom prst="rect">
            <a:avLst/>
          </a:prstGeom>
          <a:noFill/>
          <a:ln/>
        </p:spPr>
        <p:txBody>
          <a:bodyPr wrap="square" lIns="0" tIns="0" rIns="0" bIns="0" rtlCol="0" anchor="ctr"/>
          <a:lstStyle/>
          <a:p>
            <a:pPr algn="ctr" indent="0" marL="0">
              <a:buNone/>
            </a:pPr>
            <a:r>
              <a:rPr lang="en-US" sz="1200" b="1" dirty="0">
                <a:solidFill>
                  <a:schemeClr val="bg1"/>
                </a:solidFill>
              </a:rPr>
              <a:t>Pydantic</a:t>
            </a:r>
            <a:endParaRPr lang="en-US" sz="1200" dirty="0"/>
          </a:p>
        </p:txBody>
      </p:sp>
      <p:sp>
        <p:nvSpPr>
          <p:cNvPr id="31" name="Shape 24"/>
          <p:cNvSpPr/>
          <p:nvPr/>
        </p:nvSpPr>
        <p:spPr>
          <a:xfrm>
            <a:off x="4412894" y="4892040"/>
            <a:ext cx="2377440" cy="457200"/>
          </a:xfrm>
          <a:prstGeom prst="roundRect">
            <a:avLst>
              <a:gd name="adj" fmla="val 50000"/>
            </a:avLst>
          </a:prstGeom>
          <a:solidFill>
            <a:schemeClr val="accent4"/>
          </a:solidFill>
          <a:ln w="12700">
            <a:solidFill>
              <a:schemeClr val="accent4"/>
            </a:solidFill>
            <a:prstDash val="solid"/>
          </a:ln>
        </p:spPr>
      </p:sp>
      <p:sp>
        <p:nvSpPr>
          <p:cNvPr id="32" name="Text 25"/>
          <p:cNvSpPr txBox="1"/>
          <p:nvPr/>
        </p:nvSpPr>
        <p:spPr>
          <a:xfrm>
            <a:off x="4412894" y="4892040"/>
            <a:ext cx="2377440" cy="457200"/>
          </a:xfrm>
          <a:prstGeom prst="rect">
            <a:avLst/>
          </a:prstGeom>
          <a:noFill/>
          <a:ln/>
        </p:spPr>
        <p:txBody>
          <a:bodyPr wrap="square" lIns="0" tIns="0" rIns="0" bIns="0" rtlCol="0" anchor="ctr"/>
          <a:lstStyle/>
          <a:p>
            <a:pPr algn="ctr" indent="0" marL="0">
              <a:buNone/>
            </a:pPr>
            <a:r>
              <a:rPr lang="en-US" sz="1200" b="1" dirty="0">
                <a:solidFill>
                  <a:schemeClr val="bg1"/>
                </a:solidFill>
              </a:rPr>
              <a:t>React + TypeScript + Vite</a:t>
            </a:r>
            <a:endParaRPr lang="en-US" sz="1200" dirty="0"/>
          </a:p>
        </p:txBody>
      </p:sp>
      <p:sp>
        <p:nvSpPr>
          <p:cNvPr id="33" name="Shape 26"/>
          <p:cNvSpPr/>
          <p:nvPr/>
        </p:nvSpPr>
        <p:spPr>
          <a:xfrm>
            <a:off x="6927494" y="4892040"/>
            <a:ext cx="2296973" cy="457200"/>
          </a:xfrm>
          <a:prstGeom prst="roundRect">
            <a:avLst>
              <a:gd name="adj" fmla="val 50000"/>
            </a:avLst>
          </a:prstGeom>
          <a:solidFill>
            <a:schemeClr val="accent5"/>
          </a:solidFill>
          <a:ln w="12700">
            <a:solidFill>
              <a:schemeClr val="accent5"/>
            </a:solidFill>
            <a:prstDash val="solid"/>
          </a:ln>
        </p:spPr>
      </p:sp>
      <p:sp>
        <p:nvSpPr>
          <p:cNvPr id="34" name="Text 27"/>
          <p:cNvSpPr txBox="1"/>
          <p:nvPr/>
        </p:nvSpPr>
        <p:spPr>
          <a:xfrm>
            <a:off x="6927494" y="4892040"/>
            <a:ext cx="2296973" cy="457200"/>
          </a:xfrm>
          <a:prstGeom prst="rect">
            <a:avLst/>
          </a:prstGeom>
          <a:noFill/>
          <a:ln/>
        </p:spPr>
        <p:txBody>
          <a:bodyPr wrap="square" lIns="0" tIns="0" rIns="0" bIns="0" rtlCol="0" anchor="ctr"/>
          <a:lstStyle/>
          <a:p>
            <a:pPr algn="ctr" indent="0" marL="0">
              <a:buNone/>
            </a:pPr>
            <a:r>
              <a:rPr lang="en-US" sz="1200" b="1" dirty="0">
                <a:solidFill>
                  <a:schemeClr val="bg1"/>
                </a:solidFill>
              </a:rPr>
              <a:t>PostgreSQL 16 + pgvector</a:t>
            </a:r>
            <a:endParaRPr lang="en-US" sz="1200" dirty="0"/>
          </a:p>
        </p:txBody>
      </p:sp>
      <p:sp>
        <p:nvSpPr>
          <p:cNvPr id="35" name="Shape 28"/>
          <p:cNvSpPr/>
          <p:nvPr/>
        </p:nvSpPr>
        <p:spPr>
          <a:xfrm>
            <a:off x="9361627" y="4892040"/>
            <a:ext cx="929030" cy="457200"/>
          </a:xfrm>
          <a:prstGeom prst="roundRect">
            <a:avLst>
              <a:gd name="adj" fmla="val 50000"/>
            </a:avLst>
          </a:prstGeom>
          <a:solidFill>
            <a:schemeClr val="accent6"/>
          </a:solidFill>
          <a:ln w="12700">
            <a:solidFill>
              <a:schemeClr val="accent6"/>
            </a:solidFill>
            <a:prstDash val="solid"/>
          </a:ln>
        </p:spPr>
      </p:sp>
      <p:sp>
        <p:nvSpPr>
          <p:cNvPr id="36" name="Text 29"/>
          <p:cNvSpPr txBox="1"/>
          <p:nvPr/>
        </p:nvSpPr>
        <p:spPr>
          <a:xfrm>
            <a:off x="9361627" y="4892040"/>
            <a:ext cx="929030" cy="457200"/>
          </a:xfrm>
          <a:prstGeom prst="rect">
            <a:avLst/>
          </a:prstGeom>
          <a:noFill/>
          <a:ln/>
        </p:spPr>
        <p:txBody>
          <a:bodyPr wrap="square" lIns="0" tIns="0" rIns="0" bIns="0" rtlCol="0" anchor="ctr"/>
          <a:lstStyle/>
          <a:p>
            <a:pPr algn="ctr" indent="0" marL="0">
              <a:buNone/>
            </a:pPr>
            <a:r>
              <a:rPr lang="en-US" sz="1200" b="1" dirty="0">
                <a:solidFill>
                  <a:schemeClr val="bg1"/>
                </a:solidFill>
              </a:rPr>
              <a:t>Docling</a:t>
            </a:r>
            <a:endParaRPr lang="en-US" sz="1200" dirty="0"/>
          </a:p>
        </p:txBody>
      </p:sp>
      <p:sp>
        <p:nvSpPr>
          <p:cNvPr id="37" name="Shape 30"/>
          <p:cNvSpPr/>
          <p:nvPr/>
        </p:nvSpPr>
        <p:spPr>
          <a:xfrm>
            <a:off x="731520" y="5532120"/>
            <a:ext cx="1170432" cy="457200"/>
          </a:xfrm>
          <a:prstGeom prst="roundRect">
            <a:avLst>
              <a:gd name="adj" fmla="val 50000"/>
            </a:avLst>
          </a:prstGeom>
          <a:solidFill>
            <a:schemeClr val="accent1"/>
          </a:solidFill>
          <a:ln w="12700">
            <a:solidFill>
              <a:schemeClr val="accent1"/>
            </a:solidFill>
            <a:prstDash val="solid"/>
          </a:ln>
        </p:spPr>
      </p:sp>
      <p:sp>
        <p:nvSpPr>
          <p:cNvPr id="38" name="Text 31"/>
          <p:cNvSpPr txBox="1"/>
          <p:nvPr/>
        </p:nvSpPr>
        <p:spPr>
          <a:xfrm>
            <a:off x="731520" y="5532120"/>
            <a:ext cx="1170432" cy="457200"/>
          </a:xfrm>
          <a:prstGeom prst="rect">
            <a:avLst/>
          </a:prstGeom>
          <a:noFill/>
          <a:ln/>
        </p:spPr>
        <p:txBody>
          <a:bodyPr wrap="square" lIns="0" tIns="0" rIns="0" bIns="0" rtlCol="0" anchor="ctr"/>
          <a:lstStyle/>
          <a:p>
            <a:pPr algn="ctr" indent="0" marL="0">
              <a:buNone/>
            </a:pPr>
            <a:r>
              <a:rPr lang="en-US" sz="1200" b="1" dirty="0">
                <a:solidFill>
                  <a:schemeClr val="bg1"/>
                </a:solidFill>
              </a:rPr>
              <a:t>LlamaIndex</a:t>
            </a:r>
            <a:endParaRPr lang="en-US" sz="1200" dirty="0"/>
          </a:p>
        </p:txBody>
      </p:sp>
      <p:sp>
        <p:nvSpPr>
          <p:cNvPr id="39" name="Shape 32"/>
          <p:cNvSpPr/>
          <p:nvPr/>
        </p:nvSpPr>
        <p:spPr>
          <a:xfrm>
            <a:off x="2039112" y="5532120"/>
            <a:ext cx="1572768" cy="457200"/>
          </a:xfrm>
          <a:prstGeom prst="roundRect">
            <a:avLst>
              <a:gd name="adj" fmla="val 50000"/>
            </a:avLst>
          </a:prstGeom>
          <a:solidFill>
            <a:schemeClr val="accent2"/>
          </a:solidFill>
          <a:ln w="12700">
            <a:solidFill>
              <a:schemeClr val="accent2"/>
            </a:solidFill>
            <a:prstDash val="solid"/>
          </a:ln>
        </p:spPr>
      </p:sp>
      <p:sp>
        <p:nvSpPr>
          <p:cNvPr id="40" name="Text 33"/>
          <p:cNvSpPr txBox="1"/>
          <p:nvPr/>
        </p:nvSpPr>
        <p:spPr>
          <a:xfrm>
            <a:off x="2039112" y="5532120"/>
            <a:ext cx="1572768" cy="457200"/>
          </a:xfrm>
          <a:prstGeom prst="rect">
            <a:avLst/>
          </a:prstGeom>
          <a:noFill/>
          <a:ln/>
        </p:spPr>
        <p:txBody>
          <a:bodyPr wrap="square" lIns="0" tIns="0" rIns="0" bIns="0" rtlCol="0" anchor="ctr"/>
          <a:lstStyle/>
          <a:p>
            <a:pPr algn="ctr" indent="0" marL="0">
              <a:buNone/>
            </a:pPr>
            <a:r>
              <a:rPr lang="en-US" sz="1200" b="1" dirty="0">
                <a:solidFill>
                  <a:schemeClr val="bg1"/>
                </a:solidFill>
              </a:rPr>
              <a:t>Qwen via Ollama</a:t>
            </a:r>
            <a:endParaRPr lang="en-US" sz="1200" dirty="0"/>
          </a:p>
        </p:txBody>
      </p:sp>
      <p:sp>
        <p:nvSpPr>
          <p:cNvPr id="41" name="Shape 34"/>
          <p:cNvSpPr/>
          <p:nvPr/>
        </p:nvSpPr>
        <p:spPr>
          <a:xfrm>
            <a:off x="3749040" y="5532120"/>
            <a:ext cx="1089965" cy="457200"/>
          </a:xfrm>
          <a:prstGeom prst="roundRect">
            <a:avLst>
              <a:gd name="adj" fmla="val 50000"/>
            </a:avLst>
          </a:prstGeom>
          <a:solidFill>
            <a:schemeClr val="accent3"/>
          </a:solidFill>
          <a:ln w="12700">
            <a:solidFill>
              <a:schemeClr val="accent3"/>
            </a:solidFill>
            <a:prstDash val="solid"/>
          </a:ln>
        </p:spPr>
      </p:sp>
      <p:sp>
        <p:nvSpPr>
          <p:cNvPr id="42" name="Text 35"/>
          <p:cNvSpPr txBox="1"/>
          <p:nvPr/>
        </p:nvSpPr>
        <p:spPr>
          <a:xfrm>
            <a:off x="3749040" y="5532120"/>
            <a:ext cx="1089965" cy="457200"/>
          </a:xfrm>
          <a:prstGeom prst="rect">
            <a:avLst/>
          </a:prstGeom>
          <a:noFill/>
          <a:ln/>
        </p:spPr>
        <p:txBody>
          <a:bodyPr wrap="square" lIns="0" tIns="0" rIns="0" bIns="0" rtlCol="0" anchor="ctr"/>
          <a:lstStyle/>
          <a:p>
            <a:pPr algn="ctr" indent="0" marL="0">
              <a:buNone/>
            </a:pPr>
            <a:r>
              <a:rPr lang="en-US" sz="1200" b="1" dirty="0">
                <a:solidFill>
                  <a:schemeClr val="bg1"/>
                </a:solidFill>
              </a:rPr>
              <a:t>LangGraph</a:t>
            </a:r>
            <a:endParaRPr lang="en-US" sz="1200" dirty="0"/>
          </a:p>
        </p:txBody>
      </p:sp>
      <p:sp>
        <p:nvSpPr>
          <p:cNvPr id="43" name="Shape 36"/>
          <p:cNvSpPr/>
          <p:nvPr/>
        </p:nvSpPr>
        <p:spPr>
          <a:xfrm>
            <a:off x="4976165" y="5532120"/>
            <a:ext cx="768096" cy="457200"/>
          </a:xfrm>
          <a:prstGeom prst="roundRect">
            <a:avLst>
              <a:gd name="adj" fmla="val 50000"/>
            </a:avLst>
          </a:prstGeom>
          <a:solidFill>
            <a:schemeClr val="accent4"/>
          </a:solidFill>
          <a:ln w="12700">
            <a:solidFill>
              <a:schemeClr val="accent4"/>
            </a:solidFill>
            <a:prstDash val="solid"/>
          </a:ln>
        </p:spPr>
      </p:sp>
      <p:sp>
        <p:nvSpPr>
          <p:cNvPr id="44" name="Text 37"/>
          <p:cNvSpPr txBox="1"/>
          <p:nvPr/>
        </p:nvSpPr>
        <p:spPr>
          <a:xfrm>
            <a:off x="4976165" y="5532120"/>
            <a:ext cx="768096" cy="457200"/>
          </a:xfrm>
          <a:prstGeom prst="rect">
            <a:avLst/>
          </a:prstGeom>
          <a:noFill/>
          <a:ln/>
        </p:spPr>
        <p:txBody>
          <a:bodyPr wrap="square" lIns="0" tIns="0" rIns="0" bIns="0" rtlCol="0" anchor="ctr"/>
          <a:lstStyle/>
          <a:p>
            <a:pPr algn="ctr" indent="0" marL="0">
              <a:buNone/>
            </a:pPr>
            <a:r>
              <a:rPr lang="en-US" sz="1200" b="1" dirty="0">
                <a:solidFill>
                  <a:schemeClr val="bg1"/>
                </a:solidFill>
              </a:rPr>
              <a:t>Ragas</a:t>
            </a:r>
            <a:endParaRPr lang="en-US" sz="1200" dirty="0"/>
          </a:p>
        </p:txBody>
      </p:sp>
      <p:sp>
        <p:nvSpPr>
          <p:cNvPr id="45" name="Shape 38"/>
          <p:cNvSpPr/>
          <p:nvPr/>
        </p:nvSpPr>
        <p:spPr>
          <a:xfrm>
            <a:off x="5881421" y="5532120"/>
            <a:ext cx="848563" cy="457200"/>
          </a:xfrm>
          <a:prstGeom prst="roundRect">
            <a:avLst>
              <a:gd name="adj" fmla="val 50000"/>
            </a:avLst>
          </a:prstGeom>
          <a:solidFill>
            <a:schemeClr val="accent5"/>
          </a:solidFill>
          <a:ln w="12700">
            <a:solidFill>
              <a:schemeClr val="accent5"/>
            </a:solidFill>
            <a:prstDash val="solid"/>
          </a:ln>
        </p:spPr>
      </p:sp>
      <p:sp>
        <p:nvSpPr>
          <p:cNvPr id="46" name="Text 39"/>
          <p:cNvSpPr txBox="1"/>
          <p:nvPr/>
        </p:nvSpPr>
        <p:spPr>
          <a:xfrm>
            <a:off x="5881421" y="5532120"/>
            <a:ext cx="848563" cy="457200"/>
          </a:xfrm>
          <a:prstGeom prst="rect">
            <a:avLst/>
          </a:prstGeom>
          <a:noFill/>
          <a:ln/>
        </p:spPr>
        <p:txBody>
          <a:bodyPr wrap="square" lIns="0" tIns="0" rIns="0" bIns="0" rtlCol="0" anchor="ctr"/>
          <a:lstStyle/>
          <a:p>
            <a:pPr algn="ctr" indent="0" marL="0">
              <a:buNone/>
            </a:pPr>
            <a:r>
              <a:rPr lang="en-US" sz="1200" b="1" dirty="0">
                <a:solidFill>
                  <a:schemeClr val="bg1"/>
                </a:solidFill>
              </a:rPr>
              <a:t>Docker</a:t>
            </a:r>
            <a:endParaRPr lang="en-US" sz="1200" dirty="0"/>
          </a:p>
        </p:txBody>
      </p:sp>
      <p:sp>
        <p:nvSpPr>
          <p:cNvPr id="47" name="Shape 40"/>
          <p:cNvSpPr/>
          <p:nvPr/>
        </p:nvSpPr>
        <p:spPr>
          <a:xfrm>
            <a:off x="6867144" y="5532120"/>
            <a:ext cx="1492301" cy="457200"/>
          </a:xfrm>
          <a:prstGeom prst="roundRect">
            <a:avLst>
              <a:gd name="adj" fmla="val 50000"/>
            </a:avLst>
          </a:prstGeom>
          <a:solidFill>
            <a:schemeClr val="accent6"/>
          </a:solidFill>
          <a:ln w="12700">
            <a:solidFill>
              <a:schemeClr val="accent6"/>
            </a:solidFill>
            <a:prstDash val="solid"/>
          </a:ln>
        </p:spPr>
      </p:sp>
      <p:sp>
        <p:nvSpPr>
          <p:cNvPr id="48" name="Text 41"/>
          <p:cNvSpPr txBox="1"/>
          <p:nvPr/>
        </p:nvSpPr>
        <p:spPr>
          <a:xfrm>
            <a:off x="6867144" y="5532120"/>
            <a:ext cx="1492301" cy="457200"/>
          </a:xfrm>
          <a:prstGeom prst="rect">
            <a:avLst/>
          </a:prstGeom>
          <a:noFill/>
          <a:ln/>
        </p:spPr>
        <p:txBody>
          <a:bodyPr wrap="square" lIns="0" tIns="0" rIns="0" bIns="0" rtlCol="0" anchor="ctr"/>
          <a:lstStyle/>
          <a:p>
            <a:pPr algn="ctr" indent="0" marL="0">
              <a:buNone/>
            </a:pPr>
            <a:r>
              <a:rPr lang="en-US" sz="1200" b="1" dirty="0">
                <a:solidFill>
                  <a:schemeClr val="bg1"/>
                </a:solidFill>
              </a:rPr>
              <a:t>GitHub Actions</a:t>
            </a:r>
            <a:endParaRPr lang="en-US" sz="1200" dirty="0"/>
          </a:p>
        </p:txBody>
      </p:sp>
      <p:sp>
        <p:nvSpPr>
          <p:cNvPr id="49" name="Shape 42"/>
          <p:cNvSpPr/>
          <p:nvPr/>
        </p:nvSpPr>
        <p:spPr>
          <a:xfrm>
            <a:off x="8496605" y="5532120"/>
            <a:ext cx="1975104" cy="457200"/>
          </a:xfrm>
          <a:prstGeom prst="roundRect">
            <a:avLst>
              <a:gd name="adj" fmla="val 50000"/>
            </a:avLst>
          </a:prstGeom>
          <a:solidFill>
            <a:schemeClr val="accent1"/>
          </a:solidFill>
          <a:ln w="12700">
            <a:solidFill>
              <a:schemeClr val="accent1"/>
            </a:solidFill>
            <a:prstDash val="solid"/>
          </a:ln>
        </p:spPr>
      </p:sp>
      <p:sp>
        <p:nvSpPr>
          <p:cNvPr id="50" name="Text 43"/>
          <p:cNvSpPr txBox="1"/>
          <p:nvPr/>
        </p:nvSpPr>
        <p:spPr>
          <a:xfrm>
            <a:off x="8496605" y="5532120"/>
            <a:ext cx="1975104" cy="457200"/>
          </a:xfrm>
          <a:prstGeom prst="rect">
            <a:avLst/>
          </a:prstGeom>
          <a:noFill/>
          <a:ln/>
        </p:spPr>
        <p:txBody>
          <a:bodyPr wrap="square" lIns="0" tIns="0" rIns="0" bIns="0" rtlCol="0" anchor="ctr"/>
          <a:lstStyle/>
          <a:p>
            <a:pPr algn="ctr" indent="0" marL="0">
              <a:buNone/>
            </a:pPr>
            <a:r>
              <a:rPr lang="en-US" sz="1200" b="1" dirty="0">
                <a:solidFill>
                  <a:schemeClr val="bg1"/>
                </a:solidFill>
              </a:rPr>
              <a:t>Prometheus + Grafana</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closing icon"/>
          <p:cNvSpPr/>
          <p:nvPr/>
        </p:nvSpPr>
        <p:spPr>
          <a:xfrm>
            <a:off x="5184648" y="1371600"/>
            <a:ext cx="1828800" cy="1828800"/>
          </a:xfrm>
          <a:prstGeom prst="ellipse">
            <a:avLst/>
          </a:prstGeom>
          <a:solidFill>
            <a:schemeClr val="accent1"/>
          </a:solidFill>
          <a:ln w="12700">
            <a:solidFill>
              <a:schemeClr val="accent1"/>
            </a:solidFill>
            <a:prstDash val="solid"/>
          </a:ln>
        </p:spPr>
      </p:sp>
      <p:pic>
        <p:nvPicPr>
          <p:cNvPr id="4" name="Image 0" descr="icon">    </p:cNvPr>
          <p:cNvPicPr>
            <a:picLocks noChangeAspect="1"/>
          </p:cNvPicPr>
          <p:nvPr/>
        </p:nvPicPr>
        <p:blipFill>
          <a:blip r:embed="rId1"/>
          <a:stretch>
            <a:fillRect/>
          </a:stretch>
        </p:blipFill>
        <p:spPr>
          <a:xfrm>
            <a:off x="5641848" y="1828800"/>
            <a:ext cx="914400" cy="914400"/>
          </a:xfrm>
          <a:prstGeom prst="rect">
            <a:avLst/>
          </a:prstGeom>
        </p:spPr>
      </p:pic>
      <p:sp>
        <p:nvSpPr>
          <p:cNvPr id="5" name="Text 1"/>
          <p:cNvSpPr txBox="1"/>
          <p:nvPr/>
        </p:nvSpPr>
        <p:spPr>
          <a:xfrm>
            <a:off x="731520" y="3474720"/>
            <a:ext cx="10725912"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731520" y="4526280"/>
            <a:ext cx="10725912" cy="457200"/>
          </a:xfrm>
          <a:prstGeom prst="rect">
            <a:avLst/>
          </a:prstGeom>
          <a:noFill/>
          <a:ln/>
        </p:spPr>
        <p:txBody>
          <a:bodyPr wrap="square" lIns="0" tIns="0" rIns="0" bIns="0" rtlCol="0" anchor="t"/>
          <a:lstStyle/>
          <a:p>
            <a:pPr algn="ctr" indent="0" marL="0">
              <a:buNone/>
            </a:pPr>
            <a:r>
              <a:rPr lang="en-US" sz="1800" dirty="0">
                <a:solidFill>
                  <a:schemeClr val="bg2"/>
                </a:solidFill>
              </a:rPr>
              <a:t>AI Research Assistant · Detailed Low-Level Design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ResearchLLD">
  <a:themeElements>
    <a:clrScheme name="ResearchLLD">
      <a:dk1>
        <a:srgbClr val="0F1B3D"/>
      </a:dk1>
      <a:lt1>
        <a:srgbClr val="FFFFFF"/>
      </a:lt1>
      <a:dk2>
        <a:srgbClr val="24406B"/>
      </a:dk2>
      <a:lt2>
        <a:srgbClr val="EEF3F9"/>
      </a:lt2>
      <a:accent1>
        <a:srgbClr val="0B8C8B"/>
      </a:accent1>
      <a:accent2>
        <a:srgbClr val="D97706"/>
      </a:accent2>
      <a:accent3>
        <a:srgbClr val="4F46E5"/>
      </a:accent3>
      <a:accent4>
        <a:srgbClr val="DC2626"/>
      </a:accent4>
      <a:accent5>
        <a:srgbClr val="15803D"/>
      </a:accent5>
      <a:accent6>
        <a:srgbClr val="7C3AED"/>
      </a:accent6>
      <a:hlink>
        <a:srgbClr val="0B8C8B"/>
      </a:hlink>
      <a:folHlink>
        <a:srgbClr val="7C3AED"/>
      </a:folHlink>
    </a:clrScheme>
    <a:fontScheme name="ResearchL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Research Assistant - Detailed Low-Level Design</dc:title>
  <dc:subject>PptxGenJS Presentation</dc:subject>
  <dc:creator>PptxGenJS</dc:creator>
  <cp:lastModifiedBy>PptxGenJS</cp:lastModifiedBy>
  <cp:revision>1</cp:revision>
  <dcterms:created xsi:type="dcterms:W3CDTF">2026-10-09T07:14:03Z</dcterms:created>
  <dcterms:modified xsi:type="dcterms:W3CDTF">2026-10-09T07:14:03Z</dcterms:modified>
</cp:coreProperties>
</file>